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91" r:id="rId30"/>
    <p:sldId id="292" r:id="rId31"/>
    <p:sldId id="294" r:id="rId32"/>
    <p:sldId id="293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20" r:id="rId55"/>
    <p:sldId id="321" r:id="rId56"/>
    <p:sldId id="322" r:id="rId57"/>
    <p:sldId id="316" r:id="rId58"/>
    <p:sldId id="317" r:id="rId59"/>
    <p:sldId id="318" r:id="rId60"/>
    <p:sldId id="257" r:id="rId61"/>
    <p:sldId id="270" r:id="rId62"/>
    <p:sldId id="258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1657-47D9-D0DC-531D-907EB565B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66972-5888-1BD9-5ABF-4FE9913BA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41098-B05D-06D6-4EE0-266DC8D4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CA921-416C-EB26-414F-4F72EE6A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5A05D-F7BE-ECE6-31FB-8255CE2F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51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7494-019C-A623-5025-3556C73E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35C24-F9F4-CE7E-A369-3423F4482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D37E-D2BC-2F6A-F6C9-125E2ECC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ACEDD-35A9-1F40-BF20-4DC0EA68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AA3A-F33F-1220-36B0-50C2F9B0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54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01B34-476B-2550-22A2-0AED65AD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BF9FF-326E-284F-1090-285FE6712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748D6-7961-BC6E-A3D4-087A6716C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7DAB-FEEA-8771-5E65-3E3CB863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86470-8178-6C53-49EE-95968E91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98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3319-93FB-BD83-6456-2B92B70E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79794-F300-BCEA-594F-4D5CA6378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4A074-B516-0645-BA90-CAFA4759D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BD02C-26D8-85EA-FBFB-C53826C1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0F289-B8FC-B91B-BB11-19DE4FD0E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853EB-E4A6-DCA4-1431-14392AE8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64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4039-D551-EEE9-6475-8A038962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591A-B442-810F-CA63-990B9F3DC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0A067-D3B0-D71A-173E-E69E78F5C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1B888-272C-0153-2F59-4160F92B3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75577-1E37-3BD8-76B6-EB81F5EE6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F27C9-DCC1-4BB8-C1EA-CFB14DAD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7AD55-0471-FEA1-E5F2-E1B01096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261BB-BEE3-B59A-4439-4A882CE7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73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2D20-DB1E-80F3-2688-8444F8390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E9955-64C8-397C-AFBB-E8EE4BD9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5A3A0-F23A-5B7B-AB10-0441297F8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B0E8A-D5FC-ACC1-C326-6586B81A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58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297A2-FEC0-213E-30D6-A1C5C187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B20A9-0957-4498-7A97-C04C3D5B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64FDB-E775-58F8-7C29-9F31FB47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43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4EC7-A1C5-FE17-3DF6-777D9E78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4403-33B6-DA04-C719-CC447284E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10D59-0069-F1F2-BCC8-5A4916484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31FCC-67AC-E556-4D72-EE15E67F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A7286-CA81-A979-118E-41EA4CAD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D1F5C-C1C9-9DC5-59FC-D5696798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30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40E7-6E9C-E611-A00E-4491D825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7285-7B4A-0FD1-189B-42BACC56E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EC811-62A1-F3C2-B259-F30F8F260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A0627-5B1E-9C23-18ED-9CCB8397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EFC56-FC01-450E-1915-2A6156FD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FBCFC-02CA-07EF-9839-DEFD45AA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38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5439-2051-9526-9A38-B4963709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A9DD0-741F-9C61-B4A5-09BD4F3C2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F045-0219-1957-29EA-2735D496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7D735-112C-FBDD-C8AF-C380CE28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AAC7-A986-A19A-EF34-9F51060F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57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2E3F7-D4D0-A524-1F91-DB9E5E975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FF1AF-C9D8-3BFC-C936-A47EF2E8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6FE0-0179-9687-EB5D-8E05FC6F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4DB34-DBC0-4F7F-06C2-AF30866C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68602-AA5E-25D0-8D51-F9E86252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4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96A62-C537-B4D1-6C04-CBAE04DF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16AB2-BA77-292E-1A89-281D94BB8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683C5-919D-997C-F0B9-99ECF24E0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29EE6-F256-43F4-82A4-2FC193F9A86C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F2705-8B52-460C-6B3E-24BB4F41D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98782-FC90-A289-68EC-8C0AD04B0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DD055-F63F-4402-BA78-76DA79EF7C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44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0505-314A-1177-3FEA-4B507ACCE5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Module 3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352C1-C62D-0CF3-1498-497E030EA1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based and Interaction Based Prompts: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 Based – Contextual Based and Delimiter Based, Structured Prompt, Interaction Based – Multi-Prompt, reflection-based Prompts.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5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46F1-5224-BF00-70E2-4DD1E0A4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Context Based  Prompt Engineering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F6F6E-923C-273A-6CF7-912B41640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380301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300" b="1" dirty="0"/>
              <a:t>Context-based prompts</a:t>
            </a:r>
            <a:r>
              <a:rPr lang="en-US" sz="2300" dirty="0"/>
              <a:t> involve providing an AI with background information, situational details, and specific parameters to ensure its response is relevant and accurate. This technique, often called </a:t>
            </a:r>
            <a:r>
              <a:rPr lang="en-US" sz="2300" b="1" dirty="0"/>
              <a:t>In-Context Learning (ICL)</a:t>
            </a:r>
            <a:r>
              <a:rPr lang="en-US" sz="2300" dirty="0"/>
              <a:t>, allows models to adapt without additional training.</a:t>
            </a:r>
          </a:p>
          <a:p>
            <a:pPr marL="0" indent="0" algn="just">
              <a:buNone/>
            </a:pPr>
            <a:r>
              <a:rPr lang="en-US" sz="2300" b="1" dirty="0"/>
              <a:t>Core Components of a Contextual Prompt</a:t>
            </a:r>
          </a:p>
          <a:p>
            <a:pPr algn="just"/>
            <a:r>
              <a:rPr lang="en-US" sz="2300" b="1" dirty="0"/>
              <a:t>Situational Context</a:t>
            </a:r>
            <a:r>
              <a:rPr lang="en-US" sz="2300" dirty="0"/>
              <a:t>: The specific scenario or environment (e.g., "This is for an internal executive review").</a:t>
            </a:r>
          </a:p>
          <a:p>
            <a:pPr algn="just"/>
            <a:r>
              <a:rPr lang="en-US" sz="2300" b="1" dirty="0"/>
              <a:t>Audience Context</a:t>
            </a:r>
            <a:r>
              <a:rPr lang="en-US" sz="2300" dirty="0"/>
              <a:t>: Defining the end-user (e.g., "Explain this to a 5th grader").</a:t>
            </a:r>
          </a:p>
          <a:p>
            <a:pPr algn="just"/>
            <a:r>
              <a:rPr lang="en-US" sz="2300" b="1" dirty="0"/>
              <a:t>Goal Context</a:t>
            </a:r>
            <a:r>
              <a:rPr lang="en-US" sz="2300" dirty="0"/>
              <a:t>: Clearly stating why you need the output and what success looks like.</a:t>
            </a:r>
          </a:p>
          <a:p>
            <a:pPr algn="just"/>
            <a:r>
              <a:rPr lang="en-US" sz="2300" b="1" dirty="0"/>
              <a:t>Constraint Context</a:t>
            </a:r>
            <a:r>
              <a:rPr lang="en-US" sz="2300" dirty="0"/>
              <a:t>: Setting boundaries like word count, tone, or specific formatting.</a:t>
            </a:r>
          </a:p>
          <a:p>
            <a:pPr algn="just"/>
            <a:r>
              <a:rPr lang="en-US" sz="2300" b="1" dirty="0"/>
              <a:t>Domain Context</a:t>
            </a:r>
            <a:r>
              <a:rPr lang="en-US" sz="2300" dirty="0"/>
              <a:t>: Providing industry-specific background or assuming a persona (e.g., "You are a senior copywriter").</a:t>
            </a:r>
          </a:p>
        </p:txBody>
      </p:sp>
    </p:spTree>
    <p:extLst>
      <p:ext uri="{BB962C8B-B14F-4D97-AF65-F5344CB8AC3E}">
        <p14:creationId xmlns:p14="http://schemas.microsoft.com/office/powerpoint/2010/main" val="277513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DE1F-FC03-5158-E906-D7A967AC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General Structure of a Context-Based Prompt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D1296-6A96-C4AC-0EB8-3BDBCB895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&lt;background information&gt;</a:t>
            </a:r>
          </a:p>
          <a:p>
            <a:r>
              <a:rPr lang="en-US" dirty="0"/>
              <a:t>Task: &lt;what the model should do&gt;</a:t>
            </a:r>
          </a:p>
          <a:p>
            <a:r>
              <a:rPr lang="en-US" dirty="0"/>
              <a:t>Constraints (optional): &lt;format, style, length&gt;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679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07E2-2D09-888C-52C1-B5D70558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Types of Context-Based Prompts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267CB-28BF-7288-366D-D6904BAB0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User Context: </a:t>
            </a:r>
            <a:r>
              <a:rPr lang="en-US" dirty="0"/>
              <a:t>Provides information about </a:t>
            </a:r>
            <a:r>
              <a:rPr lang="en-US" b="1" dirty="0"/>
              <a:t>who the user is</a:t>
            </a:r>
            <a:r>
              <a:rPr lang="en-US" dirty="0"/>
              <a:t> (age, role, skill level).</a:t>
            </a:r>
          </a:p>
          <a:p>
            <a:pPr marL="0" indent="0">
              <a:buNone/>
            </a:pPr>
            <a:r>
              <a:rPr lang="en-US" dirty="0"/>
              <a:t>Context: The learner is a beginner in Python.</a:t>
            </a:r>
          </a:p>
          <a:p>
            <a:pPr marL="0" indent="0">
              <a:buNone/>
            </a:pPr>
            <a:r>
              <a:rPr lang="en-US" dirty="0"/>
              <a:t>Task: Explain variables.</a:t>
            </a:r>
          </a:p>
          <a:p>
            <a:pPr marL="0" indent="0">
              <a:buNone/>
            </a:pPr>
            <a:r>
              <a:rPr lang="en-US" dirty="0"/>
              <a:t>Constraints: Simple language.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9708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40381-1B13-1B4E-F8FE-1741DDBA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Domain / Subject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3C988-7FB2-5EE7-91CB-411F2C0C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Specifies the </a:t>
            </a:r>
            <a:r>
              <a:rPr lang="en-US" b="1" dirty="0"/>
              <a:t>field or domain</a:t>
            </a:r>
            <a:r>
              <a:rPr lang="en-US" dirty="0"/>
              <a:t> to which the task belongs.</a:t>
            </a:r>
          </a:p>
          <a:p>
            <a:r>
              <a:rPr lang="en-US" dirty="0"/>
              <a:t>Context: This question is related to Python OOP.</a:t>
            </a:r>
          </a:p>
          <a:p>
            <a:r>
              <a:rPr lang="en-US" dirty="0"/>
              <a:t>Task: Explain inheritance.</a:t>
            </a:r>
          </a:p>
          <a:p>
            <a:r>
              <a:rPr lang="en-US" dirty="0"/>
              <a:t>Constraints: Use code example.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16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8D22-3EE9-1698-5743-F00ECC5D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Educational / Level Context</a:t>
            </a:r>
            <a:br>
              <a:rPr lang="en-IN" b="1" dirty="0">
                <a:solidFill>
                  <a:schemeClr val="accent6"/>
                </a:solidFill>
              </a:rPr>
            </a:b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20A6-5C5B-3BDE-33E7-28F8465B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</a:t>
            </a:r>
            <a:r>
              <a:rPr lang="en-US" b="1" dirty="0"/>
              <a:t>academic level</a:t>
            </a:r>
            <a:r>
              <a:rPr lang="en-US" dirty="0"/>
              <a:t> of the audience.</a:t>
            </a:r>
          </a:p>
          <a:p>
            <a:r>
              <a:rPr lang="en-US" dirty="0"/>
              <a:t>Context: First-year engineering students.</a:t>
            </a:r>
          </a:p>
          <a:p>
            <a:r>
              <a:rPr lang="en-US" dirty="0"/>
              <a:t>Task: Explain polymorphism.</a:t>
            </a:r>
          </a:p>
          <a:p>
            <a:r>
              <a:rPr lang="en-US" dirty="0"/>
              <a:t>Constraints: Short explanation.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604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8167-DB97-35CD-564D-BE2F59DF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Situational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7F8A0-7383-A959-09AA-7CA78B30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the </a:t>
            </a:r>
            <a:r>
              <a:rPr lang="en-US" b="1" dirty="0"/>
              <a:t>scenario or use case</a:t>
            </a:r>
            <a:r>
              <a:rPr lang="en-US" dirty="0"/>
              <a:t> in which the response will be used.</a:t>
            </a:r>
          </a:p>
          <a:p>
            <a:r>
              <a:rPr lang="en-US" dirty="0"/>
              <a:t>Context: You are preparing content for a 3-hour lecture.</a:t>
            </a:r>
          </a:p>
          <a:p>
            <a:r>
              <a:rPr lang="en-US" dirty="0"/>
              <a:t>Task: Divide the syllabus into modules.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033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5B15-CC08-55C3-4AC6-5F3A896E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Data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CD2D7-2B15-8F4A-1507-9444726F5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Supplies </a:t>
            </a:r>
            <a:r>
              <a:rPr lang="en-US" b="1" dirty="0"/>
              <a:t>specific input data</a:t>
            </a:r>
            <a:r>
              <a:rPr lang="en-US" dirty="0"/>
              <a:t> that the model must use.</a:t>
            </a:r>
          </a:p>
          <a:p>
            <a:pPr marL="0" indent="0">
              <a:buNone/>
            </a:pPr>
            <a:r>
              <a:rPr lang="en-US" dirty="0"/>
              <a:t>Context: Student marks = [78, 85, 92, 66].</a:t>
            </a:r>
          </a:p>
          <a:p>
            <a:pPr marL="0" indent="0">
              <a:buNone/>
            </a:pPr>
            <a:r>
              <a:rPr lang="en-US" dirty="0"/>
              <a:t>Task: Calculate average and grade.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Conversational Context</a:t>
            </a:r>
          </a:p>
          <a:p>
            <a:pPr marL="0" indent="0">
              <a:buNone/>
            </a:pPr>
            <a:r>
              <a:rPr lang="en-US" dirty="0"/>
              <a:t>Uses </a:t>
            </a:r>
            <a:r>
              <a:rPr lang="en-US" b="1" dirty="0"/>
              <a:t>previous discussion or interaction history</a:t>
            </a:r>
            <a:r>
              <a:rPr lang="en-US" dirty="0"/>
              <a:t> as context.</a:t>
            </a:r>
          </a:p>
          <a:p>
            <a:pPr marL="0" indent="0">
              <a:buNone/>
            </a:pPr>
            <a:r>
              <a:rPr lang="en-US" dirty="0"/>
              <a:t>Context: In previous messages, inheritance was explained.</a:t>
            </a:r>
          </a:p>
          <a:p>
            <a:pPr marL="0" indent="0">
              <a:buNone/>
            </a:pPr>
            <a:r>
              <a:rPr lang="en-US" dirty="0"/>
              <a:t>Task: Now compare inheritance and composition.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500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DD9F-6B03-0E7E-AD4C-BCF6982C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Output / Formatting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7CA8-5EC0-0421-EC3D-FF8593B15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how the </a:t>
            </a:r>
            <a:r>
              <a:rPr lang="en-US" b="1" dirty="0"/>
              <a:t>output should be structured</a:t>
            </a:r>
            <a:r>
              <a:rPr lang="en-US" dirty="0"/>
              <a:t>.</a:t>
            </a:r>
          </a:p>
          <a:p>
            <a:r>
              <a:rPr lang="en-US" dirty="0"/>
              <a:t>Context: Output will be used in an exam answer.</a:t>
            </a:r>
          </a:p>
          <a:p>
            <a:r>
              <a:rPr lang="en-US" dirty="0"/>
              <a:t>Task: Explain encapsulation.</a:t>
            </a:r>
          </a:p>
          <a:p>
            <a:r>
              <a:rPr lang="en-US" dirty="0"/>
              <a:t>Constraints: 5–6 lines, no bullet points.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83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4600-1D05-B5C3-984F-FC33BF59B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Compliance / Safety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1D50B-E506-AFE5-8B73-E3E4BC62E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</a:t>
            </a:r>
            <a:r>
              <a:rPr lang="en-US" b="1" dirty="0"/>
              <a:t>rules, policies, or ethical boundaries</a:t>
            </a:r>
            <a:r>
              <a:rPr lang="en-US" dirty="0"/>
              <a:t>.</a:t>
            </a:r>
          </a:p>
          <a:p>
            <a:r>
              <a:rPr lang="en-US" dirty="0"/>
              <a:t>Context: Follow healthcare safety guidelines.</a:t>
            </a:r>
          </a:p>
          <a:p>
            <a:r>
              <a:rPr lang="en-US" dirty="0"/>
              <a:t>Task: Explain diabetes.</a:t>
            </a:r>
          </a:p>
          <a:p>
            <a:r>
              <a:rPr lang="en-US" dirty="0"/>
              <a:t>Constraints: Educational only, no medical advice.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894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0D79E-D6F7-4F7D-A190-68F3DA8F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Industry Requires Context-Based Prompts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F21EA-9103-CF61-1688-2F8ADAF3B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Generic prompts lead to:</a:t>
            </a:r>
          </a:p>
          <a:p>
            <a:r>
              <a:rPr lang="en-US" dirty="0"/>
              <a:t>Incorrect outputs</a:t>
            </a:r>
          </a:p>
          <a:p>
            <a:r>
              <a:rPr lang="en-US" dirty="0"/>
              <a:t>Hallucinations</a:t>
            </a:r>
          </a:p>
          <a:p>
            <a:r>
              <a:rPr lang="en-US" dirty="0"/>
              <a:t>Compliance risks</a:t>
            </a:r>
          </a:p>
          <a:p>
            <a:r>
              <a:rPr lang="en-US" dirty="0"/>
              <a:t>Inconsistent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89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ECC9-5FD8-9150-06BD-474580C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DE15-67D3-D431-3537-41F8CFC1C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Domain-Specific Accuracy : </a:t>
            </a:r>
            <a:r>
              <a:rPr lang="en-US" dirty="0"/>
              <a:t>The model must operate </a:t>
            </a:r>
            <a:r>
              <a:rPr lang="en-US" b="1" dirty="0"/>
              <a:t>within the correct industry domain</a:t>
            </a:r>
            <a:r>
              <a:rPr lang="en-US" dirty="0"/>
              <a:t>.</a:t>
            </a:r>
          </a:p>
          <a:p>
            <a:r>
              <a:rPr lang="en-IN" dirty="0"/>
              <a:t>User &amp; Role Awareness : </a:t>
            </a:r>
            <a:r>
              <a:rPr lang="en-US" dirty="0"/>
              <a:t>Responses must adapt to the </a:t>
            </a:r>
            <a:r>
              <a:rPr lang="en-US" b="1" dirty="0"/>
              <a:t>user’s role and expertise</a:t>
            </a:r>
            <a:r>
              <a:rPr lang="en-US" dirty="0"/>
              <a:t>.</a:t>
            </a:r>
          </a:p>
          <a:p>
            <a:r>
              <a:rPr lang="en-IN" dirty="0"/>
              <a:t>Task &amp; Goal Clarity: </a:t>
            </a:r>
            <a:r>
              <a:rPr lang="en-US" dirty="0"/>
              <a:t>Industry prompts are </a:t>
            </a:r>
            <a:r>
              <a:rPr lang="en-US" b="1" dirty="0"/>
              <a:t>goal-oriented</a:t>
            </a:r>
            <a:r>
              <a:rPr lang="en-US" dirty="0"/>
              <a:t>, not open-ended.</a:t>
            </a:r>
          </a:p>
          <a:p>
            <a:r>
              <a:rPr lang="en-IN" dirty="0"/>
              <a:t>Controlled &amp; Structured Output : </a:t>
            </a:r>
            <a:r>
              <a:rPr lang="en-US" dirty="0"/>
              <a:t>Outputs must be </a:t>
            </a:r>
            <a:r>
              <a:rPr lang="en-US" b="1" dirty="0"/>
              <a:t>consistent and reusable</a:t>
            </a:r>
            <a:r>
              <a:rPr lang="en-US" dirty="0"/>
              <a:t>.</a:t>
            </a:r>
          </a:p>
          <a:p>
            <a:r>
              <a:rPr lang="en-IN" dirty="0"/>
              <a:t>Data Grounding &amp; Accuracy : </a:t>
            </a:r>
            <a:r>
              <a:rPr lang="en-US" dirty="0"/>
              <a:t>The model must use </a:t>
            </a:r>
            <a:r>
              <a:rPr lang="en-US" b="1" dirty="0"/>
              <a:t>only provided data</a:t>
            </a:r>
            <a:r>
              <a:rPr lang="en-US" dirty="0"/>
              <a:t> and avoid assumptions.</a:t>
            </a:r>
          </a:p>
          <a:p>
            <a:r>
              <a:rPr lang="en-IN" dirty="0"/>
              <a:t>Compliance, Ethics &amp; Safety : Mandatory in regulated industries.</a:t>
            </a:r>
          </a:p>
          <a:p>
            <a:r>
              <a:rPr lang="en-IN" dirty="0"/>
              <a:t>Consistency Across Multiple Queries: </a:t>
            </a:r>
            <a:r>
              <a:rPr lang="en-US" dirty="0"/>
              <a:t>AI responses must remain </a:t>
            </a:r>
            <a:r>
              <a:rPr lang="en-US" b="1" dirty="0"/>
              <a:t>consistent across sessions and users</a:t>
            </a:r>
            <a:r>
              <a:rPr lang="en-US" dirty="0"/>
              <a:t>.</a:t>
            </a:r>
          </a:p>
          <a:p>
            <a:r>
              <a:rPr lang="en-IN" dirty="0"/>
              <a:t>Scalability &amp; Reusability: </a:t>
            </a:r>
            <a:r>
              <a:rPr lang="en-US" dirty="0"/>
              <a:t>Prompts should be </a:t>
            </a:r>
            <a:r>
              <a:rPr lang="en-US" b="1" dirty="0"/>
              <a:t>reusable across teams and applications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529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E9FA-2864-3187-0672-A65FF405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Delimiter Based Prompt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3CBB8-B2E2-E6E3-4E35-1BEE6FCCB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Delimiter-Based Prompting</a:t>
            </a:r>
            <a:r>
              <a:rPr lang="en-US" dirty="0"/>
              <a:t> is a prompt engineering technique where </a:t>
            </a:r>
            <a:r>
              <a:rPr lang="en-US" b="1" dirty="0"/>
              <a:t>special symbols or markers (delimiters)</a:t>
            </a:r>
            <a:r>
              <a:rPr lang="en-US" dirty="0"/>
              <a:t> are used to </a:t>
            </a:r>
            <a:r>
              <a:rPr lang="en-US" b="1" dirty="0"/>
              <a:t>clearly separate instructions, context, and input data</a:t>
            </a:r>
            <a:r>
              <a:rPr lang="en-US" dirty="0"/>
              <a:t> so the model understands </a:t>
            </a:r>
            <a:r>
              <a:rPr lang="en-US" b="1" dirty="0"/>
              <a:t>exactly which text to act 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Without delimiters:</a:t>
            </a:r>
          </a:p>
          <a:p>
            <a:r>
              <a:rPr lang="en-US" dirty="0"/>
              <a:t>Instructions and data get mixed</a:t>
            </a:r>
          </a:p>
          <a:p>
            <a:r>
              <a:rPr lang="en-US" dirty="0"/>
              <a:t>Model may hallucinate</a:t>
            </a:r>
          </a:p>
          <a:p>
            <a:r>
              <a:rPr lang="en-US" dirty="0"/>
              <a:t>Higher risk of prompt injection</a:t>
            </a:r>
          </a:p>
          <a:p>
            <a:r>
              <a:rPr lang="en-US" dirty="0"/>
              <a:t>Unclear boundaries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70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6161-9D60-B42C-4FDB-0F00A976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Common Delimiters 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C3B90A-AA70-1022-187C-233F2E6F7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035" y="1488086"/>
            <a:ext cx="8724085" cy="420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51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1F147-CFC3-7202-D409-CA41DA41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Structure of a Delimiter-Based 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66BE3-82F4-8CFA-ABD4-A773A5186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Instruction:</a:t>
            </a:r>
          </a:p>
          <a:p>
            <a:r>
              <a:rPr lang="en-US" dirty="0"/>
              <a:t>&lt;what to do&gt;</a:t>
            </a:r>
          </a:p>
          <a:p>
            <a:r>
              <a:rPr lang="en-US" dirty="0"/>
              <a:t>Input Data:</a:t>
            </a:r>
          </a:p>
          <a:p>
            <a:r>
              <a:rPr lang="en-US" dirty="0"/>
              <a:t>&lt;&lt;&lt;</a:t>
            </a:r>
          </a:p>
          <a:p>
            <a:r>
              <a:rPr lang="en-US" dirty="0"/>
              <a:t>&lt;text or data&gt;</a:t>
            </a:r>
          </a:p>
          <a:p>
            <a:r>
              <a:rPr lang="en-US" dirty="0"/>
              <a:t>&gt;&gt;&gt;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&lt;expected format&gt;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155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EFB8-DDA5-F143-497C-A0AE570A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Types of Delimiter-Based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BA18C-828B-D151-5ABE-C328031DD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Code Block Delimiters : Code, text analysis, summarization</a:t>
            </a:r>
          </a:p>
          <a:p>
            <a:pPr marL="0" indent="0">
              <a:buNone/>
            </a:pPr>
            <a:r>
              <a:rPr lang="en-US" dirty="0"/>
              <a:t>Summarize the following text:</a:t>
            </a:r>
          </a:p>
          <a:p>
            <a:pPr marL="0" indent="0">
              <a:buNone/>
            </a:pPr>
            <a:r>
              <a:rPr lang="en-US" dirty="0"/>
              <a:t>Artificial Intelligence is transforming industries...</a:t>
            </a:r>
          </a:p>
          <a:p>
            <a:r>
              <a:rPr lang="en-IN" dirty="0"/>
              <a:t>Custom Symbol Delimiters : </a:t>
            </a:r>
            <a:r>
              <a:rPr lang="en-US" dirty="0"/>
              <a:t>Extract keywords from the text below:</a:t>
            </a:r>
          </a:p>
          <a:p>
            <a:r>
              <a:rPr lang="en-US" dirty="0"/>
              <a:t>&lt;&lt;&lt;</a:t>
            </a:r>
          </a:p>
          <a:p>
            <a:r>
              <a:rPr lang="en-US" dirty="0"/>
              <a:t>Machine learning improves automation and analytics.</a:t>
            </a:r>
          </a:p>
          <a:p>
            <a:r>
              <a:rPr lang="en-US" dirty="0"/>
              <a:t>&gt;&gt;&gt;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624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F4AD-B61B-7CC0-5803-05F042F3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XML / Tag-Based Delimiters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2FCC7-600D-B131-E331-2B180F143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Used in:</a:t>
            </a:r>
            <a:r>
              <a:rPr lang="en-US" dirty="0"/>
              <a:t> Enterprise &amp; structured prompts</a:t>
            </a:r>
          </a:p>
          <a:p>
            <a:pPr marL="0" indent="0">
              <a:buNone/>
            </a:pPr>
            <a:r>
              <a:rPr lang="en-US" dirty="0"/>
              <a:t>Analyze the content inside &lt;article&gt; tags only.</a:t>
            </a:r>
          </a:p>
          <a:p>
            <a:pPr marL="0" indent="0">
              <a:buNone/>
            </a:pPr>
            <a:r>
              <a:rPr lang="en-US" dirty="0"/>
              <a:t>&lt;article&gt;</a:t>
            </a:r>
          </a:p>
          <a:p>
            <a:pPr marL="0" indent="0">
              <a:buNone/>
            </a:pPr>
            <a:r>
              <a:rPr lang="en-US" dirty="0"/>
              <a:t>AI adoption is increasing in healthcare.</a:t>
            </a:r>
          </a:p>
          <a:p>
            <a:pPr marL="0" indent="0">
              <a:buNone/>
            </a:pPr>
            <a:r>
              <a:rPr lang="en-US" dirty="0"/>
              <a:t>&lt;/article&gt;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353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D9B-EC4B-8490-B265-773D9412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JSON-Based Delimiters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3ABE-8592-9CD5-78B0-1B3CA4AF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Used for:</a:t>
            </a:r>
            <a:r>
              <a:rPr lang="en-US" dirty="0"/>
              <a:t> APIs, automation pipelines</a:t>
            </a:r>
          </a:p>
          <a:p>
            <a:r>
              <a:rPr lang="en-US" dirty="0"/>
              <a:t>Read the following JSON and extract </a:t>
            </a:r>
            <a:r>
              <a:rPr lang="en-US" dirty="0" err="1"/>
              <a:t>customer_name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customer_name</a:t>
            </a:r>
            <a:r>
              <a:rPr lang="en-US" dirty="0"/>
              <a:t>": "Ravi",</a:t>
            </a:r>
          </a:p>
          <a:p>
            <a:r>
              <a:rPr lang="en-US" dirty="0"/>
              <a:t>  "</a:t>
            </a:r>
            <a:r>
              <a:rPr lang="en-US" dirty="0" err="1"/>
              <a:t>account_type</a:t>
            </a:r>
            <a:r>
              <a:rPr lang="en-US" dirty="0"/>
              <a:t>": "Savings"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390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51B9-2B34-52E7-C024-2C29570B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Multi-Section Delimiter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728D7-BD16-4288-B169-900E9C5AE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### Context ###</a:t>
            </a:r>
          </a:p>
          <a:p>
            <a:r>
              <a:rPr lang="en-US" dirty="0"/>
              <a:t>You are an AI tutor.</a:t>
            </a:r>
          </a:p>
          <a:p>
            <a:endParaRPr lang="en-US" dirty="0"/>
          </a:p>
          <a:p>
            <a:r>
              <a:rPr lang="en-US" dirty="0"/>
              <a:t>### Input ###</a:t>
            </a:r>
          </a:p>
          <a:p>
            <a:r>
              <a:rPr lang="en-US" dirty="0"/>
              <a:t>Explain inheritance in Python.</a:t>
            </a:r>
          </a:p>
          <a:p>
            <a:endParaRPr lang="en-US" dirty="0"/>
          </a:p>
          <a:p>
            <a:r>
              <a:rPr lang="en-US" dirty="0"/>
              <a:t>### Output ###</a:t>
            </a:r>
          </a:p>
          <a:p>
            <a:r>
              <a:rPr lang="en-US" dirty="0"/>
              <a:t>Simple explanation with example.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105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2029-BC03-4EBF-E5EE-7A7EDE2E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Industry Uses Delimiter-Based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AD78D-1E2F-D6F2-417B-8FEC97337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real-world AI systems, models handle:</a:t>
            </a:r>
          </a:p>
          <a:p>
            <a:r>
              <a:rPr lang="en-US" dirty="0"/>
              <a:t>Large documents</a:t>
            </a:r>
          </a:p>
          <a:p>
            <a:r>
              <a:rPr lang="en-US" dirty="0"/>
              <a:t>User-generated content</a:t>
            </a:r>
          </a:p>
          <a:p>
            <a:r>
              <a:rPr lang="en-US" dirty="0"/>
              <a:t>Code and logs</a:t>
            </a:r>
          </a:p>
          <a:p>
            <a:r>
              <a:rPr lang="en-US" dirty="0"/>
              <a:t>Sensitive or regulated data</a:t>
            </a:r>
          </a:p>
          <a:p>
            <a:r>
              <a:rPr lang="en-US" dirty="0"/>
              <a:t>Without delimiters, </a:t>
            </a:r>
            <a:r>
              <a:rPr lang="en-US" b="1" dirty="0"/>
              <a:t>instructions and data can mix</a:t>
            </a:r>
            <a:r>
              <a:rPr lang="en-US" dirty="0"/>
              <a:t>, causing:</a:t>
            </a:r>
          </a:p>
          <a:p>
            <a:r>
              <a:rPr lang="en-US" dirty="0"/>
              <a:t>Wrong outputs</a:t>
            </a:r>
          </a:p>
          <a:p>
            <a:r>
              <a:rPr lang="en-US" dirty="0"/>
              <a:t>Prompt injection risks</a:t>
            </a:r>
          </a:p>
          <a:p>
            <a:r>
              <a:rPr lang="en-US" dirty="0"/>
              <a:t>Compliance issues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723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B5A6-6E02-4D9F-933C-A6E82C25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Prompt </a:t>
            </a:r>
            <a:endParaRPr lang="en-IN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3D3AE-8E36-A487-EE20-04CEC94EB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Structured Prompting</a:t>
            </a:r>
            <a:r>
              <a:rPr lang="en-US" dirty="0"/>
              <a:t> is a </a:t>
            </a:r>
            <a:r>
              <a:rPr lang="en-US" b="1" dirty="0"/>
              <a:t>prompt engineering technique</a:t>
            </a:r>
            <a:r>
              <a:rPr lang="en-US" dirty="0"/>
              <a:t> where the prompt is organized in a </a:t>
            </a:r>
            <a:r>
              <a:rPr lang="en-US" b="1" dirty="0"/>
              <a:t>clear, predefined structure</a:t>
            </a:r>
            <a:r>
              <a:rPr lang="en-US" dirty="0"/>
              <a:t> with separate sections for context, instructions, input, constraints, and output.</a:t>
            </a:r>
          </a:p>
          <a:p>
            <a:r>
              <a:rPr lang="en-US" b="1" dirty="0"/>
              <a:t>Structured Prompts Are Used</a:t>
            </a:r>
          </a:p>
          <a:p>
            <a:r>
              <a:rPr lang="en-US" dirty="0"/>
              <a:t>Reduces ambiguity</a:t>
            </a:r>
          </a:p>
          <a:p>
            <a:r>
              <a:rPr lang="en-US" dirty="0"/>
              <a:t>Ensures model outputs follow a </a:t>
            </a:r>
            <a:r>
              <a:rPr lang="en-US" b="1" dirty="0"/>
              <a:t>consistent format</a:t>
            </a:r>
            <a:endParaRPr lang="en-US" dirty="0"/>
          </a:p>
          <a:p>
            <a:r>
              <a:rPr lang="en-US" dirty="0"/>
              <a:t>Makes prompts </a:t>
            </a:r>
            <a:r>
              <a:rPr lang="en-US" b="1" dirty="0"/>
              <a:t>scalable and reusable</a:t>
            </a:r>
            <a:endParaRPr lang="en-US" dirty="0"/>
          </a:p>
          <a:p>
            <a:r>
              <a:rPr lang="en-US" dirty="0"/>
              <a:t>Essential for </a:t>
            </a:r>
            <a:r>
              <a:rPr lang="en-US" b="1" dirty="0"/>
              <a:t>industry applications</a:t>
            </a:r>
            <a:r>
              <a:rPr lang="en-US" dirty="0"/>
              <a:t> like reporting, code generation, and data extraction</a:t>
            </a:r>
          </a:p>
          <a:p>
            <a:r>
              <a:rPr lang="en-US" dirty="0"/>
              <a:t>Reduces hallucinations and improves alignment with business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764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45C01-E3E0-4258-5BE5-CDA581C1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</a:rPr>
              <a:t>General Structure of a Structured Prompt</a:t>
            </a:r>
            <a:endParaRPr lang="en-IN" b="1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9404E-FE63-A4AA-45BE-788F63325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### Context ###</a:t>
            </a:r>
          </a:p>
          <a:p>
            <a:r>
              <a:rPr lang="en-US" dirty="0"/>
              <a:t>&lt;Background or scenario information&gt;</a:t>
            </a:r>
          </a:p>
          <a:p>
            <a:endParaRPr lang="en-US" dirty="0"/>
          </a:p>
          <a:p>
            <a:r>
              <a:rPr lang="en-US" dirty="0"/>
              <a:t>### Task ###</a:t>
            </a:r>
          </a:p>
          <a:p>
            <a:r>
              <a:rPr lang="en-US" dirty="0"/>
              <a:t>&lt;What the AI needs to do&gt;</a:t>
            </a:r>
          </a:p>
          <a:p>
            <a:endParaRPr lang="en-US" dirty="0"/>
          </a:p>
          <a:p>
            <a:r>
              <a:rPr lang="en-US" dirty="0"/>
              <a:t>### Input ###</a:t>
            </a:r>
          </a:p>
          <a:p>
            <a:r>
              <a:rPr lang="en-US" dirty="0"/>
              <a:t>&lt;Data or text to process&gt;</a:t>
            </a:r>
          </a:p>
          <a:p>
            <a:endParaRPr lang="en-US" dirty="0"/>
          </a:p>
          <a:p>
            <a:r>
              <a:rPr lang="en-US" dirty="0"/>
              <a:t>### Constraints ###</a:t>
            </a:r>
          </a:p>
          <a:p>
            <a:r>
              <a:rPr lang="en-US" dirty="0"/>
              <a:t>&lt;Rules: style, format, length, tone&gt;</a:t>
            </a:r>
          </a:p>
          <a:p>
            <a:endParaRPr lang="en-US" dirty="0"/>
          </a:p>
          <a:p>
            <a:r>
              <a:rPr lang="en-US" dirty="0"/>
              <a:t>### Output ###</a:t>
            </a:r>
          </a:p>
          <a:p>
            <a:r>
              <a:rPr lang="en-US" dirty="0"/>
              <a:t>&lt;Expected format or example&gt;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496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831E-2EE7-5F19-69B5-6EDA085E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Types of Structured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0FDC-BFC5-A328-1783-3471F067F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Instruction + Input Structure</a:t>
            </a:r>
          </a:p>
          <a:p>
            <a:pPr marL="0" indent="0">
              <a:buNone/>
            </a:pPr>
            <a:r>
              <a:rPr lang="en-US" dirty="0"/>
              <a:t>Separates </a:t>
            </a:r>
            <a:r>
              <a:rPr lang="en-US" b="1" dirty="0"/>
              <a:t>task instruction</a:t>
            </a:r>
            <a:r>
              <a:rPr lang="en-US" dirty="0"/>
              <a:t> from </a:t>
            </a:r>
            <a:r>
              <a:rPr lang="en-US" b="1" dirty="0"/>
              <a:t>input data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Instruction: Summarize the following text in 3 bullet points.</a:t>
            </a:r>
          </a:p>
          <a:p>
            <a:r>
              <a:rPr lang="en-US" dirty="0"/>
              <a:t>Input:</a:t>
            </a:r>
          </a:p>
          <a:p>
            <a:r>
              <a:rPr lang="en-US" dirty="0"/>
              <a:t>&lt;&lt;&lt;</a:t>
            </a:r>
          </a:p>
          <a:p>
            <a:r>
              <a:rPr lang="en-US" dirty="0"/>
              <a:t>Artificial Intelligence is revolutionizing industries by improving automation, data analytics, and decision-making processes.</a:t>
            </a:r>
          </a:p>
          <a:p>
            <a:r>
              <a:rPr lang="en-US" dirty="0"/>
              <a:t>&gt;&gt;&gt;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283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A9E4-B05F-D7E9-7853-C5A08F10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Contextual Structured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3B37D-8C3D-A260-F9EC-CB045B077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Adds </a:t>
            </a:r>
            <a:r>
              <a:rPr lang="en-US" b="1" dirty="0"/>
              <a:t>scenario or user-specific context</a:t>
            </a:r>
            <a:r>
              <a:rPr lang="en-US" dirty="0"/>
              <a:t> for better relevance.</a:t>
            </a:r>
          </a:p>
          <a:p>
            <a:pPr marL="0" indent="0">
              <a:buNone/>
            </a:pPr>
            <a:r>
              <a:rPr lang="en-US" dirty="0"/>
              <a:t>Context: The audience is first-year engineering students.</a:t>
            </a:r>
          </a:p>
          <a:p>
            <a:pPr marL="0" indent="0">
              <a:buNone/>
            </a:pPr>
            <a:r>
              <a:rPr lang="en-US" dirty="0"/>
              <a:t>Task: Explain inheritance in Python.</a:t>
            </a:r>
          </a:p>
          <a:p>
            <a:pPr marL="0" indent="0">
              <a:buNone/>
            </a:pPr>
            <a:r>
              <a:rPr lang="en-US" dirty="0"/>
              <a:t>Input:</a:t>
            </a:r>
          </a:p>
          <a:p>
            <a:pPr marL="0" indent="0">
              <a:buNone/>
            </a:pPr>
            <a:r>
              <a:rPr lang="en-US" dirty="0"/>
              <a:t>&lt;&lt;&lt;</a:t>
            </a:r>
          </a:p>
          <a:p>
            <a:pPr marL="0" indent="0">
              <a:buNone/>
            </a:pPr>
            <a:r>
              <a:rPr lang="en-US" dirty="0"/>
              <a:t>Python code: class Animal: ...</a:t>
            </a:r>
          </a:p>
          <a:p>
            <a:pPr marL="0" indent="0">
              <a:buNone/>
            </a:pPr>
            <a:r>
              <a:rPr lang="en-US" dirty="0"/>
              <a:t>&gt;&gt;&gt;</a:t>
            </a:r>
          </a:p>
          <a:p>
            <a:pPr marL="0" indent="0">
              <a:buNone/>
            </a:pPr>
            <a:r>
              <a:rPr lang="en-US" dirty="0"/>
              <a:t>Constraints: Use simple language, real-world example</a:t>
            </a:r>
          </a:p>
          <a:p>
            <a:pPr marL="0" indent="0">
              <a:buNone/>
            </a:pPr>
            <a:r>
              <a:rPr lang="en-US" dirty="0"/>
              <a:t>Output: Explanation + short code example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279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D991-95E5-D90E-3E31-D4BA5205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Multi-Section Structured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D0324-2135-92FD-191E-CA52DD3B5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Organizes prompts into multiple labeled sections for </a:t>
            </a:r>
            <a:r>
              <a:rPr lang="en-US" b="1" dirty="0"/>
              <a:t>complex tasks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### Context ###</a:t>
            </a:r>
          </a:p>
          <a:p>
            <a:pPr marL="0" indent="0">
              <a:buNone/>
            </a:pPr>
            <a:r>
              <a:rPr lang="en-US" dirty="0"/>
              <a:t>You are an AI assistant for business analytics.</a:t>
            </a:r>
          </a:p>
          <a:p>
            <a:pPr marL="0" indent="0">
              <a:buNone/>
            </a:pPr>
            <a:r>
              <a:rPr lang="en-US" dirty="0"/>
              <a:t>### Input ###</a:t>
            </a:r>
          </a:p>
          <a:p>
            <a:pPr marL="0" indent="0">
              <a:buNone/>
            </a:pPr>
            <a:r>
              <a:rPr lang="en-US" dirty="0"/>
              <a:t>Sales data for Q3: [100, 150, 200, 250]</a:t>
            </a:r>
          </a:p>
          <a:p>
            <a:pPr marL="0" indent="0">
              <a:buNone/>
            </a:pPr>
            <a:r>
              <a:rPr lang="en-US" dirty="0"/>
              <a:t>### Task ###</a:t>
            </a:r>
          </a:p>
          <a:p>
            <a:pPr marL="0" indent="0">
              <a:buNone/>
            </a:pPr>
            <a:r>
              <a:rPr lang="en-US" dirty="0"/>
              <a:t>Identify key trends</a:t>
            </a:r>
          </a:p>
          <a:p>
            <a:pPr marL="0" indent="0">
              <a:buNone/>
            </a:pPr>
            <a:r>
              <a:rPr lang="en-US" dirty="0"/>
              <a:t>### Constraints ###</a:t>
            </a:r>
          </a:p>
          <a:p>
            <a:pPr marL="0" indent="0">
              <a:buNone/>
            </a:pPr>
            <a:r>
              <a:rPr lang="en-US" dirty="0"/>
              <a:t>Provide in bullet points, maximum 50 words</a:t>
            </a:r>
          </a:p>
          <a:p>
            <a:pPr marL="0" indent="0">
              <a:buNone/>
            </a:pPr>
            <a:r>
              <a:rPr lang="en-US" dirty="0"/>
              <a:t>### Output ###</a:t>
            </a:r>
          </a:p>
          <a:p>
            <a:pPr marL="0" indent="0">
              <a:buNone/>
            </a:pPr>
            <a:r>
              <a:rPr lang="en-US" dirty="0"/>
              <a:t>- Bullet-pointed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149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405E-8024-6343-39FA-57E5157C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Template-Based Structured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98BB8-80B8-6A4E-608F-49094C1A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a </a:t>
            </a:r>
            <a:r>
              <a:rPr lang="en-US" b="1" dirty="0"/>
              <a:t>predefined template</a:t>
            </a:r>
            <a:r>
              <a:rPr lang="en-US" dirty="0"/>
              <a:t> for repeated tasks.</a:t>
            </a:r>
          </a:p>
          <a:p>
            <a:pPr marL="0" indent="0">
              <a:buNone/>
            </a:pPr>
            <a:r>
              <a:rPr lang="en-IN" dirty="0"/>
              <a:t>Template:</a:t>
            </a:r>
          </a:p>
          <a:p>
            <a:r>
              <a:rPr lang="en-IN" dirty="0"/>
              <a:t>Context: {</a:t>
            </a:r>
            <a:r>
              <a:rPr lang="en-IN" dirty="0" err="1"/>
              <a:t>user_context</a:t>
            </a:r>
            <a:r>
              <a:rPr lang="en-IN" dirty="0"/>
              <a:t>}</a:t>
            </a:r>
          </a:p>
          <a:p>
            <a:r>
              <a:rPr lang="en-IN" dirty="0"/>
              <a:t>Task: {</a:t>
            </a:r>
            <a:r>
              <a:rPr lang="en-IN" dirty="0" err="1"/>
              <a:t>task_description</a:t>
            </a:r>
            <a:r>
              <a:rPr lang="en-IN" dirty="0"/>
              <a:t>}</a:t>
            </a:r>
          </a:p>
          <a:p>
            <a:r>
              <a:rPr lang="en-IN" dirty="0"/>
              <a:t>Input: {</a:t>
            </a:r>
            <a:r>
              <a:rPr lang="en-IN" dirty="0" err="1"/>
              <a:t>input_data</a:t>
            </a:r>
            <a:r>
              <a:rPr lang="en-IN" dirty="0"/>
              <a:t>}</a:t>
            </a:r>
          </a:p>
          <a:p>
            <a:r>
              <a:rPr lang="en-IN" dirty="0"/>
              <a:t>Constraints: {constraints}</a:t>
            </a:r>
          </a:p>
          <a:p>
            <a:r>
              <a:rPr lang="en-IN" dirty="0"/>
              <a:t>Output: {</a:t>
            </a:r>
            <a:r>
              <a:rPr lang="en-IN" dirty="0" err="1"/>
              <a:t>expected_format</a:t>
            </a: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332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BCA0-18DD-D680-6C1F-4A101406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Interaction Based Prompt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2E1F3-09D9-7F14-87C0-9C5FD09FC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2099945"/>
            <a:ext cx="10515600" cy="1567815"/>
          </a:xfrm>
        </p:spPr>
        <p:txBody>
          <a:bodyPr>
            <a:noAutofit/>
          </a:bodyPr>
          <a:lstStyle/>
          <a:p>
            <a:r>
              <a:rPr lang="en-US" sz="3800" b="1" dirty="0"/>
              <a:t>Interaction-Based Prompting</a:t>
            </a:r>
            <a:r>
              <a:rPr lang="en-US" sz="3800" dirty="0"/>
              <a:t> is a technique where the prompt is designed to </a:t>
            </a:r>
            <a:r>
              <a:rPr lang="en-US" sz="3800" b="1" dirty="0"/>
              <a:t>simulate a conversation or interactive scenario</a:t>
            </a:r>
            <a:r>
              <a:rPr lang="en-US" sz="3800" dirty="0"/>
              <a:t>, guiding the AI model to respond in a </a:t>
            </a:r>
            <a:r>
              <a:rPr lang="en-US" sz="3800" b="1" dirty="0"/>
              <a:t>stepwise, iterative, or dialog-like manner</a:t>
            </a:r>
            <a:r>
              <a:rPr lang="en-US" sz="3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9426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97676-BF3B-A93C-8764-5BD836D0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92D050"/>
                </a:solidFill>
              </a:rPr>
              <a:t>Structure of Interaction-Based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FA6E3-93C1-AC3A-2054-44E7D427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en-IN" dirty="0"/>
              <a:t>[Goal]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[Context]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[Role]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[Instruction Style]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[AI Response]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[User Feedback]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[Refinement]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[Improved Response]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(Repeat Cycle)</a:t>
            </a:r>
          </a:p>
          <a:p>
            <a:r>
              <a:rPr lang="en-US" dirty="0">
                <a:solidFill>
                  <a:srgbClr val="FF0000"/>
                </a:solidFill>
              </a:rPr>
              <a:t>Act as a Python trainer.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 am a beginner.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Teach me abstraction step-by-step.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Use simple language.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Ask me a question after each step.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Wait for my reply before continuing.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280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AADC0-9C97-7A51-E8AE-C0C5D8F3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Types of Interaction-Based Prompts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7008A-11F2-7130-4353-A062E8423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2840" y="1839149"/>
            <a:ext cx="908812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Follow-Up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Clarification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Refinement / Improvement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Correction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Interaction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Role-Switching Interaction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Feedback-Driven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/ Conversational Prompt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96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AABE-C069-DD88-749E-68188553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Follow-Up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085E-98DD-425D-4946-ACEF133B0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Follow-Up Prompt</a:t>
            </a:r>
            <a:r>
              <a:rPr lang="en-US" dirty="0"/>
              <a:t> is an interaction-based prompt where the user asks </a:t>
            </a:r>
            <a:r>
              <a:rPr lang="en-US" b="1" dirty="0"/>
              <a:t>additional questions or instructions based on the AI’s previous response</a:t>
            </a:r>
            <a:r>
              <a:rPr lang="en-US" dirty="0"/>
              <a:t> to gain deeper, clearer, or more specific information.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Structure of a Follow-Up Prompt : </a:t>
            </a:r>
          </a:p>
          <a:p>
            <a:r>
              <a:rPr lang="en-US" dirty="0"/>
              <a:t>Initial Prompt – User asks the main question</a:t>
            </a:r>
          </a:p>
          <a:p>
            <a:r>
              <a:rPr lang="en-US" dirty="0"/>
              <a:t>AI Response – AI provides the first answer</a:t>
            </a:r>
          </a:p>
          <a:p>
            <a:r>
              <a:rPr lang="en-US" dirty="0"/>
              <a:t>Follow-Up Prompt – User asks for more details, clarification, or expansion</a:t>
            </a:r>
          </a:p>
          <a:p>
            <a:r>
              <a:rPr lang="en-US" dirty="0"/>
              <a:t>Refined Response – AI improves or extends the answer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567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C07E-CCB8-7782-F8F9-B9A00F1E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Example – Follow-Up 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7C6F1-A016-2BA7-4B74-4C3CEBB7A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User:</a:t>
            </a:r>
            <a:endParaRPr lang="en-US" dirty="0"/>
          </a:p>
          <a:p>
            <a:r>
              <a:rPr lang="en-US" dirty="0"/>
              <a:t>What is a list in Python?</a:t>
            </a:r>
          </a:p>
          <a:p>
            <a:r>
              <a:rPr lang="en-US" b="1" dirty="0"/>
              <a:t>AI:</a:t>
            </a:r>
            <a:endParaRPr lang="en-US" dirty="0"/>
          </a:p>
          <a:p>
            <a:r>
              <a:rPr lang="en-US" dirty="0"/>
              <a:t>A list is a collection of items stored in a single variable.</a:t>
            </a:r>
          </a:p>
          <a:p>
            <a:r>
              <a:rPr lang="en-US" b="1" dirty="0"/>
              <a:t>User (Follow-Up Prompt):</a:t>
            </a:r>
            <a:endParaRPr lang="en-US" dirty="0"/>
          </a:p>
          <a:p>
            <a:r>
              <a:rPr lang="en-US" dirty="0"/>
              <a:t>Give a simple example.</a:t>
            </a:r>
          </a:p>
          <a:p>
            <a:r>
              <a:rPr lang="en-US" b="1" dirty="0"/>
              <a:t>AI:</a:t>
            </a:r>
            <a:endParaRPr lang="en-US" dirty="0"/>
          </a:p>
          <a:p>
            <a:r>
              <a:rPr lang="en-US" dirty="0"/>
              <a:t>numbers = [1, 2, 3, 4]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973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2006E-52C2-8C06-4FE0-1A3207AA4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Clarification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F9295-FF29-B108-73CF-7F9D7B8F4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Clarification Prompt</a:t>
            </a:r>
            <a:r>
              <a:rPr lang="en-US" dirty="0"/>
              <a:t> is an interaction-based prompt used when the user asks the AI to </a:t>
            </a:r>
            <a:r>
              <a:rPr lang="en-US" b="1" dirty="0"/>
              <a:t>explain the same response more clearly, simply, or in a different way</a:t>
            </a:r>
            <a:r>
              <a:rPr lang="en-US" dirty="0"/>
              <a:t> without changing the topic.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Structure of a Clarification Prompt</a:t>
            </a:r>
          </a:p>
          <a:p>
            <a:pPr marL="0" indent="0">
              <a:buNone/>
            </a:pPr>
            <a:r>
              <a:rPr lang="en-US" dirty="0"/>
              <a:t>Initial Prompt – User asks a question</a:t>
            </a:r>
          </a:p>
          <a:p>
            <a:pPr marL="0" indent="0">
              <a:buNone/>
            </a:pPr>
            <a:r>
              <a:rPr lang="en-US" dirty="0"/>
              <a:t>AI Response – AI gives an explanation</a:t>
            </a:r>
          </a:p>
          <a:p>
            <a:pPr marL="0" indent="0">
              <a:buNone/>
            </a:pPr>
            <a:r>
              <a:rPr lang="en-US" dirty="0"/>
              <a:t>Clarification Prompt – User requests simpler or clearer explanation</a:t>
            </a:r>
          </a:p>
          <a:p>
            <a:pPr marL="0" indent="0">
              <a:buNone/>
            </a:pPr>
            <a:r>
              <a:rPr lang="en-US" dirty="0"/>
              <a:t>Clarified Response – AI re-explains in an easier 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694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CF20-0C20-2321-C9E0-531010B7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 / Improvement 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B1C7-254D-7359-4781-6295B5CE5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Refinement (or Improvement) Prompt</a:t>
            </a:r>
            <a:r>
              <a:rPr lang="en-US" dirty="0"/>
              <a:t> is an interaction-based prompt where the user asks the AI to </a:t>
            </a:r>
            <a:r>
              <a:rPr lang="en-US" b="1" dirty="0"/>
              <a:t>enhance, modify, or improve an existing response</a:t>
            </a:r>
            <a:r>
              <a:rPr lang="en-US" dirty="0"/>
              <a:t> by changing style, length, detail, format, or quality </a:t>
            </a:r>
            <a:r>
              <a:rPr lang="en-US" b="1" dirty="0"/>
              <a:t>without changing the main topic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Structure of a Refinement / Improvement Prompt</a:t>
            </a:r>
          </a:p>
          <a:p>
            <a:r>
              <a:rPr lang="en-US" dirty="0">
                <a:solidFill>
                  <a:srgbClr val="C00000"/>
                </a:solidFill>
              </a:rPr>
              <a:t>Initial Prompt – User asks for content</a:t>
            </a:r>
          </a:p>
          <a:p>
            <a:r>
              <a:rPr lang="en-US" dirty="0">
                <a:solidFill>
                  <a:srgbClr val="C00000"/>
                </a:solidFill>
              </a:rPr>
              <a:t>AI Response – AI provides the first output</a:t>
            </a:r>
          </a:p>
          <a:p>
            <a:r>
              <a:rPr lang="en-US" dirty="0">
                <a:solidFill>
                  <a:srgbClr val="C00000"/>
                </a:solidFill>
              </a:rPr>
              <a:t>Refinement Prompt – User asks to improve or adjust the output</a:t>
            </a:r>
          </a:p>
          <a:p>
            <a:r>
              <a:rPr lang="en-US" dirty="0">
                <a:solidFill>
                  <a:srgbClr val="C00000"/>
                </a:solidFill>
              </a:rPr>
              <a:t>Refined Response – AI gives an improved version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68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396A-5235-1192-15A3-AF9B8778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Correction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F7D1-62F8-4ED9-E584-AEDFDD22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Correction Prompt</a:t>
            </a:r>
            <a:r>
              <a:rPr lang="en-US" dirty="0"/>
              <a:t> is an interaction-based prompt where the user asks the AI to </a:t>
            </a:r>
            <a:r>
              <a:rPr lang="en-US" b="1" dirty="0"/>
              <a:t>identify and fix errors</a:t>
            </a:r>
            <a:r>
              <a:rPr lang="en-US" dirty="0"/>
              <a:t> in a previous response, such as </a:t>
            </a:r>
            <a:r>
              <a:rPr lang="en-US" b="1" dirty="0"/>
              <a:t>incorrect facts, wrong logic, or faulty code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00B050"/>
                </a:solidFill>
              </a:rPr>
              <a:t> Structure of a Correction Prompt</a:t>
            </a:r>
          </a:p>
          <a:p>
            <a:pPr marL="0" indent="0">
              <a:buNone/>
            </a:pPr>
            <a:r>
              <a:rPr lang="en-US" dirty="0"/>
              <a:t>Initial Prompt – User asks a question or task</a:t>
            </a:r>
          </a:p>
          <a:p>
            <a:pPr marL="0" indent="0">
              <a:buNone/>
            </a:pPr>
            <a:r>
              <a:rPr lang="en-US" dirty="0"/>
              <a:t>AI Response – AI gives an answer (with an error)</a:t>
            </a:r>
          </a:p>
          <a:p>
            <a:pPr marL="0" indent="0">
              <a:buNone/>
            </a:pPr>
            <a:r>
              <a:rPr lang="en-US" dirty="0"/>
              <a:t>Correction Prompt – User points out or requests correction</a:t>
            </a:r>
          </a:p>
          <a:p>
            <a:pPr marL="0" indent="0">
              <a:buNone/>
            </a:pPr>
            <a:r>
              <a:rPr lang="en-US" dirty="0"/>
              <a:t>Corrected Response – AI fixes the mistake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226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B24ED-C0CC-0052-BF34-AE508B15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Step-by-Step Interaction Prompt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84011-6452-2D34-852D-8750FE3D1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Step-by-Step Interaction Prompt</a:t>
            </a:r>
            <a:r>
              <a:rPr lang="en-US" dirty="0"/>
              <a:t> is a prompting technique where the AI </a:t>
            </a:r>
            <a:r>
              <a:rPr lang="en-US" b="1" dirty="0"/>
              <a:t>breaks a task into multiple steps and interacts with the user at each step</a:t>
            </a:r>
            <a:r>
              <a:rPr lang="en-US" dirty="0"/>
              <a:t>, waiting for the user’s response before proceeding to the next step.</a:t>
            </a:r>
          </a:p>
          <a:p>
            <a:r>
              <a:rPr lang="en-US" dirty="0"/>
              <a:t>You are a [role].</a:t>
            </a:r>
          </a:p>
          <a:p>
            <a:r>
              <a:rPr lang="en-US" dirty="0"/>
              <a:t>Your task is to help me achieve [goal].</a:t>
            </a:r>
          </a:p>
          <a:p>
            <a:r>
              <a:rPr lang="en-US" dirty="0"/>
              <a:t>Follow these rules:</a:t>
            </a:r>
          </a:p>
          <a:p>
            <a:r>
              <a:rPr lang="en-US" dirty="0"/>
              <a:t>1. Complete the task step by step.</a:t>
            </a:r>
          </a:p>
          <a:p>
            <a:r>
              <a:rPr lang="en-US" dirty="0"/>
              <a:t>2. Ask me questions at each step.</a:t>
            </a:r>
          </a:p>
          <a:p>
            <a:r>
              <a:rPr lang="en-US" dirty="0"/>
              <a:t>3. Wait for my reply before moving forward.</a:t>
            </a:r>
          </a:p>
          <a:p>
            <a:r>
              <a:rPr lang="en-US" dirty="0"/>
              <a:t>4. Confirm my input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27909040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5589-4F6F-9048-A15E-157E45E0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Role-Switching Interaction 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EE26E-8F97-858F-BF6E-81D73245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Role-Switching Interaction Prompt</a:t>
            </a:r>
            <a:r>
              <a:rPr lang="en-US" dirty="0"/>
              <a:t> is a prompting technique where the AI </a:t>
            </a:r>
            <a:r>
              <a:rPr lang="en-US" b="1" dirty="0"/>
              <a:t>changes its role during the conversation</a:t>
            </a:r>
            <a:r>
              <a:rPr lang="en-US" dirty="0"/>
              <a:t> based on the stage of the task or user instruction.</a:t>
            </a:r>
            <a:br>
              <a:rPr lang="en-US" dirty="0"/>
            </a:br>
            <a:r>
              <a:rPr lang="en-US" dirty="0"/>
              <a:t>Each role has a </a:t>
            </a:r>
            <a:r>
              <a:rPr lang="en-US" b="1" dirty="0"/>
              <a:t>different responsibility</a:t>
            </a:r>
            <a:r>
              <a:rPr lang="en-US" dirty="0"/>
              <a:t>, perspective, or behavior to achieve a better outcome.</a:t>
            </a:r>
          </a:p>
          <a:p>
            <a:r>
              <a:rPr lang="en-US" dirty="0"/>
              <a:t>The AI does </a:t>
            </a:r>
            <a:r>
              <a:rPr lang="en-US" b="1" dirty="0"/>
              <a:t>not stay in one fixed role</a:t>
            </a:r>
            <a:r>
              <a:rPr lang="en-US" dirty="0"/>
              <a:t> throughout the interaction.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414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4D57-6179-8E73-CAD3-88942669C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9B16-1187-ECED-8237-2710A6B52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initially a [Role 1].</a:t>
            </a:r>
          </a:p>
          <a:p>
            <a:r>
              <a:rPr lang="en-US" dirty="0"/>
              <a:t>Your task is to help me achieve [goal].</a:t>
            </a:r>
          </a:p>
          <a:p>
            <a:r>
              <a:rPr lang="en-US" dirty="0"/>
              <a:t>Rules:</a:t>
            </a:r>
          </a:p>
          <a:p>
            <a:r>
              <a:rPr lang="en-US" dirty="0"/>
              <a:t>- Perform your task as Role 1 first</a:t>
            </a:r>
          </a:p>
          <a:p>
            <a:r>
              <a:rPr lang="en-US" dirty="0"/>
              <a:t>- When I say "switch", change your role to [Role 2]</a:t>
            </a:r>
          </a:p>
          <a:p>
            <a:r>
              <a:rPr lang="en-US" dirty="0"/>
              <a:t>- Adapt your responses according to the active role</a:t>
            </a:r>
          </a:p>
          <a:p>
            <a:r>
              <a:rPr lang="en-US" dirty="0"/>
              <a:t>- Clearly behave according to the current role</a:t>
            </a:r>
          </a:p>
          <a:p>
            <a:r>
              <a:rPr lang="en-IN" dirty="0"/>
              <a:t>Start as Role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4303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BF0F-6753-E87B-B34E-662DCA7F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6C47-3863-BE95-3467-FF15AC220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 Prompt Engineer.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task is to help me write a good AI prompt.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Prompt Engineer, help me design the prompt.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prompt is written, switch your role to an AI Evaluator.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AI Evaluator: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the prompt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Identify weaknesses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Suggest improvements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61861B-14AC-14E9-48C0-E99994CDB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249590"/>
              </p:ext>
            </p:extLst>
          </p:nvPr>
        </p:nvGraphicFramePr>
        <p:xfrm>
          <a:off x="6319520" y="1825625"/>
          <a:ext cx="5577840" cy="3775421"/>
        </p:xfrm>
        <a:graphic>
          <a:graphicData uri="http://schemas.openxmlformats.org/drawingml/2006/table">
            <a:tbl>
              <a:tblPr/>
              <a:tblGrid>
                <a:gridCol w="1209040">
                  <a:extLst>
                    <a:ext uri="{9D8B030D-6E8A-4147-A177-3AD203B41FA5}">
                      <a16:colId xmlns:a16="http://schemas.microsoft.com/office/drawing/2014/main" val="31019733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2761021417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4201873095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00B050"/>
                          </a:solidFill>
                        </a:rPr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00B050"/>
                          </a:solidFill>
                        </a:rPr>
                        <a:t>AI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rgbClr val="00B050"/>
                          </a:solidFill>
                        </a:rPr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855801"/>
                  </a:ext>
                </a:extLst>
              </a:tr>
              <a:tr h="977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Step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Prompt Engineer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Create the 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437141"/>
                  </a:ext>
                </a:extLst>
              </a:tr>
              <a:tr h="648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Step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Evaluator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Analyze &amp; improve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44155"/>
                  </a:ext>
                </a:extLst>
              </a:tr>
              <a:tr h="1550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Step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User Guide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Explain corrections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53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753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FDC1-670D-7C0E-4B1A-E8B4E3C5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Feedback-Driven Prompt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52E41-93AF-7B40-8D41-E49BFA3A9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Feedback-Driven Prompt</a:t>
            </a:r>
            <a:r>
              <a:rPr lang="en-US" dirty="0"/>
              <a:t> is a prompting technique where the AI </a:t>
            </a:r>
            <a:r>
              <a:rPr lang="en-US" b="1" dirty="0"/>
              <a:t>generates an output, receives feedback (from the user or system), and then refines or improves the response based on that feedback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process continues </a:t>
            </a:r>
            <a:r>
              <a:rPr lang="en-US" b="1" dirty="0"/>
              <a:t>iteratively</a:t>
            </a:r>
            <a:r>
              <a:rPr lang="en-US" dirty="0"/>
              <a:t> until the desired quality or result is achieved.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8028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2DA4-7254-112D-6263-21BCEA8D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General Prompt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7D47-0ABF-D699-8FB0-5362721D6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a [role].</a:t>
            </a:r>
          </a:p>
          <a:p>
            <a:r>
              <a:rPr lang="en-US" dirty="0"/>
              <a:t>Your task is to generate [output].</a:t>
            </a:r>
          </a:p>
          <a:p>
            <a:r>
              <a:rPr lang="en-US" dirty="0"/>
              <a:t>Process:</a:t>
            </a:r>
          </a:p>
          <a:p>
            <a:r>
              <a:rPr lang="en-US" dirty="0"/>
              <a:t>1. Generate an initial version.</a:t>
            </a:r>
          </a:p>
          <a:p>
            <a:r>
              <a:rPr lang="en-US" dirty="0"/>
              <a:t>2. Wait for my feedback.</a:t>
            </a:r>
          </a:p>
          <a:p>
            <a:r>
              <a:rPr lang="en-US" dirty="0"/>
              <a:t>3. Revise the output based on feedback.</a:t>
            </a:r>
          </a:p>
          <a:p>
            <a:r>
              <a:rPr lang="en-US" dirty="0"/>
              <a:t>4. Repeat the process until I say "final".</a:t>
            </a:r>
          </a:p>
          <a:p>
            <a:r>
              <a:rPr lang="en-US" dirty="0"/>
              <a:t>Start with the initial version.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22CF09-597A-8434-4BBA-BD3DDBBC4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81375"/>
              </p:ext>
            </p:extLst>
          </p:nvPr>
        </p:nvGraphicFramePr>
        <p:xfrm>
          <a:off x="7152640" y="2133600"/>
          <a:ext cx="4734560" cy="34442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367280">
                  <a:extLst>
                    <a:ext uri="{9D8B030D-6E8A-4147-A177-3AD203B41FA5}">
                      <a16:colId xmlns:a16="http://schemas.microsoft.com/office/drawing/2014/main" val="4261136454"/>
                    </a:ext>
                  </a:extLst>
                </a:gridCol>
                <a:gridCol w="2367280">
                  <a:extLst>
                    <a:ext uri="{9D8B030D-6E8A-4147-A177-3AD203B41FA5}">
                      <a16:colId xmlns:a16="http://schemas.microsoft.com/office/drawing/2014/main" val="3024777238"/>
                    </a:ext>
                  </a:extLst>
                </a:gridCol>
              </a:tblGrid>
              <a:tr h="69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093181"/>
                  </a:ext>
                </a:extLst>
              </a:tr>
              <a:tr h="601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Step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AI creates initial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157317"/>
                  </a:ext>
                </a:extLst>
              </a:tr>
              <a:tr h="479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Step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User gives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14215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Step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AI revises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7740989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Step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Cycle repeats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171968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Optimized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635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0419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8F05-C900-7AC5-5C9D-03A8AB6C4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Improving an AI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D21AF-AE2F-D4AA-1B07-702ED9731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a Prompt Engineering expert.</a:t>
            </a:r>
          </a:p>
          <a:p>
            <a:r>
              <a:rPr lang="en-US" dirty="0"/>
              <a:t>Your task is to write an AI prompt for summarizing text.</a:t>
            </a:r>
          </a:p>
          <a:p>
            <a:r>
              <a:rPr lang="en-US" dirty="0"/>
              <a:t>Process:</a:t>
            </a:r>
          </a:p>
          <a:p>
            <a:r>
              <a:rPr lang="en-US" dirty="0"/>
              <a:t>1. Generate the first draft of the prompt.</a:t>
            </a:r>
          </a:p>
          <a:p>
            <a:r>
              <a:rPr lang="en-US" dirty="0"/>
              <a:t>2. Wait for my feedback.</a:t>
            </a:r>
          </a:p>
          <a:p>
            <a:r>
              <a:rPr lang="en-US" dirty="0"/>
              <a:t>3. Modify the prompt according to feedback.</a:t>
            </a:r>
          </a:p>
          <a:p>
            <a:r>
              <a:rPr lang="en-US" dirty="0"/>
              <a:t>4. Repeat until I say "final".</a:t>
            </a:r>
          </a:p>
          <a:p>
            <a:r>
              <a:rPr lang="en-US" dirty="0"/>
              <a:t>Generate the first draft now.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636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0321-9AF4-D87A-C456-A5AD61724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/ Conversational Prompt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7D5B7-6DA4-3B84-1815-3AD79FE56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Exploratory / Conversational Prompt</a:t>
            </a:r>
            <a:r>
              <a:rPr lang="en-US" dirty="0"/>
              <a:t> is a prompting technique where the AI </a:t>
            </a:r>
            <a:r>
              <a:rPr lang="en-US" b="1" dirty="0"/>
              <a:t>engages in an open-ended, natural conversation</a:t>
            </a:r>
            <a:r>
              <a:rPr lang="en-US" dirty="0"/>
              <a:t> to explore ideas, clarify understanding, and discover user needs </a:t>
            </a:r>
            <a:r>
              <a:rPr lang="en-US" b="1" dirty="0"/>
              <a:t>without a fixed or predefined final output</a:t>
            </a:r>
            <a:r>
              <a:rPr lang="en-US" dirty="0"/>
              <a:t>.</a:t>
            </a:r>
          </a:p>
          <a:p>
            <a:r>
              <a:rPr lang="en-US" dirty="0"/>
              <a:t>The goal is </a:t>
            </a:r>
            <a:r>
              <a:rPr lang="en-US" b="1" dirty="0"/>
              <a:t>exploration, discussion, and discovery</a:t>
            </a:r>
            <a:r>
              <a:rPr lang="en-US" dirty="0"/>
              <a:t>, not a single “correct” answer.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579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834E2-3444-963E-3442-FF105E7B2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General Prompt Template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6252B-3C43-6039-E949-C645585C7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are a conversational AI.</a:t>
            </a:r>
          </a:p>
          <a:p>
            <a:r>
              <a:rPr lang="en-US" dirty="0"/>
              <a:t>Let’s explore [topic] together.</a:t>
            </a:r>
          </a:p>
          <a:p>
            <a:r>
              <a:rPr lang="en-US" dirty="0"/>
              <a:t>Guidelines:</a:t>
            </a:r>
          </a:p>
          <a:p>
            <a:r>
              <a:rPr lang="en-US" dirty="0"/>
              <a:t>- Ask open-ended questions</a:t>
            </a:r>
          </a:p>
          <a:p>
            <a:r>
              <a:rPr lang="en-US" dirty="0"/>
              <a:t>- Respond naturally and conversationally</a:t>
            </a:r>
          </a:p>
          <a:p>
            <a:r>
              <a:rPr lang="en-US" dirty="0"/>
              <a:t>- Adapt based on my answers</a:t>
            </a:r>
          </a:p>
          <a:p>
            <a:r>
              <a:rPr lang="en-US" dirty="0"/>
              <a:t>- Do not rush to conclusions</a:t>
            </a:r>
          </a:p>
          <a:p>
            <a:r>
              <a:rPr lang="en-US" dirty="0"/>
              <a:t>- Keep the discussion flexible</a:t>
            </a:r>
          </a:p>
          <a:p>
            <a:endParaRPr lang="en-US" dirty="0"/>
          </a:p>
          <a:p>
            <a:r>
              <a:rPr lang="en-US" dirty="0"/>
              <a:t>Start the conversation.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17EA03-5630-71E0-FC21-D231A9B8F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01906"/>
              </p:ext>
            </p:extLst>
          </p:nvPr>
        </p:nvGraphicFramePr>
        <p:xfrm>
          <a:off x="6980752" y="1690688"/>
          <a:ext cx="4373048" cy="2985717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905193">
                  <a:extLst>
                    <a:ext uri="{9D8B030D-6E8A-4147-A177-3AD203B41FA5}">
                      <a16:colId xmlns:a16="http://schemas.microsoft.com/office/drawing/2014/main" val="247031052"/>
                    </a:ext>
                  </a:extLst>
                </a:gridCol>
                <a:gridCol w="3467855">
                  <a:extLst>
                    <a:ext uri="{9D8B030D-6E8A-4147-A177-3AD203B41FA5}">
                      <a16:colId xmlns:a16="http://schemas.microsoft.com/office/drawing/2014/main" val="585363991"/>
                    </a:ext>
                  </a:extLst>
                </a:gridCol>
              </a:tblGrid>
              <a:tr h="548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Behavior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8741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Broad 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184036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Middle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Follow-ups &amp; idea exploration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374868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Deeper insights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778001"/>
                  </a:ext>
                </a:extLst>
              </a:tr>
              <a:tr h="943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User decides to stop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177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0061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F3E0-362F-1663-2271-282B6300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94863-AE06-8AF8-751D-2296363AC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a career guidance assistant.</a:t>
            </a:r>
          </a:p>
          <a:p>
            <a:r>
              <a:rPr lang="en-US" dirty="0"/>
              <a:t>Let’s explore my career interests and strengths.</a:t>
            </a:r>
          </a:p>
          <a:p>
            <a:r>
              <a:rPr lang="en-US" dirty="0"/>
              <a:t>Guidelines:</a:t>
            </a:r>
          </a:p>
          <a:p>
            <a:r>
              <a:rPr lang="en-US" dirty="0"/>
              <a:t>- Ask open-ended questions</a:t>
            </a:r>
          </a:p>
          <a:p>
            <a:r>
              <a:rPr lang="en-US" dirty="0"/>
              <a:t>- Help me reflect on my choices</a:t>
            </a:r>
          </a:p>
          <a:p>
            <a:r>
              <a:rPr lang="en-US" dirty="0"/>
              <a:t>- Adapt the discussion based on my answers</a:t>
            </a:r>
          </a:p>
          <a:p>
            <a:r>
              <a:rPr lang="en-US" dirty="0"/>
              <a:t>- No fixed final recommendation</a:t>
            </a:r>
          </a:p>
          <a:p>
            <a:r>
              <a:rPr lang="en-US" dirty="0"/>
              <a:t>Start by asking about my interests.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8881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E1E24-C29D-9EE3-3505-2F0B2DDC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Interaction-Based – Multi-Prompt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1725D-1B21-5511-7D36-1DCD12953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Interaction-Based – Multi-Prompt</a:t>
            </a:r>
            <a:r>
              <a:rPr lang="en-US" dirty="0"/>
              <a:t> is a </a:t>
            </a:r>
            <a:r>
              <a:rPr lang="en-US" b="1" dirty="0"/>
              <a:t>prompt engineering style</a:t>
            </a:r>
            <a:r>
              <a:rPr lang="en-US" dirty="0"/>
              <a:t> where you don’t give everything in one prompt.</a:t>
            </a:r>
            <a:br>
              <a:rPr lang="en-US" dirty="0"/>
            </a:br>
            <a:r>
              <a:rPr lang="en-US" dirty="0"/>
              <a:t>Instead, you </a:t>
            </a:r>
            <a:r>
              <a:rPr lang="en-US" b="1" dirty="0"/>
              <a:t>guide the model step-by-step through a conversation</a:t>
            </a:r>
            <a:r>
              <a:rPr lang="en-US" dirty="0"/>
              <a:t>, refining the output at each turn.</a:t>
            </a:r>
          </a:p>
          <a:p>
            <a:r>
              <a:rPr lang="en-US" dirty="0"/>
              <a:t>Think of it like </a:t>
            </a:r>
            <a:r>
              <a:rPr lang="en-US" i="1" dirty="0"/>
              <a:t>teaching or interviewing the AI</a:t>
            </a:r>
            <a:r>
              <a:rPr lang="en-US" dirty="0"/>
              <a:t>, not commanding it once.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575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9DAB-C2F3-C483-7336-B9E08AB8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Interaction-Based Multi-Prompt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8733-E721-170D-CD09-D40CDC902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It’s an approach where:</a:t>
            </a:r>
          </a:p>
          <a:p>
            <a:r>
              <a:rPr lang="en-US" dirty="0"/>
              <a:t>The task is </a:t>
            </a:r>
            <a:r>
              <a:rPr lang="en-US" b="1" dirty="0"/>
              <a:t>broken into multiple prompts</a:t>
            </a:r>
            <a:endParaRPr lang="en-US" dirty="0"/>
          </a:p>
          <a:p>
            <a:r>
              <a:rPr lang="en-US" dirty="0"/>
              <a:t>Each prompt </a:t>
            </a:r>
            <a:r>
              <a:rPr lang="en-US" b="1" dirty="0"/>
              <a:t>depends on the previous response</a:t>
            </a:r>
            <a:endParaRPr lang="en-US" dirty="0"/>
          </a:p>
          <a:p>
            <a:r>
              <a:rPr lang="en-US" dirty="0"/>
              <a:t>The user </a:t>
            </a:r>
            <a:r>
              <a:rPr lang="en-US" b="1" dirty="0"/>
              <a:t>steers, corrects, or deepens</a:t>
            </a:r>
            <a:r>
              <a:rPr lang="en-US" dirty="0"/>
              <a:t> the output interactively</a:t>
            </a:r>
          </a:p>
          <a:p>
            <a:pPr marL="0" indent="0">
              <a:buNone/>
            </a:pPr>
            <a:r>
              <a:rPr lang="en-US" dirty="0"/>
              <a:t>Multi-prompt helps with:</a:t>
            </a:r>
          </a:p>
          <a:p>
            <a:r>
              <a:rPr lang="en-US" dirty="0"/>
              <a:t>Better accuracy</a:t>
            </a:r>
          </a:p>
          <a:p>
            <a:r>
              <a:rPr lang="en-US" dirty="0"/>
              <a:t>Controlled thinking</a:t>
            </a:r>
          </a:p>
          <a:p>
            <a:r>
              <a:rPr lang="en-US" dirty="0"/>
              <a:t>Progressive refinement</a:t>
            </a:r>
          </a:p>
          <a:p>
            <a:r>
              <a:rPr lang="en-US" dirty="0"/>
              <a:t>Debugging &amp;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888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89121-8239-CE10-B218-7CF40185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Interaction-Based Multi-Prompting - Progressive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5EC34-975F-B234-E32D-6665C5BC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Progressive Refinement : </a:t>
            </a:r>
            <a:r>
              <a:rPr lang="en-US" dirty="0"/>
              <a:t>Output is gradually improved step by step.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r>
              <a:rPr lang="en-US" dirty="0"/>
              <a:t>Prompt 1: Explain machine learning</a:t>
            </a:r>
          </a:p>
          <a:p>
            <a:r>
              <a:rPr lang="en-US" dirty="0"/>
              <a:t>Prompt 2: Make it simpler</a:t>
            </a:r>
          </a:p>
          <a:p>
            <a:r>
              <a:rPr lang="en-US" dirty="0"/>
              <a:t>Prompt 3: Add an example</a:t>
            </a:r>
          </a:p>
          <a:p>
            <a:r>
              <a:rPr lang="en-US" dirty="0"/>
              <a:t>Prompt 4: Make it exam-ready</a:t>
            </a:r>
          </a:p>
        </p:txBody>
      </p:sp>
    </p:spTree>
    <p:extLst>
      <p:ext uri="{BB962C8B-B14F-4D97-AF65-F5344CB8AC3E}">
        <p14:creationId xmlns:p14="http://schemas.microsoft.com/office/powerpoint/2010/main" val="1249277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ACFD-B8DC-F51B-C5D2-CF4C31C03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60" y="42354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Clarification-Driven Interaction : </a:t>
            </a:r>
            <a:r>
              <a:rPr lang="en-IN" dirty="0"/>
              <a:t>User asks questions to remove confusion or ambiguity.</a:t>
            </a:r>
          </a:p>
          <a:p>
            <a:pPr marL="0" indent="0">
              <a:buNone/>
            </a:pPr>
            <a:r>
              <a:rPr lang="en-US" dirty="0"/>
              <a:t>Prompt 1: Explain abstraction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Prompt 2: What is abstract method?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Prompt 3: Why do we need it?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Prompt 4: Show real-world analogy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839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3224-C9FF-BF6B-4F89-03C8E2B63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C23B1-0B1B-00EB-17E1-B58A17F38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Constraint-Based Interaction : </a:t>
            </a:r>
            <a:r>
              <a:rPr lang="en-US" dirty="0"/>
              <a:t>Rules or limits are added in later prompts.</a:t>
            </a:r>
          </a:p>
          <a:p>
            <a:pPr marL="0" indent="0">
              <a:buNone/>
            </a:pPr>
            <a:r>
              <a:rPr lang="en-US" dirty="0"/>
              <a:t>Prompt 1: Write a Python program</a:t>
            </a:r>
          </a:p>
          <a:p>
            <a:pPr marL="0" indent="0">
              <a:buNone/>
            </a:pPr>
            <a:r>
              <a:rPr lang="en-US" dirty="0"/>
              <a:t>Prompt 2: Use only one function</a:t>
            </a:r>
          </a:p>
          <a:p>
            <a:pPr marL="0" indent="0">
              <a:buNone/>
            </a:pPr>
            <a:r>
              <a:rPr lang="en-US" dirty="0"/>
              <a:t>Prompt 3: No loops</a:t>
            </a:r>
          </a:p>
          <a:p>
            <a:pPr marL="0" indent="0">
              <a:buNone/>
            </a:pPr>
            <a:r>
              <a:rPr lang="en-US" dirty="0"/>
              <a:t>Prompt 4: Add comments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6631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AF055-4FCE-17E5-C0E2-5B9092BF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Correction &amp; Feedback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0D95-0522-4733-72B2-45649792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corrects mistakes or guides improvements.</a:t>
            </a:r>
          </a:p>
          <a:p>
            <a:r>
              <a:rPr lang="en-US" dirty="0"/>
              <a:t>Prompt 1: Generate SQL query</a:t>
            </a:r>
          </a:p>
          <a:p>
            <a:r>
              <a:rPr lang="en-US" dirty="0"/>
              <a:t>Prompt 2: That column name is wrong</a:t>
            </a:r>
          </a:p>
          <a:p>
            <a:r>
              <a:rPr lang="en-US" dirty="0"/>
              <a:t>Prompt 3: Optimize for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2952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5410-2F41-B45B-4BAE-65CA8331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6CA1-1C65-43EA-153C-75CB10C8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Exploratory Interaction : User explores ideas before finalizing.</a:t>
            </a:r>
          </a:p>
          <a:p>
            <a:pPr marL="0" indent="0">
              <a:buNone/>
            </a:pPr>
            <a:r>
              <a:rPr lang="en-US" dirty="0"/>
              <a:t>Prompt 1: Give marketing ideas</a:t>
            </a:r>
          </a:p>
          <a:p>
            <a:pPr marL="0" indent="0">
              <a:buNone/>
            </a:pPr>
            <a:r>
              <a:rPr lang="en-US" dirty="0"/>
              <a:t>Prompt 2: Focus on digital only</a:t>
            </a:r>
          </a:p>
          <a:p>
            <a:pPr marL="0" indent="0">
              <a:buNone/>
            </a:pPr>
            <a:r>
              <a:rPr lang="en-US" dirty="0"/>
              <a:t>Prompt 3: Target Indian audience</a:t>
            </a:r>
          </a:p>
          <a:p>
            <a:pPr marL="0" indent="0">
              <a:buNone/>
            </a:pPr>
            <a:r>
              <a:rPr lang="en-US" dirty="0"/>
              <a:t>Prompt 4: Pick best 3 ideas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715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B14C-3A36-3D1F-AC9C-D6A35146F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48A46-391E-F25D-FBA7-99CBA3584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Role-Switching Interaction : </a:t>
            </a:r>
            <a:r>
              <a:rPr lang="en-US" dirty="0"/>
              <a:t>The AI is asked to change roles during interaction.</a:t>
            </a:r>
          </a:p>
          <a:p>
            <a:r>
              <a:rPr lang="en-US" dirty="0"/>
              <a:t>Prompt 1: Act as a teacher</a:t>
            </a:r>
          </a:p>
          <a:p>
            <a:r>
              <a:rPr lang="en-US" dirty="0"/>
              <a:t>Prompt 2: Now act as an examiner</a:t>
            </a:r>
          </a:p>
          <a:p>
            <a:r>
              <a:rPr lang="en-US" dirty="0"/>
              <a:t>Prompt 3: Evaluate my answer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833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3479-89DD-E9E1-CB61-EC1AEAC9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Verification-Based Interaction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20C9-4182-6051-AAE8-A1D8857D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is validated step by step.</a:t>
            </a:r>
          </a:p>
          <a:p>
            <a:r>
              <a:rPr lang="en-US" dirty="0"/>
              <a:t>Prompt 1: Solve the problem</a:t>
            </a:r>
          </a:p>
          <a:p>
            <a:r>
              <a:rPr lang="en-US" dirty="0"/>
              <a:t>Prompt 2: Explain your logic</a:t>
            </a:r>
          </a:p>
          <a:p>
            <a:r>
              <a:rPr lang="en-US" dirty="0"/>
              <a:t>Prompt 3: Verify edge cases</a:t>
            </a:r>
          </a:p>
          <a:p>
            <a:r>
              <a:rPr lang="en-US" dirty="0"/>
              <a:t>Prompt 4: Provide final </a:t>
            </a:r>
            <a:r>
              <a:rPr lang="en-US" dirty="0" err="1"/>
              <a:t>answe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383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A1C2-0B29-B751-81C7-E475C0E3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Decomposition Interaction : </a:t>
            </a:r>
            <a:r>
              <a:rPr lang="en-US" dirty="0"/>
              <a:t>Big task is split into smaller subtasks.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A16ADB-02FE-F578-B4F3-D80F8174DB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1: Design a web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2: Create backend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3: Design database schema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4: Add frontend flow</a:t>
            </a:r>
          </a:p>
        </p:txBody>
      </p:sp>
    </p:spTree>
    <p:extLst>
      <p:ext uri="{BB962C8B-B14F-4D97-AF65-F5344CB8AC3E}">
        <p14:creationId xmlns:p14="http://schemas.microsoft.com/office/powerpoint/2010/main" val="29900846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DA0E-523A-958E-6336-3B07ACEB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3A87F6-E9C8-7392-80D6-38237C712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893061"/>
              </p:ext>
            </p:extLst>
          </p:nvPr>
        </p:nvGraphicFramePr>
        <p:xfrm>
          <a:off x="838200" y="457200"/>
          <a:ext cx="10515600" cy="519001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863327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00345653"/>
                    </a:ext>
                  </a:extLst>
                </a:gridCol>
              </a:tblGrid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 of Interaction Based Prompt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619563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Progressive Refinement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458820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Clarification-Driven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confusion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224452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Constraint-Based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744904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Feedback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441990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Exploratory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Brainstorm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045275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Role-Switching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Perspective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422447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Verification-Based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368919"/>
                  </a:ext>
                </a:extLst>
              </a:tr>
              <a:tr h="5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Decomposition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Handle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857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5048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22C2-B294-91E4-A59C-CDA82237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Structure of Reflection-Based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4722-BAD8-62F8-4CA6-16C4055D3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Reflection-Based Prompts</a:t>
            </a:r>
            <a:r>
              <a:rPr lang="en-US" dirty="0"/>
              <a:t> are prompts designed to make the AI (or the user) </a:t>
            </a:r>
            <a:r>
              <a:rPr lang="en-US" b="1" dirty="0"/>
              <a:t>think critically about its own output</a:t>
            </a:r>
            <a:r>
              <a:rPr lang="en-US" dirty="0"/>
              <a:t>, </a:t>
            </a:r>
            <a:r>
              <a:rPr lang="en-US" b="1" dirty="0"/>
              <a:t>analyze reasoning</a:t>
            </a:r>
            <a:r>
              <a:rPr lang="en-US" dirty="0"/>
              <a:t>, </a:t>
            </a:r>
            <a:r>
              <a:rPr lang="en-US" b="1" dirty="0"/>
              <a:t>evaluate results</a:t>
            </a:r>
            <a:r>
              <a:rPr lang="en-US" dirty="0"/>
              <a:t>, or </a:t>
            </a:r>
            <a:r>
              <a:rPr lang="en-US" b="1" dirty="0"/>
              <a:t>consider alternative perspectives</a:t>
            </a:r>
            <a:r>
              <a:rPr lang="en-US" dirty="0"/>
              <a:t> before giving a final answer.</a:t>
            </a:r>
          </a:p>
          <a:p>
            <a:r>
              <a:rPr lang="en-US" dirty="0"/>
              <a:t>It’s prompting the model to reflect on what it generated and improve or verify it.</a:t>
            </a:r>
          </a:p>
          <a:p>
            <a:r>
              <a:rPr lang="en-US" b="1" dirty="0"/>
              <a:t>Key Idea:</a:t>
            </a:r>
            <a:r>
              <a:rPr lang="en-US" dirty="0"/>
              <a:t> Self-evaluation + Iterative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90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504D-9887-9D7A-7230-3169BDD6A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Reflection-Based 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94D9-7328-7A19-938D-02F6406E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Reflection-based prompts usually have a </a:t>
            </a:r>
            <a:r>
              <a:rPr lang="en-US" b="1" dirty="0"/>
              <a:t>3-part structure</a:t>
            </a:r>
            <a:r>
              <a:rPr lang="en-US" dirty="0"/>
              <a:t>:</a:t>
            </a:r>
          </a:p>
          <a:p>
            <a:r>
              <a:rPr lang="en-US" b="1" dirty="0"/>
              <a:t>Initial Task Prompt</a:t>
            </a:r>
            <a:endParaRPr lang="en-US" dirty="0"/>
          </a:p>
          <a:p>
            <a:pPr lvl="1"/>
            <a:r>
              <a:rPr lang="en-US" dirty="0"/>
              <a:t>Give the AI a task or question.</a:t>
            </a:r>
          </a:p>
          <a:p>
            <a:pPr lvl="1"/>
            <a:r>
              <a:rPr lang="en-US" dirty="0"/>
              <a:t>Example: “Summarize this article.”</a:t>
            </a:r>
          </a:p>
          <a:p>
            <a:r>
              <a:rPr lang="en-US" b="1" dirty="0"/>
              <a:t>Reflection Prompt / Self-Check</a:t>
            </a:r>
            <a:endParaRPr lang="en-US" dirty="0"/>
          </a:p>
          <a:p>
            <a:pPr lvl="1"/>
            <a:r>
              <a:rPr lang="en-US" dirty="0"/>
              <a:t>Ask the AI to review its output.</a:t>
            </a:r>
          </a:p>
          <a:p>
            <a:pPr lvl="1"/>
            <a:r>
              <a:rPr lang="en-US" dirty="0"/>
              <a:t>Example: “Does this summary capture all main points? What’s missing?”</a:t>
            </a:r>
          </a:p>
          <a:p>
            <a:r>
              <a:rPr lang="en-US" b="1" dirty="0"/>
              <a:t>Refinement Prompt</a:t>
            </a:r>
            <a:endParaRPr lang="en-US" dirty="0"/>
          </a:p>
          <a:p>
            <a:pPr lvl="1"/>
            <a:r>
              <a:rPr lang="en-US" dirty="0"/>
              <a:t>Ask the AI to improve, correct, or optimize its output.</a:t>
            </a:r>
          </a:p>
          <a:p>
            <a:pPr lvl="1"/>
            <a:r>
              <a:rPr lang="en-US" dirty="0"/>
              <a:t>Example: “Rewrite the summary including the missing points in 50 words.”</a:t>
            </a:r>
          </a:p>
          <a:p>
            <a:r>
              <a:rPr lang="en-US" b="1" dirty="0"/>
              <a:t>Optional:</a:t>
            </a:r>
            <a:r>
              <a:rPr lang="en-US" dirty="0"/>
              <a:t> Repeat reflection → refinement cycle until satisfied.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9991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E544-68E4-43D0-8818-494856B3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Need / Importance of Reflection-Based Prompts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1E03C-32C8-F4F2-9F6D-0892A2E72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Reduces Errors</a:t>
            </a:r>
            <a:endParaRPr lang="en-US" dirty="0"/>
          </a:p>
          <a:p>
            <a:pPr lvl="1"/>
            <a:r>
              <a:rPr lang="en-US" dirty="0"/>
              <a:t>AI checks for missing info, logic mistakes, or inconsistencies.</a:t>
            </a:r>
          </a:p>
          <a:p>
            <a:r>
              <a:rPr lang="en-US" b="1" dirty="0"/>
              <a:t>Improves Accuracy</a:t>
            </a:r>
            <a:endParaRPr lang="en-US" dirty="0"/>
          </a:p>
          <a:p>
            <a:pPr lvl="1"/>
            <a:r>
              <a:rPr lang="en-US" dirty="0"/>
              <a:t>Encourages detailed, precise, and high-quality responses.</a:t>
            </a:r>
          </a:p>
          <a:p>
            <a:r>
              <a:rPr lang="en-US" b="1" dirty="0"/>
              <a:t>Supports Critical Thinking</a:t>
            </a:r>
            <a:endParaRPr lang="en-US" dirty="0"/>
          </a:p>
          <a:p>
            <a:pPr lvl="1"/>
            <a:r>
              <a:rPr lang="en-US" dirty="0"/>
              <a:t>Helps AI explain reasoning, justify decisions, or compare alternatives.</a:t>
            </a:r>
          </a:p>
          <a:p>
            <a:r>
              <a:rPr lang="en-US" b="1" dirty="0"/>
              <a:t>Handles Complex Tasks</a:t>
            </a:r>
            <a:endParaRPr lang="en-US" dirty="0"/>
          </a:p>
          <a:p>
            <a:pPr lvl="1"/>
            <a:r>
              <a:rPr lang="en-US" dirty="0"/>
              <a:t>Useful for research, coding, business strategy, or content creation.</a:t>
            </a:r>
          </a:p>
          <a:p>
            <a:r>
              <a:rPr lang="en-US" b="1" dirty="0"/>
              <a:t>Learning &amp; Debugging</a:t>
            </a:r>
            <a:endParaRPr lang="en-US" dirty="0"/>
          </a:p>
          <a:p>
            <a:pPr lvl="1"/>
            <a:r>
              <a:rPr lang="en-US" dirty="0"/>
              <a:t>Students, developers, and content creators can use it as a </a:t>
            </a:r>
            <a:r>
              <a:rPr lang="en-US" b="1" dirty="0"/>
              <a:t>self-correcting workflow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2905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5C60F-A53C-4D19-CCFE-783CB83DA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03200"/>
            <a:ext cx="10515600" cy="651256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Self-Evaluation Prompts</a:t>
            </a:r>
            <a:endParaRPr lang="en-US" dirty="0"/>
          </a:p>
          <a:p>
            <a:pPr lvl="1"/>
            <a:r>
              <a:rPr lang="en-US" dirty="0"/>
              <a:t>AI reviews its own output for correctness, completeness, or clarity.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“Check your answer for any missing points or logical errors.”</a:t>
            </a:r>
          </a:p>
          <a:p>
            <a:r>
              <a:rPr lang="en-US" b="1" dirty="0"/>
              <a:t>Critical Questioning Prompts</a:t>
            </a:r>
            <a:endParaRPr lang="en-US" dirty="0"/>
          </a:p>
          <a:p>
            <a:pPr lvl="1"/>
            <a:r>
              <a:rPr lang="en-US" dirty="0"/>
              <a:t>AI asks itself probing questions to justify reasoning or decisions.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“Why did you choose this solution? Could there be a better approach?”</a:t>
            </a:r>
          </a:p>
          <a:p>
            <a:r>
              <a:rPr lang="en-US" b="1" dirty="0"/>
              <a:t>Alternative Perspective Prompts</a:t>
            </a:r>
            <a:endParaRPr lang="en-US" dirty="0"/>
          </a:p>
          <a:p>
            <a:pPr lvl="1"/>
            <a:r>
              <a:rPr lang="en-US" dirty="0"/>
              <a:t>AI explores other ways to solve a problem or present information.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“How else could this topic be explained to a beginner?”</a:t>
            </a:r>
          </a:p>
          <a:p>
            <a:r>
              <a:rPr lang="en-US" b="1" dirty="0"/>
              <a:t>Error Identification Prompts</a:t>
            </a:r>
            <a:endParaRPr lang="en-US" dirty="0"/>
          </a:p>
          <a:p>
            <a:pPr lvl="1"/>
            <a:r>
              <a:rPr lang="en-US" dirty="0"/>
              <a:t>AI actively searches for mistakes, inconsistencies, or gaps.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“Identify any errors or inconsistencies in this explanation.”</a:t>
            </a:r>
          </a:p>
          <a:p>
            <a:r>
              <a:rPr lang="en-US" b="1" dirty="0"/>
              <a:t>Optimization / Improvement Prompts</a:t>
            </a:r>
            <a:endParaRPr lang="en-US" dirty="0"/>
          </a:p>
          <a:p>
            <a:pPr lvl="1"/>
            <a:r>
              <a:rPr lang="en-US" dirty="0"/>
              <a:t>AI refines its output for clarity, conciseness, or quality.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“Rewrite the paragraph to make it simpler and more engaging.”</a:t>
            </a:r>
          </a:p>
          <a:p>
            <a:r>
              <a:rPr lang="en-US" b="1" dirty="0"/>
              <a:t>Comparison-Based Prompts</a:t>
            </a:r>
            <a:endParaRPr lang="en-US" dirty="0"/>
          </a:p>
          <a:p>
            <a:pPr lvl="1"/>
            <a:r>
              <a:rPr lang="en-US" dirty="0"/>
              <a:t>AI compares multiple outputs or solutions to find the best one.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“Compare your answer with the standard solution and highlight differences.”</a:t>
            </a:r>
          </a:p>
          <a:p>
            <a:r>
              <a:rPr lang="en-US" b="1" dirty="0"/>
              <a:t>Reasoning Trace Prompts</a:t>
            </a:r>
            <a:endParaRPr lang="en-US" dirty="0"/>
          </a:p>
          <a:p>
            <a:pPr lvl="1"/>
            <a:r>
              <a:rPr lang="en-US" dirty="0"/>
              <a:t>AI explains the steps or logic it used to reach a conclusion.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“Explain step by step how you solved this problem.”</a:t>
            </a:r>
          </a:p>
          <a:p>
            <a:r>
              <a:rPr lang="en-US" b="1" dirty="0"/>
              <a:t>Fact-Checking / Verification Prompts</a:t>
            </a:r>
            <a:endParaRPr lang="en-US" dirty="0"/>
          </a:p>
          <a:p>
            <a:pPr lvl="1"/>
            <a:r>
              <a:rPr lang="en-US" dirty="0"/>
              <a:t>AI validates whether the information is correct, relevant, and reliable.</a:t>
            </a:r>
          </a:p>
          <a:p>
            <a:pPr lvl="1"/>
            <a:r>
              <a:rPr lang="en-US" i="1" dirty="0"/>
              <a:t>Example:</a:t>
            </a:r>
            <a:r>
              <a:rPr lang="en-US" dirty="0"/>
              <a:t> “Verify the facts mentioned in this paragraph.”</a:t>
            </a:r>
          </a:p>
        </p:txBody>
      </p:sp>
    </p:spTree>
    <p:extLst>
      <p:ext uri="{BB962C8B-B14F-4D97-AF65-F5344CB8AC3E}">
        <p14:creationId xmlns:p14="http://schemas.microsoft.com/office/powerpoint/2010/main" val="24740572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8231-D684-D0DB-6764-A10E439E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080" y="-16319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6"/>
                </a:solidFill>
              </a:rPr>
              <a:t>Context Based  Prompt Engineering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FDE38C-5CFF-8076-AB32-0A8122DA2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101" y="941704"/>
            <a:ext cx="8490819" cy="591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329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7A5B-6E6E-5C69-D0CF-3FF90763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Add-on Topics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7907-2247-2DE0-743D-79186B47D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Prompt libraries</a:t>
            </a:r>
          </a:p>
          <a:p>
            <a:r>
              <a:rPr lang="en-IN" dirty="0"/>
              <a:t>Version-controlled prompts</a:t>
            </a:r>
          </a:p>
          <a:p>
            <a:r>
              <a:rPr lang="en-IN" dirty="0"/>
              <a:t>Context templates</a:t>
            </a:r>
          </a:p>
          <a:p>
            <a:r>
              <a:rPr lang="de-DE" dirty="0"/>
              <a:t>Customer vs Manager</a:t>
            </a:r>
          </a:p>
          <a:p>
            <a:r>
              <a:rPr lang="de-DE" dirty="0"/>
              <a:t>Beginner vs Expert</a:t>
            </a:r>
          </a:p>
          <a:p>
            <a:r>
              <a:rPr lang="de-DE" dirty="0"/>
              <a:t>Student vs Professional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0572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396-4926-FA31-12AE-BD9FD300C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Context Engineering </a:t>
            </a:r>
            <a:endParaRPr lang="en-IN" b="1" dirty="0">
              <a:solidFill>
                <a:schemeClr val="accent6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51856C-3AAA-FC0A-2468-9D1A8224D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2493"/>
            <a:ext cx="4163006" cy="4096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5B3BC8-907A-3A3D-178F-DA80F3ED2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496" y="1815758"/>
            <a:ext cx="6358663" cy="428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5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3359</Words>
  <Application>Microsoft Office PowerPoint</Application>
  <PresentationFormat>Widescreen</PresentationFormat>
  <Paragraphs>496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Arial</vt:lpstr>
      <vt:lpstr>Calibri</vt:lpstr>
      <vt:lpstr>Calibri Light</vt:lpstr>
      <vt:lpstr>Times New Roman</vt:lpstr>
      <vt:lpstr>Office Theme</vt:lpstr>
      <vt:lpstr>Module 3</vt:lpstr>
      <vt:lpstr>Context Based  Prompt Engineering </vt:lpstr>
      <vt:lpstr>General Structure of a Context-Based Prompt</vt:lpstr>
      <vt:lpstr>Types of Context-Based Prompts </vt:lpstr>
      <vt:lpstr>Domain / Subject Context</vt:lpstr>
      <vt:lpstr>Educational / Level Context </vt:lpstr>
      <vt:lpstr>Situational Context</vt:lpstr>
      <vt:lpstr>Data Context</vt:lpstr>
      <vt:lpstr>Output / Formatting Context</vt:lpstr>
      <vt:lpstr>Compliance / Safety Context</vt:lpstr>
      <vt:lpstr>Industry Requires Context-Based Prompts</vt:lpstr>
      <vt:lpstr>PowerPoint Presentation</vt:lpstr>
      <vt:lpstr>Delimiter Based Prompt </vt:lpstr>
      <vt:lpstr>Common Delimiters Used</vt:lpstr>
      <vt:lpstr>General Structure of a Delimiter-Based Prompt</vt:lpstr>
      <vt:lpstr>Types of Delimiter-Based Prompts</vt:lpstr>
      <vt:lpstr>XML / Tag-Based Delimiters</vt:lpstr>
      <vt:lpstr>JSON-Based Delimiters</vt:lpstr>
      <vt:lpstr>Multi-Section Delimiter Prompts</vt:lpstr>
      <vt:lpstr>Industry Uses Delimiter-Based Prompts</vt:lpstr>
      <vt:lpstr>Structured Prompt </vt:lpstr>
      <vt:lpstr>General Structure of a Structured Prompt</vt:lpstr>
      <vt:lpstr>Types of Structured Prompts</vt:lpstr>
      <vt:lpstr>Contextual Structured Prompts</vt:lpstr>
      <vt:lpstr>Multi-Section Structured Prompts</vt:lpstr>
      <vt:lpstr>Template-Based Structured Prompts</vt:lpstr>
      <vt:lpstr>Interaction Based Prompt </vt:lpstr>
      <vt:lpstr>Structure of Interaction-Based Prompt</vt:lpstr>
      <vt:lpstr>Types of Interaction-Based Prompts</vt:lpstr>
      <vt:lpstr>Follow-Up Prompt</vt:lpstr>
      <vt:lpstr>Simple Example – Follow-Up Prompt</vt:lpstr>
      <vt:lpstr>Clarification Prompt</vt:lpstr>
      <vt:lpstr>Refinement / Improvement Prompt</vt:lpstr>
      <vt:lpstr>Correction Prompt</vt:lpstr>
      <vt:lpstr>Step-by-Step Interaction Prompt </vt:lpstr>
      <vt:lpstr>Role-Switching Interaction Prompt</vt:lpstr>
      <vt:lpstr>Syntax </vt:lpstr>
      <vt:lpstr>Example </vt:lpstr>
      <vt:lpstr>Feedback-Driven Prompt</vt:lpstr>
      <vt:lpstr>General Prompt Template</vt:lpstr>
      <vt:lpstr>Improving an AI Prompt</vt:lpstr>
      <vt:lpstr>Exploratory / Conversational Prompt</vt:lpstr>
      <vt:lpstr> General Prompt Template</vt:lpstr>
      <vt:lpstr>Career Exploration</vt:lpstr>
      <vt:lpstr>Interaction-Based – Multi-Prompt</vt:lpstr>
      <vt:lpstr>What is Interaction-Based Multi-Prompt</vt:lpstr>
      <vt:lpstr>Types of Interaction-Based Multi-Prompting - Progressive Refinement</vt:lpstr>
      <vt:lpstr>PowerPoint Presentation</vt:lpstr>
      <vt:lpstr>PowerPoint Presentation</vt:lpstr>
      <vt:lpstr>Correction &amp; Feedback Loop</vt:lpstr>
      <vt:lpstr>PowerPoint Presentation</vt:lpstr>
      <vt:lpstr>PowerPoint Presentation</vt:lpstr>
      <vt:lpstr>Verification-Based Interaction</vt:lpstr>
      <vt:lpstr>Decomposition Interaction : Big task is split into smaller subtasks.</vt:lpstr>
      <vt:lpstr>PowerPoint Presentation</vt:lpstr>
      <vt:lpstr>Structure of Reflection-Based Prompts</vt:lpstr>
      <vt:lpstr>Structure of Reflection-Based Prompts</vt:lpstr>
      <vt:lpstr>Need / Importance of Reflection-Based Prompts</vt:lpstr>
      <vt:lpstr>PowerPoint Presentation</vt:lpstr>
      <vt:lpstr>Context Based  Prompt Engineering </vt:lpstr>
      <vt:lpstr>Add-on Topics </vt:lpstr>
      <vt:lpstr>Context Engineering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41</cp:revision>
  <dcterms:created xsi:type="dcterms:W3CDTF">2026-01-28T05:28:33Z</dcterms:created>
  <dcterms:modified xsi:type="dcterms:W3CDTF">2026-02-02T05:14:34Z</dcterms:modified>
</cp:coreProperties>
</file>