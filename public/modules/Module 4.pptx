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72" r:id="rId13"/>
    <p:sldId id="274" r:id="rId14"/>
    <p:sldId id="267" r:id="rId15"/>
    <p:sldId id="268" r:id="rId16"/>
    <p:sldId id="271" r:id="rId17"/>
    <p:sldId id="269" r:id="rId18"/>
    <p:sldId id="270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9" r:id="rId28"/>
    <p:sldId id="283" r:id="rId29"/>
    <p:sldId id="284" r:id="rId30"/>
    <p:sldId id="285" r:id="rId31"/>
    <p:sldId id="286" r:id="rId32"/>
    <p:sldId id="288" r:id="rId33"/>
    <p:sldId id="287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EB152-8AC0-4B3A-B5A5-34DD8ACDC2D5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CE038-73AE-4C71-AF22-B935AD8AA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05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CE038-73AE-4C71-AF22-B935AD8AA81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8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3CE038-73AE-4C71-AF22-B935AD8AA81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84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410A-5AAB-36E6-9EF6-1A8964130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75BD5-7A57-721F-C0E9-9B1DFAB9A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BB533-A459-04B8-6474-B74E69184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0375A-BADD-3804-C07B-0A52F221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C4CA0-A5FB-941A-4A0E-03EAED31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89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5593-1B14-8664-BA3A-CE882357E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4F54-3BFD-86B4-9A40-A88D4FDC6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C539C-4AAA-4948-431E-F4D24982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E5AC9-9A06-4F75-DA72-64DD450E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3A63-D415-A931-2AA5-B7826BC8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6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1A3F-2889-6543-26B9-457C08F4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3C42C-96E6-7B8B-5461-08FF26F5B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CC1AD-A7B4-8D3D-2782-19ACCE06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9CCDC-C998-077A-B47E-A2971654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D8221-8ED4-728A-F2B8-325120AC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65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4F24-522F-BA00-EC9E-D22857C0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A71B-CBF4-B451-BE13-B4323418B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5B960-3C7F-E182-DBAD-3216A582E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EFEC4-92E1-A6CB-1980-A39455E1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9565D-1588-396E-E56D-AAE99EED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41AF6-1051-11C9-3879-DE3EADA7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42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0330-8BBA-80AB-3371-D104A22F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63A7F-3328-CD99-CDE6-1343A73A3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AE001-F76B-2BDB-3C56-B43656CB9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CE254-042E-148D-B629-1DCE7B609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30B4D-3717-AEAA-4A37-84149315B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CD24D-A8D1-4A43-BA77-B3A26CD3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BDA49-ED6A-4CAE-3C4B-6E33E1A8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A12F1-08C7-91C4-0F32-C62D8132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93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DE24-8833-4089-3BE3-E921EBA8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D21C3-7CE5-286E-FA18-D68C0D6B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5570C-727B-926C-4047-C14238FB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BB7AF-635B-9664-3407-8CE7568F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22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71BB4-C2B5-FD7E-F97B-40E604D73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A8F35-49FC-07D9-A320-34B60922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4FB8E-6E45-B2D8-1031-26E4C700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06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C063-083B-9085-15FC-A22299AE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028A3-3CDF-C20C-32FD-9503E06DE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D2013-828E-2A02-9131-4BAED76C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D07A4-D6CB-F033-97F8-F27DB00B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2EE2E-2B0B-7037-3D8C-8F5CF46C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DD2CE-21D7-B62D-E844-818CA988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7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8C02-CD54-10EF-7977-3DED5C371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CFA37-1875-ADC7-7B6E-FECBE7B40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27E26-8CE0-7E5C-9CFD-0A8FE5739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C9E61-DF2C-9D6E-4EEE-8738DA5F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E1351-C96E-6254-F361-D92891CA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7F0DE-B717-419F-98CC-46D729EC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85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775F-7A2A-5DA2-12F9-BB336EF5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3F441-C3F9-5FBF-798B-7B1C8477A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CBB2A-3D7D-7688-7A86-538C7AD7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E8EAB-2F8F-7496-20BD-C3C8C469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00E2F-1065-6E6C-5108-697F70CD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34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4DEE2-FD5A-4435-203A-A4F069463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38EBB-4C4E-41E8-D94B-4CF3B5FB8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22FF5-F121-978C-651E-D8E3B1D8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9231C-D5DA-D6E8-EC87-479AFF62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26BF6-7920-CC77-7AE1-1BA62641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65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C07384-63BA-BD85-CC41-32BAA365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BC36-7261-6FE5-39DE-DADCFB4E1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11A48-ECF0-39D5-BDFC-787DA119A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AB09C-0644-4649-8979-92E70B841238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23E79-127D-563E-E56A-3B45396BC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8095-A2A4-F42B-4B31-012550B9D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B805E-B752-4F76-9B02-347E1534B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1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B6D9-40F5-6924-4428-2A90D191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12960" cy="2387600"/>
          </a:xfrm>
        </p:spPr>
        <p:txBody>
          <a:bodyPr>
            <a:normAutofit/>
          </a:bodyPr>
          <a:lstStyle/>
          <a:p>
            <a:pPr algn="l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 IV: </a:t>
            </a:r>
            <a:b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Prompt Techniques:</a:t>
            </a:r>
            <a:b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conversations.</a:t>
            </a:r>
            <a:b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chaining and pipelines.</a:t>
            </a:r>
            <a:b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prompt templates.</a:t>
            </a:r>
            <a:b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95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DECD-0074-9A2B-0105-12AD512E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Prompt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8F69-B04C-2B31-D98C-D46521388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Advanced Prompt Techniques</a:t>
            </a:r>
            <a:r>
              <a:rPr lang="en-US" dirty="0"/>
              <a:t> are methods used to </a:t>
            </a:r>
            <a:r>
              <a:rPr lang="en-US" b="1" dirty="0"/>
              <a:t>design prompts that maximize the quality, accuracy, and usefulness of AI outputs</a:t>
            </a:r>
            <a:r>
              <a:rPr lang="en-US" dirty="0"/>
              <a:t>.</a:t>
            </a:r>
          </a:p>
          <a:p>
            <a:r>
              <a:rPr lang="en-US" dirty="0"/>
              <a:t>Unlike basic prompts (simple questions or commands), advanced techniques </a:t>
            </a:r>
            <a:r>
              <a:rPr lang="en-US" b="1" dirty="0"/>
              <a:t>control context, reasoning, style, constraints, and multi-step processing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81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4EB4-AAC2-F862-4EB7-737A2B1E7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 of Advanced Prompts 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CA87A8-9C52-D4B8-AF30-D784AC548E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5021"/>
            <a:ext cx="997203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Complex Tasks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Multi-step reasoning, coding, content generation, research.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Reduce errors, hallucinations, or vague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Output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Specify tone, style, format, or length.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Creativity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Brainstorming, role-playing, or idea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Allows step-by-step improvement of answers.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Applications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Legal, medical, coding, or business prompts.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26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0ABB-B58B-FE19-C81F-EA99432D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conversations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A204-B192-AB1D-D292-44AF6396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Multi-Turn Conversation Prompt Engineering is the process of designing and structuring prompts for AI to handle iterative, context-aware dialogues. </a:t>
            </a:r>
          </a:p>
          <a:p>
            <a:r>
              <a:rPr lang="en-US" b="1" dirty="0"/>
              <a:t>Multi-Turn Conversations</a:t>
            </a:r>
            <a:r>
              <a:rPr lang="en-US" dirty="0"/>
              <a:t> are interactions where the AI and user </a:t>
            </a:r>
            <a:r>
              <a:rPr lang="en-US" b="1" dirty="0"/>
              <a:t>engage in a back-and-forth dialogue</a:t>
            </a:r>
            <a:r>
              <a:rPr lang="en-US" dirty="0"/>
              <a:t>, with each response </a:t>
            </a:r>
            <a:r>
              <a:rPr lang="en-US" b="1" dirty="0"/>
              <a:t>building on previous turns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85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37C9-C84E-30E4-993B-A8EBB808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137414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Multi-Turn Conversations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EBCBCC-95FD-EB3B-4728-3CC6A3151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625729"/>
            <a:ext cx="105156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Context Across Turns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the AI remembers previous messages or instructions to provide coherent and relevant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coding discussion, AI remembers the function or variable names from earlier turns.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 of Output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Gradually improve responses by following up on previous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Summarize an article → review for missing points → rewrite concisely.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Clarification and Disambiguation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Resolve misunderstandings or ambiguous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“Explain abstraction in Python.” → “Clarify the difference between abstract class and interface.”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and Correction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mistakes in previous responses and provide corrected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checks a generated SQL query for syntax errors or logical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&amp; Perspective Control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AI’s role, tone, or persona during the conversation for task-specific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“Act as a teacher → Now act as an examiner → Evaluate my answer.”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Complex Task Handling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 down large tasks into smaller steps handled over multiple turns.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Designing a web app step by step: database → backend →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Critical Thinking and Reflection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reviews its own output to improve quality and reasoning.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“Check your previous summary for missing key points and rewrite if needed.”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Creativity and Brainstorming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multiple ideas or approaches progressively.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5 marketing strategies → refine for social media → select best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Control and Interaction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 users the ability to guide AI responses based on feedback, preferences, or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“Use simpler language” or “Focus on technical accuracy.”</a:t>
            </a:r>
          </a:p>
        </p:txBody>
      </p:sp>
    </p:spTree>
    <p:extLst>
      <p:ext uri="{BB962C8B-B14F-4D97-AF65-F5344CB8AC3E}">
        <p14:creationId xmlns:p14="http://schemas.microsoft.com/office/powerpoint/2010/main" val="412603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A707-DA4C-620D-0928-934503C9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384"/>
            <a:ext cx="10515600" cy="56419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typical multi-turn conversation has the following </a:t>
            </a:r>
            <a:r>
              <a:rPr lang="en-US" b="1" dirty="0"/>
              <a:t>flow</a:t>
            </a:r>
            <a:r>
              <a:rPr lang="en-US" dirty="0"/>
              <a:t>:</a:t>
            </a:r>
          </a:p>
          <a:p>
            <a:r>
              <a:rPr lang="en-US" b="1" dirty="0"/>
              <a:t>Initial Prompt / Task</a:t>
            </a:r>
            <a:r>
              <a:rPr lang="en-US" dirty="0"/>
              <a:t> – Define the main task.</a:t>
            </a:r>
          </a:p>
          <a:p>
            <a:pPr lvl="1"/>
            <a:r>
              <a:rPr lang="en-US" dirty="0"/>
              <a:t>Example: “Explain polymorphism in Python.”</a:t>
            </a:r>
          </a:p>
          <a:p>
            <a:r>
              <a:rPr lang="en-US" b="1" dirty="0"/>
              <a:t>Clarification / Follow-up</a:t>
            </a:r>
            <a:r>
              <a:rPr lang="en-US" dirty="0"/>
              <a:t> – Ask AI to expand, simplify, or clarify.</a:t>
            </a:r>
          </a:p>
          <a:p>
            <a:pPr lvl="1"/>
            <a:r>
              <a:rPr lang="en-US" dirty="0"/>
              <a:t>Example: “Can you give a real-world example?”</a:t>
            </a:r>
          </a:p>
          <a:p>
            <a:r>
              <a:rPr lang="en-US" b="1" dirty="0"/>
              <a:t>Stepwise / Detailed Explanation</a:t>
            </a:r>
            <a:r>
              <a:rPr lang="en-US" dirty="0"/>
              <a:t> – Break down complex tasks.</a:t>
            </a:r>
          </a:p>
          <a:p>
            <a:pPr lvl="1"/>
            <a:r>
              <a:rPr lang="en-US" dirty="0"/>
              <a:t>Example: “Show a Python code snippet and explain each line.”</a:t>
            </a:r>
          </a:p>
          <a:p>
            <a:r>
              <a:rPr lang="en-US" b="1" dirty="0"/>
              <a:t>Role / Persona Prompt (Optional)</a:t>
            </a:r>
            <a:r>
              <a:rPr lang="en-US" dirty="0"/>
              <a:t> – Assign AI a perspective.</a:t>
            </a:r>
          </a:p>
          <a:p>
            <a:pPr lvl="1"/>
            <a:r>
              <a:rPr lang="en-US" dirty="0"/>
              <a:t>Example: “Explain this as if teaching a beginner.”</a:t>
            </a:r>
          </a:p>
          <a:p>
            <a:r>
              <a:rPr lang="en-US" b="1" dirty="0"/>
              <a:t>Reflection / Verification</a:t>
            </a:r>
            <a:r>
              <a:rPr lang="en-US" dirty="0"/>
              <a:t> – AI reviews and improves its output.</a:t>
            </a:r>
          </a:p>
          <a:p>
            <a:pPr lvl="1"/>
            <a:r>
              <a:rPr lang="en-US" dirty="0"/>
              <a:t>Example: “Check if the code covers all cases and rewrite if needed.”</a:t>
            </a:r>
          </a:p>
          <a:p>
            <a:r>
              <a:rPr lang="en-US" b="1" dirty="0"/>
              <a:t>Constraints / Optimization (Optional)</a:t>
            </a:r>
            <a:r>
              <a:rPr lang="en-US" dirty="0"/>
              <a:t> – Specify rules or limits.</a:t>
            </a:r>
          </a:p>
          <a:p>
            <a:pPr lvl="1"/>
            <a:r>
              <a:rPr lang="en-US" dirty="0"/>
              <a:t>Example: “Keep the explanation under 100 words and concise.”</a:t>
            </a:r>
          </a:p>
          <a:p>
            <a:r>
              <a:rPr lang="en-US" b="1" dirty="0"/>
              <a:t>Final Output / Summary</a:t>
            </a:r>
            <a:r>
              <a:rPr lang="en-US" dirty="0"/>
              <a:t> – Polished and complete version.</a:t>
            </a:r>
          </a:p>
          <a:p>
            <a:pPr lvl="1"/>
            <a:r>
              <a:rPr lang="en-US" dirty="0"/>
              <a:t>Example: “Summarize the function’s purpose and key logic in 2 sentences.”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21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8032-B7E1-CD92-2C44-5FE776A1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0BAAD-1D0B-3552-D510-AC622ECD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Importance of Multi-Turn Prompts</a:t>
            </a:r>
          </a:p>
          <a:p>
            <a:r>
              <a:rPr lang="en-IN" dirty="0"/>
              <a:t>Enable </a:t>
            </a:r>
            <a:r>
              <a:rPr lang="en-IN" b="1" dirty="0"/>
              <a:t>context retention</a:t>
            </a:r>
            <a:r>
              <a:rPr lang="en-IN" dirty="0"/>
              <a:t> at each turn.</a:t>
            </a:r>
          </a:p>
          <a:p>
            <a:r>
              <a:rPr lang="en-IN" dirty="0"/>
              <a:t>Ensure </a:t>
            </a:r>
            <a:r>
              <a:rPr lang="en-IN" b="1" dirty="0"/>
              <a:t>seamless and natural flow</a:t>
            </a:r>
            <a:r>
              <a:rPr lang="en-IN" dirty="0"/>
              <a:t> in AI conversations.</a:t>
            </a:r>
          </a:p>
          <a:p>
            <a:r>
              <a:rPr lang="en-IN" dirty="0"/>
              <a:t>Useful for </a:t>
            </a:r>
            <a:r>
              <a:rPr lang="en-IN" b="1" dirty="0"/>
              <a:t>complex scenarios</a:t>
            </a:r>
            <a:r>
              <a:rPr lang="en-IN" dirty="0"/>
              <a:t> with multiple questions and responses.</a:t>
            </a:r>
          </a:p>
          <a:p>
            <a:r>
              <a:rPr lang="en-IN" dirty="0"/>
              <a:t>Transform AI chatbots into </a:t>
            </a:r>
            <a:r>
              <a:rPr lang="en-IN" b="1" dirty="0"/>
              <a:t>interactive companions</a:t>
            </a:r>
            <a:r>
              <a:rPr lang="en-IN" dirty="0"/>
              <a:t> (e.g., healthcare, customer support).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31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F154-EF26-DBC8-5BEB-FA1AA07A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Elements in Multi-Turn Prompt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4CEE-C38B-A95F-09DA-04D8AC9B2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2000" b="1" dirty="0"/>
              <a:t>Context Preservation</a:t>
            </a:r>
          </a:p>
          <a:p>
            <a:r>
              <a:rPr lang="en-US" sz="2000" dirty="0"/>
              <a:t>Retain relevant information from previous interactions.</a:t>
            </a:r>
          </a:p>
          <a:p>
            <a:r>
              <a:rPr lang="en-US" sz="2000" dirty="0"/>
              <a:t>Helps AI understand user intent and provide accurate responses.</a:t>
            </a:r>
          </a:p>
          <a:p>
            <a:pPr marL="0" indent="0">
              <a:buNone/>
            </a:pPr>
            <a:r>
              <a:rPr lang="en-US" sz="2000" b="1" dirty="0"/>
              <a:t>Coherence &amp; Smooth Flow</a:t>
            </a:r>
          </a:p>
          <a:p>
            <a:r>
              <a:rPr lang="en-US" sz="2000" dirty="0"/>
              <a:t>Ensure logical progression in conversation.</a:t>
            </a:r>
          </a:p>
          <a:p>
            <a:r>
              <a:rPr lang="en-US" sz="2000" dirty="0"/>
              <a:t>Avoid contradictions or confusing transitions.</a:t>
            </a:r>
          </a:p>
          <a:p>
            <a:pPr marL="0" indent="0">
              <a:buNone/>
            </a:pPr>
            <a:r>
              <a:rPr lang="en-US" sz="2000" b="1" dirty="0"/>
              <a:t>Clear Instructions</a:t>
            </a:r>
          </a:p>
          <a:p>
            <a:r>
              <a:rPr lang="en-US" sz="2000" dirty="0"/>
              <a:t>Define desired tone, style, or response format.</a:t>
            </a:r>
          </a:p>
          <a:p>
            <a:r>
              <a:rPr lang="en-US" sz="2000" dirty="0"/>
              <a:t>Essential for all prompt engineering techniques.</a:t>
            </a:r>
          </a:p>
          <a:p>
            <a:pPr marL="0" indent="0">
              <a:buNone/>
            </a:pPr>
            <a:r>
              <a:rPr lang="en-US" sz="2000" b="1" dirty="0"/>
              <a:t>Optimal Prompt Length</a:t>
            </a:r>
          </a:p>
          <a:p>
            <a:r>
              <a:rPr lang="en-US" sz="2000" dirty="0"/>
              <a:t>Include only relevant information from prior conversation.</a:t>
            </a:r>
          </a:p>
          <a:p>
            <a:r>
              <a:rPr lang="en-US" sz="2000" dirty="0"/>
              <a:t>Avoid excessively long prompts that may confuse AI.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7804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E493-96FF-3C4B-80B6-5BF599D1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of Multi-Turn Prompting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DB7D9-48DA-8ACC-3F94-3E214A323B54}"/>
              </a:ext>
            </a:extLst>
          </p:cNvPr>
          <p:cNvSpPr txBox="1"/>
          <p:nvPr/>
        </p:nvSpPr>
        <p:spPr>
          <a:xfrm>
            <a:off x="914400" y="1690688"/>
            <a:ext cx="101396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natural and engaging chatbots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AI to handle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conversations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topics.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Healthcare chatbots understanding patient concerns through dialogue.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for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multifaceted scenarios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different nuances.</a:t>
            </a:r>
          </a:p>
        </p:txBody>
      </p:sp>
    </p:spTree>
    <p:extLst>
      <p:ext uri="{BB962C8B-B14F-4D97-AF65-F5344CB8AC3E}">
        <p14:creationId xmlns:p14="http://schemas.microsoft.com/office/powerpoint/2010/main" val="77570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012F-0701-A96E-87C9-15D3E943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Multi-Turn Prompt Engineering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663027-D9BC-69FA-2EDA-25CD3DB74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960" y="1582340"/>
            <a:ext cx="85699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Consistency &amp; Coherence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style and tone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Avoiding contradictions in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Preserving Context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information from previous turns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may give irrelevant responses without proper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Ambiguous Prompts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may provide incomplete or unclear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might interpret prompts in multiple ways.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Capturing Conversational Dynamics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nuances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emotions, implied meaning, sarcasm.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 to changes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intent or topic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3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65E1-26F5-80D9-305C-FD28A0738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 and 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3DBA44-CED2-C7DE-C707-82357C198E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7"/>
            <a:ext cx="8356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Context Cues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summaries or key points from previous turns.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memory mechanisms to retain relevant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Conversation History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AI to access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entire dialogue 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responses are contextually accurate and relevant.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 Feedback Loops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refine prompts continuously.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AI produce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coherent and relevant outputs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Chaining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 large conversations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smaller prompts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outputs from one prompt as input for the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preservation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task decomposition.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Specific and Structured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instructions for tone, detail, and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keywords or role assignments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reduce ambiguity.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42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D47A0-4571-EC76-17B2-58959FF4E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7224"/>
            <a:ext cx="10515600" cy="58248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 1: Education / Tutoring (Multi-Turn)</a:t>
            </a:r>
          </a:p>
          <a:p>
            <a:r>
              <a:rPr lang="en-US" b="1" dirty="0"/>
              <a:t>Turn 1 (User Prompt):</a:t>
            </a:r>
            <a:endParaRPr lang="en-US" dirty="0"/>
          </a:p>
          <a:p>
            <a:r>
              <a:rPr lang="en-US" dirty="0"/>
              <a:t>You are a Python tutor. Explain loops in simple terms.</a:t>
            </a:r>
          </a:p>
          <a:p>
            <a:r>
              <a:rPr lang="en-US" b="1" dirty="0"/>
              <a:t>Turn 2 (User Prompt):</a:t>
            </a:r>
            <a:endParaRPr lang="en-US" dirty="0"/>
          </a:p>
          <a:p>
            <a:r>
              <a:rPr lang="en-US" dirty="0"/>
              <a:t>Give an example using for loop.</a:t>
            </a:r>
          </a:p>
          <a:p>
            <a:r>
              <a:rPr lang="en-US" b="1" dirty="0"/>
              <a:t>Turn 3 (User Prompt):</a:t>
            </a:r>
            <a:endParaRPr lang="en-US" dirty="0"/>
          </a:p>
          <a:p>
            <a:r>
              <a:rPr lang="en-US" dirty="0"/>
              <a:t>Now explain the same using a real-life analogy.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 2: Technical Support Chatbot</a:t>
            </a:r>
          </a:p>
          <a:p>
            <a:r>
              <a:rPr lang="en-US" b="1" dirty="0"/>
              <a:t>Turn 1:</a:t>
            </a:r>
            <a:endParaRPr lang="en-US" dirty="0"/>
          </a:p>
          <a:p>
            <a:r>
              <a:rPr lang="en-US" dirty="0"/>
              <a:t>My laptop is overheating.</a:t>
            </a:r>
          </a:p>
          <a:p>
            <a:r>
              <a:rPr lang="en-US" b="1" dirty="0"/>
              <a:t>Turn 2:</a:t>
            </a:r>
            <a:endParaRPr lang="en-US" dirty="0"/>
          </a:p>
          <a:p>
            <a:r>
              <a:rPr lang="en-US" dirty="0"/>
              <a:t>It happens mainly while coding.</a:t>
            </a:r>
          </a:p>
          <a:p>
            <a:r>
              <a:rPr lang="en-US" b="1" dirty="0"/>
              <a:t>Turn 3:</a:t>
            </a:r>
            <a:endParaRPr lang="en-US" dirty="0"/>
          </a:p>
          <a:p>
            <a:r>
              <a:rPr lang="en-US" dirty="0"/>
              <a:t>I use Python and VS Code. What should I do?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84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4908-2719-3FE6-FA7F-9D20C0F3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 Multi-Turn Prompt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9613-E8D3-357E-68C8-26967DD35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Turn 1: Introduce topic</a:t>
            </a:r>
          </a:p>
          <a:p>
            <a:r>
              <a:rPr lang="en-US" dirty="0"/>
              <a:t>Turn 2: Ask for explanation or example</a:t>
            </a:r>
          </a:p>
          <a:p>
            <a:r>
              <a:rPr lang="en-US" dirty="0"/>
              <a:t>Turn 3: Ask for deeper analysis or reflection</a:t>
            </a:r>
          </a:p>
          <a:p>
            <a:r>
              <a:rPr lang="en-US" dirty="0"/>
              <a:t>Turn 4: Ask for improvement or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93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2D90-A7F1-511A-D3C0-2E97D4BF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B6F63-61BF-0594-8802-A76C48A1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Chaining is a </a:t>
            </a:r>
            <a:r>
              <a:rPr lang="en-US" b="1" dirty="0"/>
              <a:t>prompt engineering technique where the output of one prompt is used as input for the next prompt</a:t>
            </a:r>
            <a:r>
              <a:rPr lang="en-US" dirty="0"/>
              <a:t>, creating a sequence of connected prompts to solve complex tasks.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Handle </a:t>
            </a:r>
            <a:r>
              <a:rPr lang="en-US" b="1" dirty="0"/>
              <a:t>multi-step reasoning tasks</a:t>
            </a:r>
            <a:r>
              <a:rPr lang="en-US" dirty="0"/>
              <a:t>.</a:t>
            </a:r>
          </a:p>
          <a:p>
            <a:r>
              <a:rPr lang="en-US" dirty="0"/>
              <a:t>Break </a:t>
            </a:r>
            <a:r>
              <a:rPr lang="en-US" b="1" dirty="0"/>
              <a:t>complex problems</a:t>
            </a:r>
            <a:r>
              <a:rPr lang="en-US" dirty="0"/>
              <a:t> into smaller, manageable prompts.</a:t>
            </a:r>
          </a:p>
          <a:p>
            <a:r>
              <a:rPr lang="en-US" dirty="0"/>
              <a:t>Preserve </a:t>
            </a:r>
            <a:r>
              <a:rPr lang="en-US" b="1" dirty="0"/>
              <a:t>context across multiple prompts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31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3978-AE1F-4544-97B7-F420D60B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96FD2-A1F6-DD8A-E1CA-B51579032E77}"/>
              </a:ext>
            </a:extLst>
          </p:cNvPr>
          <p:cNvSpPr txBox="1"/>
          <p:nvPr/>
        </p:nvSpPr>
        <p:spPr>
          <a:xfrm>
            <a:off x="838200" y="1838960"/>
            <a:ext cx="9413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Prompt: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the first instruction/task.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generates a response.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Prompt: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 AI’s previous output as input, adding further instructions.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Continue chaining until the final output is complete.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119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25334-2753-2BB8-6E0A-AC793B46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Prompt Chains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57915-A3B3-0FF6-6874-F0F32AC41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19252"/>
            <a:ext cx="10031225" cy="39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B1E0-9E29-543F-054C-BB127496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2E5F38-F15D-A24E-4F9A-9A65FBEE7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6E8019-1085-8655-2C2F-B6A3097D4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680"/>
            <a:ext cx="10429240" cy="599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0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BA7E-CF23-5F66-1839-2771C032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833437"/>
            <a:ext cx="10114280" cy="323056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Prompt Engineering : </a:t>
            </a:r>
            <a:br>
              <a:rPr lang="en-US" sz="3000" dirty="0"/>
            </a:br>
            <a:r>
              <a:rPr lang="en-US" sz="3000" dirty="0"/>
              <a:t>In </a:t>
            </a:r>
            <a:r>
              <a:rPr lang="en-US" sz="3000" b="1" dirty="0"/>
              <a:t>prompt engineering</a:t>
            </a:r>
            <a:r>
              <a:rPr lang="en-US" sz="3000" dirty="0"/>
              <a:t>, </a:t>
            </a:r>
            <a:r>
              <a:rPr lang="en-US" sz="3000" b="1" dirty="0"/>
              <a:t>prompt chaining</a:t>
            </a:r>
            <a:r>
              <a:rPr lang="en-US" sz="3000" dirty="0"/>
              <a:t> is a method of connecting multiple prompts to handle complex tasks, maintain context, or iteratively refine outputs. Broadly, the types of prompt chaining can be categorized as follows: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231312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64DC-644E-9CBB-A85C-D4CD6960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Sequential Chaining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4713B-11FE-F4CA-640B-50D4D30960A6}"/>
              </a:ext>
            </a:extLst>
          </p:cNvPr>
          <p:cNvSpPr txBox="1"/>
          <p:nvPr/>
        </p:nvSpPr>
        <p:spPr>
          <a:xfrm>
            <a:off x="838200" y="1416368"/>
            <a:ext cx="9352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latin typeface="Arial" panose="020B0604020202020204" pitchFamily="34" charset="0"/>
              </a:rPr>
              <a:t> Prompts are executed one after another, where the output of one prompt becomes the input for the next.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Purpose:</a:t>
            </a:r>
            <a:r>
              <a:rPr lang="en-US" altLang="en-US" dirty="0">
                <a:latin typeface="Arial" panose="020B0604020202020204" pitchFamily="34" charset="0"/>
              </a:rPr>
              <a:t> Break complex tasks into smaller steps.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Example: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Summarize a long article.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Extract key points from the summary.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Create action items from key points.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7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85E6-15D9-171A-9B17-554617FA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Conditional / Branching Chaining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56D79-7C43-CC68-5299-476148CE0354}"/>
              </a:ext>
            </a:extLst>
          </p:cNvPr>
          <p:cNvSpPr txBox="1"/>
          <p:nvPr/>
        </p:nvSpPr>
        <p:spPr>
          <a:xfrm>
            <a:off x="1036320" y="1615440"/>
            <a:ext cx="8371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Definition</a:t>
            </a:r>
            <a:r>
              <a:rPr lang="en-US" dirty="0"/>
              <a:t>: </a:t>
            </a:r>
          </a:p>
          <a:p>
            <a:r>
              <a:rPr lang="en-US" dirty="0"/>
              <a:t>The next prompt depends on the response of the previous one, allowing for different “branches” of execution.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Purpose</a:t>
            </a:r>
            <a:r>
              <a:rPr lang="en-US" dirty="0"/>
              <a:t>: Handle decision-based workflows or dynamic user paths.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Ask the user if they want a “tutorial” or a “product recommendation.”</a:t>
            </a:r>
          </a:p>
          <a:p>
            <a:r>
              <a:rPr lang="en-US" dirty="0"/>
              <a:t>Route to the appropriate follow-up prompt based on the choice.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408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949D-F1A7-18C9-716A-DEDF23BF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Iterative / Looping Chaining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09E7-094D-F40A-5591-6822086F1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The same prompt (or a set of prompts) is applied repeatedly, with each iteration improving or refining the output.</a:t>
            </a:r>
          </a:p>
          <a:p>
            <a:r>
              <a:rPr lang="en-US" b="1" dirty="0"/>
              <a:t>Purpose:</a:t>
            </a:r>
            <a:r>
              <a:rPr lang="en-US" dirty="0"/>
              <a:t> Refine answers, summaries, or creative content.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Prompt: “Improve this paragraph for clarity.”</a:t>
            </a:r>
          </a:p>
          <a:p>
            <a:pPr lvl="1"/>
            <a:r>
              <a:rPr lang="en-US" dirty="0"/>
              <a:t>Feed the improved paragraph back into the same prompt for further refinement.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617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8781-A111-127D-38F7-BC2675CB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Parallel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83B6-D5DE-7E39-AB03-9163D4F12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Definition</a:t>
            </a:r>
            <a:r>
              <a:rPr lang="en-US" dirty="0"/>
              <a:t>: Multiple prompts are executed simultaneously on the same input, generating different perspectives, which are later combined.</a:t>
            </a:r>
          </a:p>
          <a:p>
            <a:r>
              <a:rPr lang="en-US" b="1" dirty="0">
                <a:solidFill>
                  <a:srgbClr val="FF0000"/>
                </a:solidFill>
              </a:rPr>
              <a:t>Purpose</a:t>
            </a:r>
            <a:r>
              <a:rPr lang="en-US" dirty="0"/>
              <a:t>: Obtain multi-faceted analysis or diverse outputs.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/>
              <a:t>Analyze tone, grammar, and key points of a text in parallel.</a:t>
            </a:r>
          </a:p>
          <a:p>
            <a:r>
              <a:rPr lang="en-US" dirty="0"/>
              <a:t>Combine results into a single report.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538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933E-3BED-69F1-1904-4975D6D9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Feedback / Self-Improvement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23BB6-12CB-E19B-F71E-98FF0C598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Definition</a:t>
            </a:r>
            <a:r>
              <a:rPr lang="en-US" dirty="0"/>
              <a:t>: The AI evaluates its own output and generates new prompts to improve or correct it.</a:t>
            </a:r>
          </a:p>
          <a:p>
            <a:r>
              <a:rPr lang="en-US" b="1" dirty="0">
                <a:solidFill>
                  <a:srgbClr val="FF0000"/>
                </a:solidFill>
              </a:rPr>
              <a:t>Purpose</a:t>
            </a:r>
            <a:r>
              <a:rPr lang="en-US" dirty="0"/>
              <a:t>: Self-correction, fact-checking, or iterative quality enhancement.</a:t>
            </a:r>
          </a:p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Generate a product description.</a:t>
            </a:r>
          </a:p>
          <a:p>
            <a:r>
              <a:rPr lang="en-US" dirty="0"/>
              <a:t>Review the description for errors and clarity.</a:t>
            </a:r>
          </a:p>
          <a:p>
            <a:r>
              <a:rPr lang="en-US" dirty="0"/>
              <a:t>Rewrite the description based on the review.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535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CA6E-2CAC-99DE-7C0D-C719A9D2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F503-4FD5-9699-1237-6BBE14E6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9A6B2-BCBB-5CA3-5983-A91AB2F3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8447"/>
            <a:ext cx="9269119" cy="514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8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8E17-5F97-748C-2EC4-CDC4BE4C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Prompt Engineering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7C32-F078-DBAF-EAC9-AF46158E1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985"/>
            <a:ext cx="10515600" cy="49618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prompt engineering, a pipeline refers to a structured sequence of steps or prompts that are designed to work together to achieve a complex task. </a:t>
            </a:r>
          </a:p>
          <a:p>
            <a:pPr algn="just"/>
            <a:r>
              <a:rPr lang="en-US" dirty="0"/>
              <a:t>Instead of giving a single prompt to an AI model, a pipeline breaks down the task into smaller subtasks, processes the outputs of each step, and passes them along to the next stage.</a:t>
            </a:r>
          </a:p>
          <a:p>
            <a:pPr algn="just"/>
            <a:r>
              <a:rPr lang="en-US" dirty="0"/>
              <a:t>Think of it like a factory assembly line for text or data: each stage performs a specific function, and the final product is the desired output.</a:t>
            </a:r>
          </a:p>
          <a:p>
            <a:pPr algn="just"/>
            <a:r>
              <a:rPr lang="en-US" b="1" dirty="0"/>
              <a:t>Key idea: </a:t>
            </a:r>
            <a:r>
              <a:rPr lang="en-US" dirty="0"/>
              <a:t>Pipelines allow multi-step reasoning, refinement, and task decomposition, which is essential for complex AI interactions.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603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EEEA-4F62-7AC2-4BE6-1FE35292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Pipelines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8FA23A-7067-C533-8ACF-3089A3F27E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916"/>
            <a:ext cx="1064034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stage of the pipeline can be independently designed and modified.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One stage extracts keywords, another generates a summary, another checks grammar.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from one prompt feeds into the next prompt.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Question → Answer → Explanation → Translation.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problems are broken into simpler subtasks.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Writing a research report can be split into “outline generation,” “draft writing,” and “proofreading.”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Refinement and Iteration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 can be refined or improved over multiple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Initial draft → style improvement → fact-checking.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External Tools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Pipelines can incorporate APIs, databases, or other models for enhanced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AI generates content → spell-check API → plagiarism checker.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 stages can be reused for different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 “text summarizer” stage can be used for news, research papers, or emails.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2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C868-C0DB-CD44-39C9-E0ED8E8A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Prompt Engineering Pipelines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1B8C3-989C-0FDC-AF1F-584E34272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882" y="2051956"/>
            <a:ext cx="7821116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32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0A96-5FBF-3B73-F8C6-089E2A2F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1: Research Paper Summary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AAB73-7E96-1385-313D-AFC0C5C1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</a:t>
            </a:r>
            <a:r>
              <a:rPr lang="en-US" dirty="0"/>
              <a:t> Long academic paper</a:t>
            </a:r>
          </a:p>
          <a:p>
            <a:r>
              <a:rPr lang="en-US" b="1" dirty="0"/>
              <a:t>Stage 1:</a:t>
            </a:r>
            <a:r>
              <a:rPr lang="en-US" dirty="0"/>
              <a:t> Extract key sections (abstract, conclusion)</a:t>
            </a:r>
          </a:p>
          <a:p>
            <a:r>
              <a:rPr lang="en-US" b="1" dirty="0"/>
              <a:t>Stage 2:</a:t>
            </a:r>
            <a:r>
              <a:rPr lang="en-US" dirty="0"/>
              <a:t> Generate summary</a:t>
            </a:r>
          </a:p>
          <a:p>
            <a:r>
              <a:rPr lang="en-US" b="1" dirty="0"/>
              <a:t>Stage 3:</a:t>
            </a:r>
            <a:r>
              <a:rPr lang="en-US" dirty="0"/>
              <a:t> Simplify language for general audience</a:t>
            </a:r>
          </a:p>
          <a:p>
            <a:r>
              <a:rPr lang="en-US" b="1" dirty="0"/>
              <a:t>Stage 4:</a:t>
            </a:r>
            <a:r>
              <a:rPr lang="en-US" dirty="0"/>
              <a:t> Check grammar and style</a:t>
            </a:r>
          </a:p>
          <a:p>
            <a:r>
              <a:rPr lang="en-US" b="1" dirty="0"/>
              <a:t>Output:</a:t>
            </a:r>
            <a:r>
              <a:rPr lang="en-US" dirty="0"/>
              <a:t> Readable summary of research paper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058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09CC-84E7-D4FB-15C2-75E56DA8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Customer Support Automation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3C1D4-90D0-4F78-B3ED-6933364E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Input:</a:t>
            </a:r>
            <a:r>
              <a:rPr lang="en-US" dirty="0"/>
              <a:t> Customer complaint email</a:t>
            </a:r>
          </a:p>
          <a:p>
            <a:r>
              <a:rPr lang="en-US" b="1" dirty="0"/>
              <a:t>Stage 1:</a:t>
            </a:r>
            <a:r>
              <a:rPr lang="en-US" dirty="0"/>
              <a:t> Classify type of issue (billing, technical, etc.)</a:t>
            </a:r>
          </a:p>
          <a:p>
            <a:r>
              <a:rPr lang="en-US" b="1" dirty="0"/>
              <a:t>Stage 2:</a:t>
            </a:r>
            <a:r>
              <a:rPr lang="en-US" dirty="0"/>
              <a:t> Generate draft response</a:t>
            </a:r>
          </a:p>
          <a:p>
            <a:r>
              <a:rPr lang="en-US" b="1" dirty="0"/>
              <a:t>Stage 3:</a:t>
            </a:r>
            <a:r>
              <a:rPr lang="en-US" dirty="0"/>
              <a:t> Check tone and politeness</a:t>
            </a:r>
          </a:p>
          <a:p>
            <a:r>
              <a:rPr lang="en-US" b="1" dirty="0"/>
              <a:t>Stage 4:</a:t>
            </a:r>
            <a:r>
              <a:rPr lang="en-US" dirty="0"/>
              <a:t> Send response to customer</a:t>
            </a:r>
          </a:p>
          <a:p>
            <a:r>
              <a:rPr lang="en-US" b="1" dirty="0"/>
              <a:t>Output:</a:t>
            </a:r>
            <a:r>
              <a:rPr lang="en-US" dirty="0"/>
              <a:t> Automated, professional reply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708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2125-3148-14E5-1E07-D5988DB9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3: Content Creation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152A-FBED-A66B-47B9-ED7AC9713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Input:</a:t>
            </a:r>
            <a:r>
              <a:rPr lang="en-IN" dirty="0"/>
              <a:t> Topic prompt (“Healthy breakfast recipes”)</a:t>
            </a:r>
          </a:p>
          <a:p>
            <a:r>
              <a:rPr lang="en-IN" b="1" dirty="0"/>
              <a:t>Stage 1:</a:t>
            </a:r>
            <a:r>
              <a:rPr lang="en-IN" dirty="0"/>
              <a:t> Generate outline</a:t>
            </a:r>
          </a:p>
          <a:p>
            <a:r>
              <a:rPr lang="en-IN" b="1" dirty="0"/>
              <a:t>Stage 2:</a:t>
            </a:r>
            <a:r>
              <a:rPr lang="en-IN" dirty="0"/>
              <a:t> Create detailed content for each section</a:t>
            </a:r>
          </a:p>
          <a:p>
            <a:r>
              <a:rPr lang="en-IN" b="1" dirty="0"/>
              <a:t>Stage 3:</a:t>
            </a:r>
            <a:r>
              <a:rPr lang="en-IN" dirty="0"/>
              <a:t> Optimize for SEO</a:t>
            </a:r>
          </a:p>
          <a:p>
            <a:r>
              <a:rPr lang="en-IN" b="1" dirty="0"/>
              <a:t>Stage 4:</a:t>
            </a:r>
            <a:r>
              <a:rPr lang="en-IN" dirty="0"/>
              <a:t> Proofread and improve readability</a:t>
            </a:r>
          </a:p>
          <a:p>
            <a:r>
              <a:rPr lang="en-IN" b="1" dirty="0"/>
              <a:t>Output:</a:t>
            </a:r>
            <a:r>
              <a:rPr lang="en-IN" dirty="0"/>
              <a:t> Blog post ready for publishing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284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EAE8-FCBD-A2F7-079F-249078D9F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315"/>
          </a:xfrm>
        </p:spPr>
        <p:txBody>
          <a:bodyPr/>
          <a:lstStyle/>
          <a:p>
            <a:r>
              <a:rPr lang="en-US" b="1" dirty="0"/>
              <a:t>Applications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E93F9-D8A1-D745-0BE3-FC246FAC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Content Generation</a:t>
            </a:r>
            <a:endParaRPr lang="en-IN" dirty="0"/>
          </a:p>
          <a:p>
            <a:pPr lvl="1"/>
            <a:r>
              <a:rPr lang="en-IN" dirty="0"/>
              <a:t>Articles, blogs, social media posts</a:t>
            </a:r>
          </a:p>
          <a:p>
            <a:pPr lvl="1"/>
            <a:r>
              <a:rPr lang="en-IN" dirty="0"/>
              <a:t>Marketing copy with multi-step refinement</a:t>
            </a:r>
          </a:p>
          <a:p>
            <a:r>
              <a:rPr lang="en-IN" b="1" dirty="0"/>
              <a:t>Customer Support</a:t>
            </a:r>
            <a:endParaRPr lang="en-IN" dirty="0"/>
          </a:p>
          <a:p>
            <a:pPr lvl="1"/>
            <a:r>
              <a:rPr lang="en-IN" dirty="0"/>
              <a:t>Automated email responses</a:t>
            </a:r>
          </a:p>
          <a:p>
            <a:pPr lvl="1"/>
            <a:r>
              <a:rPr lang="en-IN" dirty="0"/>
              <a:t>Chatbots with multi-turn interactions</a:t>
            </a:r>
          </a:p>
          <a:p>
            <a:r>
              <a:rPr lang="en-IN" b="1" dirty="0"/>
              <a:t>Data Analysis</a:t>
            </a:r>
            <a:endParaRPr lang="en-IN" dirty="0"/>
          </a:p>
          <a:p>
            <a:pPr lvl="1"/>
            <a:r>
              <a:rPr lang="en-IN" dirty="0"/>
              <a:t>Extract insights from reports or datasets</a:t>
            </a:r>
          </a:p>
          <a:p>
            <a:pPr lvl="1"/>
            <a:r>
              <a:rPr lang="en-IN" dirty="0"/>
              <a:t>Summarize key metrics and trends</a:t>
            </a:r>
          </a:p>
          <a:p>
            <a:r>
              <a:rPr lang="en-IN" b="1" dirty="0"/>
              <a:t>Education &amp; Tutoring</a:t>
            </a:r>
            <a:endParaRPr lang="en-IN" dirty="0"/>
          </a:p>
          <a:p>
            <a:pPr lvl="1"/>
            <a:r>
              <a:rPr lang="en-IN" dirty="0"/>
              <a:t>Step-by-step problem solving</a:t>
            </a:r>
          </a:p>
          <a:p>
            <a:pPr lvl="1"/>
            <a:r>
              <a:rPr lang="en-IN" dirty="0"/>
              <a:t>Personalized study material generation</a:t>
            </a:r>
          </a:p>
          <a:p>
            <a:r>
              <a:rPr lang="en-IN" b="1" dirty="0"/>
              <a:t>Healthcare</a:t>
            </a:r>
            <a:endParaRPr lang="en-IN" dirty="0"/>
          </a:p>
          <a:p>
            <a:pPr lvl="1"/>
            <a:r>
              <a:rPr lang="en-IN" dirty="0"/>
              <a:t>Summarizing patient records</a:t>
            </a:r>
          </a:p>
          <a:p>
            <a:pPr lvl="1"/>
            <a:r>
              <a:rPr lang="en-IN" dirty="0"/>
              <a:t>Generating treatment suggestions based on multiple sources</a:t>
            </a:r>
          </a:p>
          <a:p>
            <a:r>
              <a:rPr lang="en-IN" b="1" dirty="0"/>
              <a:t>Legal and Compliance</a:t>
            </a:r>
            <a:endParaRPr lang="en-IN" dirty="0"/>
          </a:p>
          <a:p>
            <a:pPr lvl="1"/>
            <a:r>
              <a:rPr lang="en-IN" dirty="0"/>
              <a:t>Drafting contracts</a:t>
            </a:r>
          </a:p>
          <a:p>
            <a:pPr lvl="1"/>
            <a:r>
              <a:rPr lang="en-IN" dirty="0"/>
              <a:t>Summarizing regulations or legal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193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A0F5-05C0-4430-D400-D2879407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prompt templates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4091-94B6-4C85-467A-F97A0A13A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Dynamic Prompt</a:t>
            </a:r>
            <a:r>
              <a:rPr lang="en-US" dirty="0"/>
              <a:t> is a type of AI prompt that </a:t>
            </a:r>
            <a:r>
              <a:rPr lang="en-US" b="1" dirty="0"/>
              <a:t>changes or adapts automatically based on input, context, or variables</a:t>
            </a:r>
            <a:r>
              <a:rPr lang="en-US" dirty="0"/>
              <a:t>. Instead of being static, it uses placeholders or rules to generate content tailored to specific situations.</a:t>
            </a:r>
          </a:p>
          <a:p>
            <a:r>
              <a:rPr lang="en-US" b="1" dirty="0"/>
              <a:t>Key idea:</a:t>
            </a:r>
            <a:r>
              <a:rPr lang="en-US" dirty="0"/>
              <a:t> Dynamic prompts make AI responses more </a:t>
            </a:r>
            <a:r>
              <a:rPr lang="en-US" b="1" dirty="0"/>
              <a:t>flexible, personalized, and context-aware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991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06C4-9C81-8881-60DF-9EE9A16C8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Dynamic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9B6A-2DCD-CC14-95DE-EE0702755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Context-aware: Changes based on the input data or situation.</a:t>
            </a:r>
          </a:p>
          <a:p>
            <a:r>
              <a:rPr lang="en-US" dirty="0"/>
              <a:t>Reusable templates: Same structure can generate multiple outputs.</a:t>
            </a:r>
          </a:p>
          <a:p>
            <a:r>
              <a:rPr lang="en-US" dirty="0"/>
              <a:t>Variable-driven: Uses placeholders (like {name}, {topic}) that get replaced dynamically.</a:t>
            </a:r>
          </a:p>
          <a:p>
            <a:r>
              <a:rPr lang="en-US" dirty="0"/>
              <a:t>Adaptive responses: Can adjust tone, style, or detail level automatically.</a:t>
            </a:r>
          </a:p>
          <a:p>
            <a:r>
              <a:rPr lang="en-US"/>
              <a:t>Automation-friendly</a:t>
            </a:r>
            <a:r>
              <a:rPr lang="en-US" dirty="0"/>
              <a:t>: Works well in pipelines and multi-turn interactions.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20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8CEE-C199-50B5-83E0-8BE7B4EB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Dynamic Prompt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A42D-0E9E-FD9C-AEEC-42EAC725D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dynamic prompt template</a:t>
            </a:r>
            <a:r>
              <a:rPr lang="en-US" dirty="0"/>
              <a:t> is a prompt that changes </a:t>
            </a:r>
            <a:r>
              <a:rPr lang="en-US" b="1" dirty="0"/>
              <a:t>automatically</a:t>
            </a:r>
            <a:r>
              <a:rPr lang="en-US" dirty="0"/>
              <a:t> based on:</a:t>
            </a:r>
          </a:p>
          <a:p>
            <a:r>
              <a:rPr lang="en-US" dirty="0"/>
              <a:t>user input</a:t>
            </a:r>
          </a:p>
          <a:p>
            <a:r>
              <a:rPr lang="en-US" dirty="0"/>
              <a:t>context</a:t>
            </a:r>
          </a:p>
          <a:p>
            <a:r>
              <a:rPr lang="en-US" dirty="0"/>
              <a:t>variables</a:t>
            </a:r>
          </a:p>
          <a:p>
            <a:r>
              <a:rPr lang="en-US" dirty="0"/>
              <a:t>system state</a:t>
            </a:r>
          </a:p>
          <a:p>
            <a:r>
              <a:rPr lang="en-US" dirty="0"/>
              <a:t>previous conversation turns</a:t>
            </a:r>
          </a:p>
          <a:p>
            <a:r>
              <a:rPr lang="en-US" dirty="0"/>
              <a:t>Instead of hard-coding the prompt, we use </a:t>
            </a:r>
            <a:r>
              <a:rPr lang="en-US" b="1" dirty="0"/>
              <a:t>placeholders</a:t>
            </a:r>
            <a:r>
              <a:rPr lang="en-US" dirty="0"/>
              <a:t> like {topic}, {level}, {role}, {constraints}.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729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F154-6934-D8C5-3BE8-EC85A71C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BFD82F-26E2-7FD9-384F-E51E33F58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120" y="454025"/>
            <a:ext cx="1154176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29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D78C-279F-BF94-D467-8A639B41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651E7-FF9C-F213-64E0-DBAAB07BB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416" y="152400"/>
            <a:ext cx="10228383" cy="656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97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2271</Words>
  <Application>Microsoft Office PowerPoint</Application>
  <PresentationFormat>Widescreen</PresentationFormat>
  <Paragraphs>261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Office Theme</vt:lpstr>
      <vt:lpstr>Module - IV:  Advanced Prompt Techniques: Multi-turn conversations. Prompt chaining and pipelines. Dynamic prompt templates. </vt:lpstr>
      <vt:lpstr>Advanced Prompt Techniques</vt:lpstr>
      <vt:lpstr>Need of Advanced Prompts </vt:lpstr>
      <vt:lpstr>Multi-turn conversations</vt:lpstr>
      <vt:lpstr>Objectives of Multi-Turn Conversations</vt:lpstr>
      <vt:lpstr>PowerPoint Presentation</vt:lpstr>
      <vt:lpstr>PowerPoint Presentation</vt:lpstr>
      <vt:lpstr>Essential Elements in Multi-Turn Prompt Design</vt:lpstr>
      <vt:lpstr>Value of Multi-Turn Prompting</vt:lpstr>
      <vt:lpstr>Challenges in Multi-Turn Prompt Engineering</vt:lpstr>
      <vt:lpstr>Solutions and Best Practices</vt:lpstr>
      <vt:lpstr>PowerPoint Presentation</vt:lpstr>
      <vt:lpstr>Simple Multi-Turn Prompt Template</vt:lpstr>
      <vt:lpstr>Prompt Chaining</vt:lpstr>
      <vt:lpstr>Structure</vt:lpstr>
      <vt:lpstr>Types of Prompt Chains</vt:lpstr>
      <vt:lpstr>PowerPoint Presentation</vt:lpstr>
      <vt:lpstr>Prompt Engineering :  In prompt engineering, prompt chaining is a method of connecting multiple prompts to handle complex tasks, maintain context, or iteratively refine outputs. Broadly, the types of prompt chaining can be categorized as follows:</vt:lpstr>
      <vt:lpstr>Sequential Chaining</vt:lpstr>
      <vt:lpstr>Conditional / Branching Chaining</vt:lpstr>
      <vt:lpstr>Iterative / Looping Chaining</vt:lpstr>
      <vt:lpstr>Parallel Chaining</vt:lpstr>
      <vt:lpstr>Feedback / Self-Improvement Chaining</vt:lpstr>
      <vt:lpstr>PowerPoint Presentation</vt:lpstr>
      <vt:lpstr>Prompt Engineering </vt:lpstr>
      <vt:lpstr>Prompt Engineering Pipelines</vt:lpstr>
      <vt:lpstr>Working of the Prompt Engineering Pipelines </vt:lpstr>
      <vt:lpstr>Example 1: Research Paper Summary Pipeline</vt:lpstr>
      <vt:lpstr>Example 2: Customer Support Automation</vt:lpstr>
      <vt:lpstr>Example 3: Content Creation Pipeline</vt:lpstr>
      <vt:lpstr>Applications</vt:lpstr>
      <vt:lpstr>Dynamic prompt templates</vt:lpstr>
      <vt:lpstr>Features of Dynamic Prompts</vt:lpstr>
      <vt:lpstr>Dynamic Prompt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24</cp:revision>
  <dcterms:created xsi:type="dcterms:W3CDTF">2026-02-02T05:14:12Z</dcterms:created>
  <dcterms:modified xsi:type="dcterms:W3CDTF">2026-02-07T08:48:19Z</dcterms:modified>
</cp:coreProperties>
</file>