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5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59" r:id="rId20"/>
    <p:sldId id="277" r:id="rId21"/>
    <p:sldId id="278" r:id="rId22"/>
    <p:sldId id="279" r:id="rId23"/>
    <p:sldId id="260" r:id="rId24"/>
    <p:sldId id="280" r:id="rId25"/>
    <p:sldId id="261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16CD-6C7C-01AE-9C17-CE8ABBA8C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85F4F-E59C-BDA6-C695-D8C5A91D3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2ED19-A3DB-E323-3F96-90269716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86EBE-FD8B-2C74-6489-564F75C39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0F833-1712-5BEB-3B29-B79DC8CD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12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8EEB0-F38C-3027-1E53-65919733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EF55-7FE2-6B78-44CB-7510F52CF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A9E7E-10A9-EE3D-EAA3-1CA9340C1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2865-C3CD-CFFC-A418-B49E7030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ADDAC-F830-0B36-913A-47451225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8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1446-1E8C-89A9-4BDA-E647CE3E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B329F-3277-BFA8-ED26-6E678100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86E83-BA2D-3DA0-066F-24D66FAB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E239E-7B20-091C-BB2A-46F774A6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5A3C5-916B-BC01-2290-51A6E548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33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7D58-C8D5-E12B-AA64-7955A2AC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4E712-7B08-7B0A-499D-0A78D56F4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33E3F-E171-32D7-BF5D-BF19CFA64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CC540-EADD-4380-58B0-0C0DEB40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930C8-852F-AFB2-8B86-CE78E338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45A34-1C34-CB5B-DDEF-D88F6736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35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20DA-F87B-AE96-22A7-988F160E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9D485-4168-288B-21BE-8FBCAF3FE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9D24E-C0EA-F5F2-5248-FBB4D8780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994B8-438B-D501-98C1-38F8ACC99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E6FE1-4EC6-AADA-06ED-3186CE883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71071-9E4F-65CB-926D-949C8F09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45420-5091-4833-CDC5-2B4651257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5EFEF-8CBF-C4ED-0AE8-8639A8B8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53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EA6-858C-3D35-EBF4-3B50FCFC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4E955-41EB-5811-C12D-38DA458E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EE441-5448-26B4-2613-41838504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D94E6-12B6-E01F-63F8-D8EE3332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15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C0B48-C293-FBC9-A798-BBA3A851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FEAA28-31A4-9A3E-AC38-9826A8FA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98A8C-3E0F-FF77-49E1-D162C9B5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04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0BBD-C0B7-067C-6087-C6ABA75E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C5398-3561-3294-092E-4E0AAA013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C158F-C34F-B285-D09B-3DEDB0AEC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EC34D-11F4-9CBE-D68A-68E655C8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EDAA5-4DE3-1F2F-4146-3F535074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C56A6-7289-696F-3529-731830ED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172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F994-328C-E6A4-5518-8984FE43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B1C86-7B2B-F553-538D-D1274035E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E1B6C-1BD9-133B-A9FD-13E9534D3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A3DDC-B387-B67C-5EA0-E0E25904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059F6-FAD2-8096-59F7-1148FB04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89D46-F220-3ECB-425D-E588D8CB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91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B73B-EE9C-4784-246F-3F6C28F9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B9605-3DAA-3FAC-A9FC-84ADE8CC7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EE397-BA1E-53D6-E704-9896B5A3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D345-F293-F797-A240-0F7E46BE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36A85-0715-AFE9-7F4D-AA03BA17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28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5A467-68A2-869A-EF53-AB9487451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D09C7-CDBF-466F-2110-EC26E7844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AB027-F7F6-3698-E4F6-4CB4BE60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CC9CA-ACF4-DD1C-4495-6942FDD1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11D84-7E63-E790-292D-E5EAD6D5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28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46100-478B-E435-60F8-49D7BBB6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822B2-FF85-D50B-0756-8F3B61E1D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7A127-D1CC-8908-8223-B7D2EB562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FC2EE-1108-41AF-879F-549EA0D4579E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2858-8F7B-B86E-D3A1-B49AD9C4F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9DB42-DB25-070C-CCD3-ACECF1C78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7D6DD-7D58-4A5C-9707-E9122EB00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08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2D89-70E1-9067-8EE4-0419E9F5C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Module - X: </a:t>
            </a:r>
            <a:br>
              <a:rPr lang="en-IN" sz="2400" dirty="0"/>
            </a:br>
            <a:r>
              <a:rPr lang="en-IN" sz="2400" b="1" dirty="0"/>
              <a:t>Advanced Prompt Engineering: </a:t>
            </a:r>
            <a:r>
              <a:rPr lang="en-IN" sz="2400" dirty="0"/>
              <a:t>Tree-of-Thoughts (ToT) Prompting, Active prompting, Reason and Act (ReAct), Expert Prompting, Automatic Prompt Engineering (APE).</a:t>
            </a:r>
            <a:br>
              <a:rPr lang="en-IN" sz="2400" dirty="0"/>
            </a:br>
            <a:endParaRPr lang="en-IN" sz="23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44BB2-DC31-323D-A569-54C33A92D1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04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F145-5DCE-AD23-F88A-5D6776231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Advanced Prompt Engineering: </a:t>
            </a:r>
            <a:br>
              <a:rPr lang="en-IN" b="1" dirty="0"/>
            </a:br>
            <a:r>
              <a:rPr lang="en-IN" dirty="0"/>
              <a:t>Tree-of-Thoughts (ToT) Prompting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A3A34-0071-6048-794E-E428E6A29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4984"/>
            <a:ext cx="10063480" cy="507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1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0FA5F-30D4-4D2B-4F61-39E4C1FF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9127-7E0B-8F96-FDDD-C38DAC50C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turning your AI from a straight-line thinker into a branching strategist. Instead of following one path (like a single chain of thought), it explores multiple reasoning paths simultaneously, compares them, and picks the best one.</a:t>
            </a:r>
          </a:p>
          <a:p>
            <a:r>
              <a:rPr lang="en-US" b="1" dirty="0"/>
              <a:t>What is Tree-of-Thoughts?</a:t>
            </a:r>
          </a:p>
          <a:p>
            <a:r>
              <a:rPr lang="en-US" dirty="0"/>
              <a:t>Tree-of-Thoughts is a prompting technique where the model:</a:t>
            </a:r>
          </a:p>
          <a:p>
            <a:r>
              <a:rPr lang="en-US" dirty="0"/>
              <a:t>Generates </a:t>
            </a:r>
            <a:r>
              <a:rPr lang="en-US" b="1" dirty="0"/>
              <a:t>multiple possible reasoning steps (thoughts)</a:t>
            </a:r>
            <a:r>
              <a:rPr lang="en-US" dirty="0"/>
              <a:t> </a:t>
            </a:r>
          </a:p>
          <a:p>
            <a:r>
              <a:rPr lang="en-US" dirty="0"/>
              <a:t>Organizes them like branches of a tree 🌿 </a:t>
            </a:r>
          </a:p>
          <a:p>
            <a:r>
              <a:rPr lang="en-US" b="1" dirty="0"/>
              <a:t>Evaluates and prunes</a:t>
            </a:r>
            <a:r>
              <a:rPr lang="en-US" dirty="0"/>
              <a:t> weaker paths </a:t>
            </a:r>
          </a:p>
          <a:p>
            <a:r>
              <a:rPr lang="en-US" dirty="0"/>
              <a:t>Continues expanding the most promising ones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17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2646-E9E3-833D-757A-12CCD190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7C5F3-F541-446B-3C2D-F127BB147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Chess players imagining multiple moves ahead ♟️ rather than just one.</a:t>
            </a:r>
          </a:p>
          <a:p>
            <a:r>
              <a:rPr lang="en-IN" dirty="0"/>
              <a:t>Structure of ToT</a:t>
            </a:r>
          </a:p>
          <a:p>
            <a:r>
              <a:rPr lang="en-US" dirty="0"/>
              <a:t>Question → One reasoning path → Answer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821CB-9544-1A7C-1456-6013DD8A2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37" y="3741931"/>
            <a:ext cx="7925383" cy="290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4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93F3-4675-FA73-68FB-F53F9171F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8180-95A5-B9AD-983F-D30D423F4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/>
          </a:bodyPr>
          <a:lstStyle/>
          <a:p>
            <a:r>
              <a:rPr lang="en-US" b="1" dirty="0"/>
              <a:t>1. Thought Generation</a:t>
            </a:r>
          </a:p>
          <a:p>
            <a:r>
              <a:rPr lang="en-US" dirty="0"/>
              <a:t>Create </a:t>
            </a:r>
            <a:r>
              <a:rPr lang="en-US" b="1" dirty="0"/>
              <a:t>multiple candidate steps</a:t>
            </a:r>
            <a:r>
              <a:rPr lang="en-US" dirty="0"/>
              <a:t> </a:t>
            </a:r>
          </a:p>
          <a:p>
            <a:r>
              <a:rPr lang="en-US" dirty="0"/>
              <a:t>Example: different strategies to solve a problem </a:t>
            </a:r>
          </a:p>
          <a:p>
            <a:r>
              <a:rPr lang="en-US" b="1" dirty="0"/>
              <a:t>2. State Evaluation</a:t>
            </a:r>
          </a:p>
          <a:p>
            <a:r>
              <a:rPr lang="en-US" dirty="0"/>
              <a:t>Score or judge each path: </a:t>
            </a:r>
          </a:p>
          <a:p>
            <a:pPr lvl="1"/>
            <a:r>
              <a:rPr lang="en-US" dirty="0"/>
              <a:t>Logical correctness </a:t>
            </a:r>
          </a:p>
          <a:p>
            <a:pPr lvl="1"/>
            <a:r>
              <a:rPr lang="en-US" dirty="0"/>
              <a:t>Feasibility </a:t>
            </a:r>
          </a:p>
          <a:p>
            <a:pPr lvl="1"/>
            <a:r>
              <a:rPr lang="en-US" dirty="0"/>
              <a:t>Relevance </a:t>
            </a:r>
          </a:p>
          <a:p>
            <a:r>
              <a:rPr lang="en-US" b="1" dirty="0"/>
              <a:t>3. Search Strategy</a:t>
            </a:r>
          </a:p>
          <a:p>
            <a:r>
              <a:rPr lang="en-US" b="1" dirty="0"/>
              <a:t>Breadth-first</a:t>
            </a:r>
            <a:r>
              <a:rPr lang="en-US" dirty="0"/>
              <a:t>: explore many options shallowly </a:t>
            </a:r>
          </a:p>
          <a:p>
            <a:r>
              <a:rPr lang="en-US" b="1" dirty="0"/>
              <a:t>Depth-first</a:t>
            </a:r>
            <a:r>
              <a:rPr lang="en-US" dirty="0"/>
              <a:t>: go deep into one promising path </a:t>
            </a:r>
          </a:p>
          <a:p>
            <a:r>
              <a:rPr lang="en-US" b="1" dirty="0"/>
              <a:t>Beam search</a:t>
            </a:r>
            <a:r>
              <a:rPr lang="en-US" dirty="0"/>
              <a:t>: keep top </a:t>
            </a:r>
            <a:r>
              <a:rPr lang="en-US" i="1" dirty="0"/>
              <a:t>k</a:t>
            </a:r>
            <a:r>
              <a:rPr lang="en-US" dirty="0"/>
              <a:t> best paths </a:t>
            </a:r>
          </a:p>
          <a:p>
            <a:r>
              <a:rPr lang="en-US" b="1" dirty="0"/>
              <a:t>4. Pruning</a:t>
            </a:r>
          </a:p>
          <a:p>
            <a:r>
              <a:rPr lang="en-US" dirty="0"/>
              <a:t>Drop weak or incorrect branches ❌ </a:t>
            </a:r>
          </a:p>
          <a:p>
            <a:r>
              <a:rPr lang="en-US" dirty="0"/>
              <a:t>Focus computation on stronger paths ✅</a:t>
            </a:r>
          </a:p>
        </p:txBody>
      </p:sp>
    </p:spTree>
    <p:extLst>
      <p:ext uri="{BB962C8B-B14F-4D97-AF65-F5344CB8AC3E}">
        <p14:creationId xmlns:p14="http://schemas.microsoft.com/office/powerpoint/2010/main" val="299135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BD32-8D11-96CE-EA8A-A678B434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Problem: </a:t>
            </a:r>
            <a:r>
              <a:rPr lang="en-IN" dirty="0"/>
              <a:t>"How to increase student engagement in online classes?"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47839-3BBC-601A-E471-8208A8644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ToT Reasoning:</a:t>
            </a:r>
          </a:p>
          <a:p>
            <a:r>
              <a:rPr lang="en-IN" dirty="0"/>
              <a:t>Path 1: Gamification 🎮 </a:t>
            </a:r>
          </a:p>
          <a:p>
            <a:r>
              <a:rPr lang="en-IN" dirty="0"/>
              <a:t>Path 2: Interactive tools 💻 </a:t>
            </a:r>
          </a:p>
          <a:p>
            <a:r>
              <a:rPr lang="en-IN" dirty="0"/>
              <a:t>Path 3: Personalized learning 🎯 </a:t>
            </a:r>
          </a:p>
          <a:p>
            <a:r>
              <a:rPr lang="en-IN" dirty="0"/>
              <a:t>Each path expands:</a:t>
            </a:r>
          </a:p>
          <a:p>
            <a:r>
              <a:rPr lang="en-IN" dirty="0"/>
              <a:t>Gamification → quizzes, leaderboards, rewards </a:t>
            </a:r>
          </a:p>
          <a:p>
            <a:r>
              <a:rPr lang="en-IN" dirty="0"/>
              <a:t>Interactive → polls, breakout rooms </a:t>
            </a:r>
          </a:p>
          <a:p>
            <a:r>
              <a:rPr lang="en-IN" dirty="0"/>
              <a:t>Personalized → adaptive content </a:t>
            </a:r>
          </a:p>
          <a:p>
            <a:r>
              <a:rPr lang="en-IN" dirty="0"/>
              <a:t>Then evaluate:</a:t>
            </a:r>
          </a:p>
          <a:p>
            <a:r>
              <a:rPr lang="en-IN" dirty="0"/>
              <a:t>Which is scalable? </a:t>
            </a:r>
          </a:p>
          <a:p>
            <a:r>
              <a:rPr lang="en-IN" dirty="0"/>
              <a:t>Which fits budget? </a:t>
            </a:r>
          </a:p>
          <a:p>
            <a:r>
              <a:rPr lang="en-IN" dirty="0"/>
              <a:t>Which improves outcomes? </a:t>
            </a:r>
          </a:p>
          <a:p>
            <a:r>
              <a:rPr lang="en-IN" dirty="0"/>
              <a:t>👉 Final answer combines best elements.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71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2356-3687-94CC-536F-38949553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ToT is Powerful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EEA30A-01B0-9D17-9C8A-5628B4D6A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748" y="1376898"/>
            <a:ext cx="11028504" cy="21812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EAF5EF-A54D-0203-1E6F-C51B2575F337}"/>
              </a:ext>
            </a:extLst>
          </p:cNvPr>
          <p:cNvSpPr txBox="1"/>
          <p:nvPr/>
        </p:nvSpPr>
        <p:spPr>
          <a:xfrm>
            <a:off x="838200" y="39860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Limitations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6B7C61-9380-F437-AA86-F5F5D122F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908505"/>
              </p:ext>
            </p:extLst>
          </p:nvPr>
        </p:nvGraphicFramePr>
        <p:xfrm>
          <a:off x="970280" y="4749582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216618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4333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010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Prompting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 answer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0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Chain-of-Thought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reasoning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63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Tree-of-Thoughts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paths +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434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04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A9A5-8C70-6216-EC80-46911F24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ToT Prompt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49BE-15E7-E0FA-E7B5-E8717C3F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Problem: [Your question]</a:t>
            </a:r>
          </a:p>
          <a:p>
            <a:endParaRPr lang="en-US" dirty="0"/>
          </a:p>
          <a:p>
            <a:r>
              <a:rPr lang="en-US" dirty="0"/>
              <a:t>Step 1: Generate 3 possible approaches.</a:t>
            </a:r>
          </a:p>
          <a:p>
            <a:endParaRPr lang="en-US" dirty="0"/>
          </a:p>
          <a:p>
            <a:r>
              <a:rPr lang="en-US" dirty="0"/>
              <a:t>Step 2: For each approach, break into steps.</a:t>
            </a:r>
          </a:p>
          <a:p>
            <a:endParaRPr lang="en-US" dirty="0"/>
          </a:p>
          <a:p>
            <a:r>
              <a:rPr lang="en-US" dirty="0"/>
              <a:t>Step 3: Evaluate each approach (pros/cons).</a:t>
            </a:r>
          </a:p>
          <a:p>
            <a:endParaRPr lang="en-US" dirty="0"/>
          </a:p>
          <a:p>
            <a:r>
              <a:rPr lang="en-US" dirty="0"/>
              <a:t>Step 4: Select the best approach.</a:t>
            </a:r>
          </a:p>
          <a:p>
            <a:endParaRPr lang="en-US" dirty="0"/>
          </a:p>
          <a:p>
            <a:r>
              <a:rPr lang="en-US" dirty="0"/>
              <a:t>Step 5: Provide final answer.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18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D0F-30F8-BE46-3D61-577B7D47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FB9DA6-4252-1621-7D8C-3C37CB5A4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5342"/>
            <a:ext cx="107238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decision-making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strategy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Coding/debugging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problem solving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BC8328E-2D94-9263-7E5C-1938BA921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23AAF8-9DEC-45BF-19CD-6BB13885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3429000"/>
            <a:ext cx="8040222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87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6F512-BAAC-0727-4BBE-FE1D49505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76" y="115190"/>
            <a:ext cx="11669124" cy="657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62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D82D-CD63-4A29-55F5-CBFCABC1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Active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16EA4-9561-A4DC-7B9D-9617DC1C9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Active Prompting</a:t>
            </a:r>
            <a:r>
              <a:rPr lang="en-US" dirty="0"/>
              <a:t> is a prompting technique where the AI </a:t>
            </a:r>
            <a:r>
              <a:rPr lang="en-US" b="1" dirty="0"/>
              <a:t>actively evaluates, questions, and improves its own responses</a:t>
            </a:r>
            <a:r>
              <a:rPr lang="en-US" dirty="0"/>
              <a:t> during the reasoning process.</a:t>
            </a:r>
          </a:p>
          <a:p>
            <a:r>
              <a:rPr lang="en-US" dirty="0"/>
              <a:t>Instead of giving a one-shot answer, the model:</a:t>
            </a:r>
          </a:p>
          <a:p>
            <a:r>
              <a:rPr lang="en-US" dirty="0"/>
              <a:t>Identifies uncertainty or possible errors </a:t>
            </a:r>
          </a:p>
          <a:p>
            <a:r>
              <a:rPr lang="en-US" dirty="0"/>
              <a:t>Revisits and verifies its steps </a:t>
            </a:r>
          </a:p>
          <a:p>
            <a:r>
              <a:rPr lang="en-US" dirty="0"/>
              <a:t>Refines the solution based on feedback or confidence.</a:t>
            </a:r>
          </a:p>
          <a:p>
            <a:r>
              <a:rPr lang="en-US" dirty="0"/>
              <a:t>Active Prompting makes the AI behave like a careful thinker who </a:t>
            </a:r>
            <a:r>
              <a:rPr lang="en-US" b="1" dirty="0"/>
              <a:t>checks, corrects, and improves its own work before finalizing the answer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55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1A6CA-EC36-D755-F537-521A69EB9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52424"/>
            <a:ext cx="10515600" cy="6292215"/>
          </a:xfrm>
        </p:spPr>
        <p:txBody>
          <a:bodyPr numCol="2">
            <a:normAutofit/>
          </a:bodyPr>
          <a:lstStyle/>
          <a:p>
            <a:r>
              <a:rPr lang="en-US" b="1" dirty="0"/>
              <a:t>Active Prompting – Process Flow</a:t>
            </a:r>
          </a:p>
          <a:p>
            <a:r>
              <a:rPr lang="en-US" dirty="0"/>
              <a:t>Think of it as a loop rather than a straight line:</a:t>
            </a:r>
          </a:p>
          <a:p>
            <a:r>
              <a:rPr lang="en-US" b="1" dirty="0"/>
              <a:t>Step 1: Initial Response</a:t>
            </a:r>
          </a:p>
          <a:p>
            <a:r>
              <a:rPr lang="en-US" dirty="0"/>
              <a:t>Model generates a first answer </a:t>
            </a:r>
          </a:p>
          <a:p>
            <a:r>
              <a:rPr lang="en-US" b="1" dirty="0"/>
              <a:t>Step 2: Uncertainty Detection</a:t>
            </a:r>
          </a:p>
          <a:p>
            <a:r>
              <a:rPr lang="en-US" dirty="0"/>
              <a:t>Identifies weak or doubtful parts </a:t>
            </a:r>
          </a:p>
          <a:p>
            <a:r>
              <a:rPr lang="en-US" dirty="0"/>
              <a:t>“Which step might be wrong?” </a:t>
            </a:r>
          </a:p>
          <a:p>
            <a:r>
              <a:rPr lang="en-US" b="1" dirty="0"/>
              <a:t>Step 3: Verification</a:t>
            </a:r>
          </a:p>
          <a:p>
            <a:r>
              <a:rPr lang="en-US" dirty="0"/>
              <a:t>Rechecks logic, calculations, assumptions </a:t>
            </a:r>
          </a:p>
          <a:p>
            <a:r>
              <a:rPr lang="en-US" b="1" dirty="0"/>
              <a:t>Step 4: Refinement</a:t>
            </a:r>
          </a:p>
          <a:p>
            <a:r>
              <a:rPr lang="en-US" dirty="0"/>
              <a:t>Corrects mistakes or improves clarity </a:t>
            </a:r>
          </a:p>
          <a:p>
            <a:r>
              <a:rPr lang="en-US" b="1" dirty="0"/>
              <a:t>Step 5: Final Answer</a:t>
            </a:r>
          </a:p>
          <a:p>
            <a:r>
              <a:rPr lang="en-US" dirty="0"/>
              <a:t>Outputs a more reliable, validated response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174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4548-245F-E074-227E-A894A033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Active Prompting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9A7ADA-ED0E-FD02-BC45-B1C9E38AD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363" y="1449704"/>
            <a:ext cx="6362957" cy="493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37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4EE9-C190-9C44-B187-6D1D5F6C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011EB3-ABDD-42E4-72CC-84D2ED87B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68E15-8120-7900-AFB3-86476C50A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232"/>
            <a:ext cx="10147404" cy="652553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707D7B0-C962-5BB2-1F02-0B462E931B13}"/>
              </a:ext>
            </a:extLst>
          </p:cNvPr>
          <p:cNvSpPr/>
          <p:nvPr/>
        </p:nvSpPr>
        <p:spPr>
          <a:xfrm>
            <a:off x="6096000" y="71120"/>
            <a:ext cx="26416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091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E25D-DCF8-CA49-5D8C-CEB77360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39647-2DF7-4E99-2569-51CF577BB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4C445-3E5E-2919-B2F4-D218CC75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15" y="365124"/>
            <a:ext cx="10705285" cy="630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14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7B30-060C-685B-12F7-F94F6E1C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D4ED8-974B-44D7-0648-250D5A062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6368B-EBE6-AF19-36EC-01366419E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74" y="365125"/>
            <a:ext cx="10917726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06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66E6-785F-A76E-62EF-37C88447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9BEA6-5E6B-19C9-5A05-972E5BA86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22DE5-75F6-85D6-A5E0-61BDD43BB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347960" cy="603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87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1AE7-3D12-3254-B9F9-CE6AA92A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4A0B3-9568-103E-588C-3D1A5DB54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99759-93DB-79F4-925D-5681DD36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4"/>
            <a:ext cx="8183880" cy="605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06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2C64-3BC3-1E13-8F63-B10E9F78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Reason and Act (ReAct)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D1208-23E5-5F9D-50D2-91044A1F5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22" y="1300480"/>
            <a:ext cx="5405978" cy="5160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ReAct (Reasoning + Acting) Prompting is a technique used to improve AI models in solving problems. It combines two important processes i.e reasoning (thinking through the problem) and acting (taking actions based on that thinking). </a:t>
            </a:r>
          </a:p>
          <a:p>
            <a:r>
              <a:rPr lang="en-US" dirty="0"/>
              <a:t>This technique helps AI to take more intelligent and adaptive decisions in dynamic environments like robotics, customer service and decision-making systems.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46F96-FD05-3E75-93EB-B2A0BA951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0" y="933767"/>
            <a:ext cx="5314538" cy="516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02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BC69-9E32-E8A6-1C7F-F5288ACB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29C3F7-203D-33B7-71BF-E71ADFFA8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048" y="1903928"/>
            <a:ext cx="10088383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5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568A-E593-F273-9FD2-CC4A8DFE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A647-9EA7-7BD1-A7A5-673864458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DA9C2-9D3A-F8CC-C4A3-3BBEB47C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821646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69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0C32-D30C-4238-FF63-9B6D31FB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0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7575-29E5-4865-E06D-9CD6D9980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1036320"/>
            <a:ext cx="10515600" cy="4351338"/>
          </a:xfrm>
        </p:spPr>
        <p:txBody>
          <a:bodyPr/>
          <a:lstStyle/>
          <a:p>
            <a:r>
              <a:rPr lang="en-US" dirty="0"/>
              <a:t>Question: Who is the current President of India?</a:t>
            </a:r>
          </a:p>
          <a:p>
            <a:r>
              <a:rPr lang="en-US" dirty="0"/>
              <a:t>ReAct Process:</a:t>
            </a:r>
            <a:br>
              <a:rPr lang="en-US" dirty="0"/>
            </a:br>
            <a:r>
              <a:rPr lang="en-US" dirty="0"/>
              <a:t>Thought: I need up-to-date information</a:t>
            </a:r>
            <a:br>
              <a:rPr lang="en-US" dirty="0"/>
            </a:br>
            <a:r>
              <a:rPr lang="en-US" dirty="0"/>
              <a:t>Action: Search("President of India")</a:t>
            </a:r>
            <a:br>
              <a:rPr lang="en-US" dirty="0"/>
            </a:br>
            <a:r>
              <a:rPr lang="en-US" dirty="0"/>
              <a:t>Observation: </a:t>
            </a:r>
            <a:r>
              <a:rPr lang="en-US" dirty="0" err="1"/>
              <a:t>Droupadi</a:t>
            </a:r>
            <a:r>
              <a:rPr lang="en-US" dirty="0"/>
              <a:t> Murmu</a:t>
            </a:r>
            <a:br>
              <a:rPr lang="en-US" dirty="0"/>
            </a:br>
            <a:r>
              <a:rPr lang="en-US" dirty="0"/>
              <a:t>Thought: The answer is identified</a:t>
            </a:r>
            <a:br>
              <a:rPr lang="en-US" dirty="0"/>
            </a:br>
            <a:r>
              <a:rPr lang="en-US" dirty="0"/>
              <a:t>Final Answer: </a:t>
            </a:r>
            <a:r>
              <a:rPr lang="en-US" dirty="0" err="1"/>
              <a:t>Droupadi</a:t>
            </a:r>
            <a:r>
              <a:rPr lang="en-US" dirty="0"/>
              <a:t> Murmu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936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4E23-B984-C580-9A80-5237915C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Expert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42F4-BA36-C3F5-A7AA-8B9F9C9BF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Expert Prompting</a:t>
            </a:r>
            <a:r>
              <a:rPr lang="en-US" dirty="0"/>
              <a:t> sits right at the top like a seasoned captain steering the ship . Let’s decode your image in a crisp, structured way. </a:t>
            </a:r>
          </a:p>
          <a:p>
            <a:r>
              <a:rPr lang="en-US" dirty="0"/>
              <a:t>Expert Prompting = giving the AI a complete creative brief</a:t>
            </a:r>
          </a:p>
          <a:p>
            <a:r>
              <a:rPr lang="en-US" dirty="0"/>
              <a:t>You define </a:t>
            </a:r>
            <a:r>
              <a:rPr lang="en-US" b="1" dirty="0"/>
              <a:t>tone, format, constraints, examples, and expectations</a:t>
            </a:r>
            <a:r>
              <a:rPr lang="en-US" dirty="0"/>
              <a:t> so the AI responds like a trained professional.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3D22-BC73-FA8F-9B03-AC6E197D1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42892"/>
            <a:ext cx="7554379" cy="186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98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E296F-367C-BDF2-A122-E2DCD6B43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77" y="623992"/>
            <a:ext cx="4481143" cy="56100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3E821-E1ED-1428-D31F-148B007E5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918" y="623992"/>
            <a:ext cx="3860392" cy="30346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0A224C-9431-297B-6E15-82ADDC518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918" y="3728582"/>
            <a:ext cx="3860392" cy="2505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1232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C446-E346-97A8-CBD6-32A158C2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Automatic Prompt Engineering (APE)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F038-0436-B7E6-30F2-9976D62A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Automatic Prompt Engineering (APE)</a:t>
            </a:r>
            <a:r>
              <a:rPr lang="en-US" dirty="0"/>
              <a:t> is a technique where AI systems automatically create, evaluate, and optimize prompts to improve performance on a task.</a:t>
            </a:r>
          </a:p>
          <a:p>
            <a:pPr marL="0" indent="0">
              <a:buNone/>
            </a:pPr>
            <a:r>
              <a:rPr lang="en-US" b="1" dirty="0"/>
              <a:t>Core Idea</a:t>
            </a:r>
          </a:p>
          <a:p>
            <a:r>
              <a:rPr lang="en-US" dirty="0"/>
              <a:t>Instead of asking: “Write a good prompt for summarization”</a:t>
            </a:r>
          </a:p>
          <a:p>
            <a:pPr marL="0" indent="0">
              <a:buNone/>
            </a:pPr>
            <a:r>
              <a:rPr lang="en-US" b="1" dirty="0"/>
              <a:t>APE does this internally:</a:t>
            </a:r>
          </a:p>
          <a:p>
            <a:r>
              <a:rPr lang="en-US" dirty="0"/>
              <a:t>Generates multiple prompts. </a:t>
            </a:r>
          </a:p>
          <a:p>
            <a:r>
              <a:rPr lang="en-US" dirty="0"/>
              <a:t>Tests them on examples.</a:t>
            </a:r>
          </a:p>
          <a:p>
            <a:r>
              <a:rPr lang="en-US" dirty="0"/>
              <a:t>Scores outputs. </a:t>
            </a:r>
          </a:p>
          <a:p>
            <a:r>
              <a:rPr lang="en-US" dirty="0"/>
              <a:t>Selects the best-performing prompt. </a:t>
            </a:r>
          </a:p>
          <a:p>
            <a:r>
              <a:rPr lang="en-US" dirty="0"/>
              <a:t>It’s like running a mini competition where prompts fight for survival.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91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3DBD-7F47-D664-F1CE-369B47D1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Process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C2BC04-7573-DD5F-DA53-73A133BC7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316" y="1574453"/>
            <a:ext cx="961732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creates multiple candidate prompts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prompt is used on sample inputs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 are scored (accuracy, relevance, quality)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prompt is chosen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repeats to improve further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C5F45-F13E-275B-C1F4-996B81298829}"/>
              </a:ext>
            </a:extLst>
          </p:cNvPr>
          <p:cNvSpPr txBox="1"/>
          <p:nvPr/>
        </p:nvSpPr>
        <p:spPr>
          <a:xfrm>
            <a:off x="965200" y="4436775"/>
            <a:ext cx="10038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 Task → Generate Prompts → Test → Score → Pick Best → Improve → Final Prompt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358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DD24-B837-884B-F17C-123D72C41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F74B5-6A11-F56C-3297-1F1CE4C2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Task : </a:t>
            </a:r>
            <a:r>
              <a:rPr lang="en-US" dirty="0"/>
              <a:t>Translate English to French</a:t>
            </a:r>
          </a:p>
          <a:p>
            <a:pPr marL="0" indent="0">
              <a:buNone/>
            </a:pPr>
            <a:r>
              <a:rPr lang="en-US" b="1" dirty="0"/>
              <a:t>APE Generated Prompts</a:t>
            </a:r>
          </a:p>
          <a:p>
            <a:pPr marL="0" indent="0">
              <a:buNone/>
            </a:pPr>
            <a:r>
              <a:rPr lang="en-US" dirty="0"/>
              <a:t>“Translate the sentence into French” </a:t>
            </a:r>
          </a:p>
          <a:p>
            <a:pPr marL="0" indent="0">
              <a:buNone/>
            </a:pPr>
            <a:r>
              <a:rPr lang="en-US" dirty="0"/>
              <a:t>“Convert the following English text to formal French” </a:t>
            </a:r>
          </a:p>
          <a:p>
            <a:pPr marL="0" indent="0">
              <a:buNone/>
            </a:pPr>
            <a:r>
              <a:rPr lang="en-US" dirty="0"/>
              <a:t>“Act as a professional translator and translate accurately” </a:t>
            </a:r>
          </a:p>
          <a:p>
            <a:pPr marL="0" indent="0">
              <a:buNone/>
            </a:pPr>
            <a:r>
              <a:rPr lang="en-US" dirty="0"/>
              <a:t>APE tests all and selects the one giving best results consistently.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618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54CCB-6199-81C3-85C1-55031AC4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616584"/>
            <a:ext cx="3987801" cy="5560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It Matters</a:t>
            </a:r>
          </a:p>
          <a:p>
            <a:pPr marL="0" indent="0">
              <a:buNone/>
            </a:pPr>
            <a:r>
              <a:rPr lang="en-US" dirty="0"/>
              <a:t>Without APE:</a:t>
            </a:r>
          </a:p>
          <a:p>
            <a:pPr marL="0" indent="0">
              <a:buNone/>
            </a:pPr>
            <a:r>
              <a:rPr lang="en-US" dirty="0"/>
              <a:t>Trial and error by humans </a:t>
            </a:r>
          </a:p>
          <a:p>
            <a:pPr marL="0" indent="0">
              <a:buNone/>
            </a:pPr>
            <a:r>
              <a:rPr lang="en-US" dirty="0"/>
              <a:t>Time-consuming </a:t>
            </a:r>
          </a:p>
          <a:p>
            <a:pPr marL="0" indent="0">
              <a:buNone/>
            </a:pPr>
            <a:r>
              <a:rPr lang="en-US" dirty="0"/>
              <a:t>Inconsistent quality </a:t>
            </a:r>
          </a:p>
          <a:p>
            <a:pPr marL="0" indent="0">
              <a:buNone/>
            </a:pPr>
            <a:r>
              <a:rPr lang="en-US" b="1" dirty="0"/>
              <a:t>With APE:</a:t>
            </a:r>
          </a:p>
          <a:p>
            <a:pPr marL="0" indent="0">
              <a:buNone/>
            </a:pPr>
            <a:r>
              <a:rPr lang="en-US" dirty="0"/>
              <a:t>Faster optimization </a:t>
            </a:r>
          </a:p>
          <a:p>
            <a:pPr marL="0" indent="0">
              <a:buNone/>
            </a:pPr>
            <a:r>
              <a:rPr lang="en-US" dirty="0"/>
              <a:t>Better performance </a:t>
            </a:r>
          </a:p>
          <a:p>
            <a:pPr marL="0" indent="0">
              <a:buNone/>
            </a:pPr>
            <a:r>
              <a:rPr lang="en-US" dirty="0"/>
              <a:t>Scalable across tasks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45171-5A6A-8419-66B9-73B165246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281" y="680721"/>
            <a:ext cx="7208520" cy="52323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797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938</Words>
  <Application>Microsoft Office PowerPoint</Application>
  <PresentationFormat>Widescreen</PresentationFormat>
  <Paragraphs>135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Module - X:  Advanced Prompt Engineering: Tree-of-Thoughts (ToT) Prompting, Active prompting, Reason and Act (ReAct), Expert Prompting, Automatic Prompt Engineering (APE). </vt:lpstr>
      <vt:lpstr>Advanced Prompt Engineering:  Tree-of-Thoughts (ToT) Prompting</vt:lpstr>
      <vt:lpstr>ToT</vt:lpstr>
      <vt:lpstr>Examples </vt:lpstr>
      <vt:lpstr>Key Components</vt:lpstr>
      <vt:lpstr>Problem: "How to increase student engagement in online classes?"</vt:lpstr>
      <vt:lpstr>Why ToT is Powerful</vt:lpstr>
      <vt:lpstr>Simple ToT Prompt Template</vt:lpstr>
      <vt:lpstr>Applications </vt:lpstr>
      <vt:lpstr>PowerPoint Presentation</vt:lpstr>
      <vt:lpstr>Active prompting</vt:lpstr>
      <vt:lpstr>PowerPoint Presentation</vt:lpstr>
      <vt:lpstr>Examples of Active Prompting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Reason and Act (ReAct)</vt:lpstr>
      <vt:lpstr>PowerPoint Presentation</vt:lpstr>
      <vt:lpstr>PowerPoint Presentation</vt:lpstr>
      <vt:lpstr>Example </vt:lpstr>
      <vt:lpstr>Expert Prompting</vt:lpstr>
      <vt:lpstr>PowerPoint Presentation</vt:lpstr>
      <vt:lpstr>Automatic Prompt Engineering (APE)</vt:lpstr>
      <vt:lpstr>Work Process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mudraola</dc:creator>
  <cp:lastModifiedBy>swapna mudraola</cp:lastModifiedBy>
  <cp:revision>15</cp:revision>
  <dcterms:created xsi:type="dcterms:W3CDTF">2026-03-08T15:23:59Z</dcterms:created>
  <dcterms:modified xsi:type="dcterms:W3CDTF">2026-03-24T09:07:19Z</dcterms:modified>
</cp:coreProperties>
</file>