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589A3-BFED-1521-189D-443D5062E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37361D-DA6C-D2A7-2E37-A35C533417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5E14A-47F0-37B0-E7E4-04D98364A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9B522-C631-47A6-9CEC-2A67FF66A3B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4FAEB-BA21-F745-64DA-2E6FA7061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1B04F-35A7-AED6-D0FE-2F85A8E50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E78FD-D605-4032-881E-63863C0B0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738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B5B7-97BF-0642-E044-7E39D4513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6386E-B11E-A706-25B0-C41EA55AE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5F46E-04C8-5F7B-33ED-3F78F4272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9B522-C631-47A6-9CEC-2A67FF66A3B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30594-2A96-9A6C-583B-AF3A3FB42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1A2EA-FDC3-B022-DF59-1919FF09B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E78FD-D605-4032-881E-63863C0B0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685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E6BCC-7195-B557-3228-E627198A2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72E34-C8F8-E9C1-30D5-F75B0B0D9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1E262-97FE-39E6-CB12-3048C2F4A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9B522-C631-47A6-9CEC-2A67FF66A3B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7A43D-50AD-7207-5FC9-31FA70990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845F4-2C5B-26C4-49BC-9A65F0F6B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E78FD-D605-4032-881E-63863C0B0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240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1CFE0-9A99-7581-DDAE-6B49382B9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82A7F-7B04-A60B-EEDA-55DF397AC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3D93B-A901-A4A1-97D7-53C9EB965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8B2E7-4E88-6A4E-B087-A09B2CA24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9B522-C631-47A6-9CEC-2A67FF66A3B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66DC7-1E62-676B-16BC-C27B9BC4F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2E23F-9537-6606-005F-6CECD9B42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E78FD-D605-4032-881E-63863C0B0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287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71722-3F08-F0BA-41D4-9A6E40C7D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67DB5-5BE4-21F4-2756-AA082C111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7CA59-1B65-1F06-F493-CA8B24C5C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EFAE85-8A0D-BDE5-D840-08541AF432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76FFC2-159E-1D09-4C2F-CBB9EA6189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0A4212-37BC-9419-CC68-A6214A96B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9B522-C631-47A6-9CEC-2A67FF66A3B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9277DF-B7DB-ABE2-7A29-2BD201272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AD3E5-BDAF-BDFE-5E07-CEB35128E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E78FD-D605-4032-881E-63863C0B0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3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B5B43-5FA1-C347-5638-A89491C55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1C9483-4A69-361F-60B4-25354F3E5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9B522-C631-47A6-9CEC-2A67FF66A3B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8BA65E-3160-34A0-B097-0B3490AFE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B50EB5-6122-4CFD-7942-2593946E7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E78FD-D605-4032-881E-63863C0B0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31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6C8EA6-EC84-5361-C96B-41CA16B5F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9B522-C631-47A6-9CEC-2A67FF66A3B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C918C1-CDE9-8F03-B0BD-52A6FAAAF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F77F6-D826-7DDA-C1E4-8618002E9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E78FD-D605-4032-881E-63863C0B0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237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6A163-112B-B5C1-6E9F-8F8D3BFFE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7B4CD-7A7A-0C51-FBC2-D35A3F087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B167B7-1561-D522-E43E-0F1C97ADD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DE818-A0C5-8574-4C1A-E80216900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9B522-C631-47A6-9CEC-2A67FF66A3B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C20AF-E437-01A9-03C4-FBDBF0EC2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1AC06-E5A1-1F89-BF28-2326F95E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E78FD-D605-4032-881E-63863C0B0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522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35EA6-3AF1-EF6D-D6E8-92EC78C92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A198F8-77CC-66B4-9FB8-26E619DFFE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1F1D0D-7DD7-ECE0-4CFA-1FF05B0CB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2E93A-1B38-908C-98B6-61770BD0D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9B522-C631-47A6-9CEC-2A67FF66A3B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23DF1-E902-2760-0C6C-A93B94D86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5B46B-79C6-90D6-7764-74D669518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E78FD-D605-4032-881E-63863C0B0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240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B9CF0-9BEF-B5E2-4DCC-EB96AD226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B9788-6A9B-4632-C4AB-F7E84471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CFC29-A57A-7894-D43C-009CDB30B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9B522-C631-47A6-9CEC-2A67FF66A3B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E3FC5-6E42-7E34-4784-08BCD153E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CB3EA-3ADB-4899-08C2-4CE85930D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E78FD-D605-4032-881E-63863C0B0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885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41F1B7-78A2-AB5B-60F1-4AFD6890F7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19C666-9825-7BE2-3D40-CAB1C146AC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09F48-FA27-B70A-4E34-F5454E2C9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9B522-C631-47A6-9CEC-2A67FF66A3B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A3AD5-3F18-F1C0-3CFD-53D17BF38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BB604-9950-A7C8-8469-0E2782002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E78FD-D605-4032-881E-63863C0B0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857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2AD632-E8B4-3DE7-1D5A-0D3309BE9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1052D-9328-6A5A-90DC-70A77A69D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3B086-F150-767F-B8CD-032A31650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9B522-C631-47A6-9CEC-2A67FF66A3B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6B21D-67B1-2970-867B-45028966C8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80E77-5073-7C3A-7286-BAD59628D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E78FD-D605-4032-881E-63863C0B0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92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AF721-95A6-2201-25B3-F08894F828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9</a:t>
            </a:r>
            <a:b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Prompt Engineering: Prompts for coding tasks, prompts for education and tutoring, prompts for business automation, Prompts for research assistance.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B2DAB-6698-8551-6ECC-62BB3E7267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0016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E01AB-1AAB-E2C0-9B25-E7F676FF1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Domain-Specific Prompt Engineering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B1D9DA-296C-D751-38C7-43719E40F474}"/>
              </a:ext>
            </a:extLst>
          </p:cNvPr>
          <p:cNvSpPr txBox="1"/>
          <p:nvPr/>
        </p:nvSpPr>
        <p:spPr>
          <a:xfrm>
            <a:off x="838200" y="1777364"/>
            <a:ext cx="93624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Domain-Specific Prompt Engineering</a:t>
            </a:r>
            <a:r>
              <a:rPr lang="en-US" dirty="0"/>
              <a:t> means designing prompts that are tailored for a </a:t>
            </a:r>
            <a:r>
              <a:rPr lang="en-US" b="1" dirty="0"/>
              <a:t>particular field or industry</a:t>
            </a:r>
            <a:r>
              <a:rPr lang="en-US" dirty="0"/>
              <a:t> Rather than using general prompts.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Each domain such as healthcare, finance, or law has its own terminology, rules,</a:t>
            </a:r>
          </a:p>
          <a:p>
            <a:r>
              <a:rPr lang="en-US" dirty="0"/>
              <a:t>      and professional standards.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Therefore, prompts must be written in a way that reflects the knowledge, context, and  requirements of that specific field.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7121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BDCAA-60AC-9D57-6571-402EB1F99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0242"/>
            <a:ext cx="10515600" cy="58367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r>
              <a:rPr lang="en-US" dirty="0"/>
              <a:t>Domain-Specific Prompt Engineering is the process of </a:t>
            </a:r>
            <a:r>
              <a:rPr lang="en-US" b="1" dirty="0"/>
              <a:t>customizing prompts according to the needs, terminology, and regulations of a specific domain</a:t>
            </a:r>
            <a:r>
              <a:rPr lang="en-US" dirty="0"/>
              <a:t> to obtain accurate and relevant AI responses.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b="1" dirty="0"/>
              <a:t>Domain Adaptation</a:t>
            </a:r>
          </a:p>
          <a:p>
            <a:r>
              <a:rPr lang="en-US" dirty="0"/>
              <a:t>Prompts should match the </a:t>
            </a:r>
            <a:r>
              <a:rPr lang="en-US" b="1" dirty="0"/>
              <a:t>language and concepts used in a particular industry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Example:</a:t>
            </a:r>
          </a:p>
          <a:p>
            <a:r>
              <a:rPr lang="en-US" dirty="0"/>
              <a:t>Medical prompts use clinical terms.</a:t>
            </a:r>
          </a:p>
          <a:p>
            <a:r>
              <a:rPr lang="en-US" dirty="0"/>
              <a:t>Financial prompts use economic and accounting terms.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520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84273-7A7F-FD05-E368-EB294D2AD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7878B-B708-40FB-1EF5-D25045A68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Contextual Specificity</a:t>
            </a:r>
          </a:p>
          <a:p>
            <a:r>
              <a:rPr lang="en-US" dirty="0"/>
              <a:t>The prompt must provide </a:t>
            </a:r>
            <a:r>
              <a:rPr lang="en-US" b="1" dirty="0"/>
              <a:t>clear background information</a:t>
            </a:r>
            <a:r>
              <a:rPr lang="en-US" dirty="0"/>
              <a:t> so the AI understands the situation.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Instead of writing</a:t>
            </a:r>
            <a:br>
              <a:rPr lang="en-US" dirty="0"/>
            </a:br>
            <a:r>
              <a:rPr lang="en-US" dirty="0"/>
              <a:t>“Explain treatment.”</a:t>
            </a:r>
          </a:p>
          <a:p>
            <a:r>
              <a:rPr lang="en-US" dirty="0"/>
              <a:t>Write</a:t>
            </a:r>
            <a:br>
              <a:rPr lang="en-US" dirty="0"/>
            </a:br>
            <a:r>
              <a:rPr lang="en-US" dirty="0"/>
              <a:t>“Explain treatment options for type-2 diabetes in adult patients.”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700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5745C-34B2-4132-B259-F5FB20AFD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Terminology Precision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EABB5-BF63-3380-8004-CFA2BB4A4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field has </a:t>
            </a:r>
            <a:r>
              <a:rPr lang="en-US" b="1" dirty="0"/>
              <a:t>technical vocabulary and acronyms</a:t>
            </a:r>
            <a:r>
              <a:rPr lang="en-US" dirty="0"/>
              <a:t>. Using the correct terminology improves the quality of responses.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Medical: diagnosis, prognosis, symptoms</a:t>
            </a:r>
          </a:p>
          <a:p>
            <a:r>
              <a:rPr lang="en-US" dirty="0"/>
              <a:t>Finance: ROI, equity, liabilities</a:t>
            </a:r>
          </a:p>
          <a:p>
            <a:r>
              <a:rPr lang="en-US" dirty="0"/>
              <a:t>Legal: clause, jurisdiction, statute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5500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6D8F5-4284-79D6-AF9A-EF035A709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Regulatory and Ethical Awareness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60964-8D5D-04E0-F841-EFE947AA5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domains are </a:t>
            </a:r>
            <a:r>
              <a:rPr lang="en-US" b="1" dirty="0"/>
              <a:t>highly regulated</a:t>
            </a:r>
            <a:r>
              <a:rPr lang="en-US" dirty="0"/>
              <a:t>, so prompts should consider rules and ethical standards.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Healthcare → patient privacy</a:t>
            </a:r>
          </a:p>
          <a:p>
            <a:r>
              <a:rPr lang="en-US" dirty="0"/>
              <a:t>Finance → regulatory compliance</a:t>
            </a:r>
          </a:p>
          <a:p>
            <a:r>
              <a:rPr lang="en-US" dirty="0"/>
              <a:t>Law → legal accuracy and jurisdiction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9524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3735C-0B17-525C-338C-F45C26BE4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Output Formatting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25ECC-7EEC-78A4-8C43-8755FEB69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response format should follow </a:t>
            </a:r>
            <a:r>
              <a:rPr lang="en-US" b="1" dirty="0"/>
              <a:t>professional standards of the domain</a:t>
            </a:r>
            <a:r>
              <a:rPr lang="en-US" dirty="0"/>
              <a:t>.</a:t>
            </a:r>
          </a:p>
          <a:p>
            <a:r>
              <a:rPr lang="en-US" dirty="0"/>
              <a:t>Examples:</a:t>
            </a:r>
          </a:p>
          <a:p>
            <a:r>
              <a:rPr lang="en-US" b="1" dirty="0"/>
              <a:t>Medical:</a:t>
            </a:r>
            <a:r>
              <a:rPr lang="en-US" dirty="0"/>
              <a:t> SOAP format (Subjective, Objective, Assessment, Plan)</a:t>
            </a:r>
          </a:p>
          <a:p>
            <a:r>
              <a:rPr lang="en-US" b="1" dirty="0"/>
              <a:t>Legal:</a:t>
            </a:r>
            <a:r>
              <a:rPr lang="en-US" dirty="0"/>
              <a:t> numbered clauses and sections</a:t>
            </a:r>
          </a:p>
          <a:p>
            <a:r>
              <a:rPr lang="en-US" b="1" dirty="0"/>
              <a:t>Finance:</a:t>
            </a:r>
            <a:r>
              <a:rPr lang="en-US" dirty="0"/>
              <a:t> balance sheets, profit/loss statements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4030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F1FDE-77F9-831B-25EF-ECB583573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9064"/>
            <a:ext cx="10515600" cy="6393815"/>
          </a:xfrm>
        </p:spPr>
        <p:txBody>
          <a:bodyPr numCol="2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Prompt Examples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"Summarize treatment options for hypertension using clinical terminology."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"Analyze quarterly sales data and highlight profit trends."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"Draft a simple confidentiality agreement with numbered clauses."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"Explain database normalization for undergraduate students."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"Identify security vulnerabilities in the given system description."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"Generate a brief market analysis for an AI startup."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"Explain the working principle of a heat engine with key equations."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"Describe steps to build a machine learning classification model."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Resources: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"Create interview questions for a software developer role."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"Write a short digital marketing strategy for a new product."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"Summarize recent trends in federated learning research."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"Suggest sustainable farming techniques for improving soil health."</a:t>
            </a:r>
          </a:p>
        </p:txBody>
      </p:sp>
    </p:spTree>
    <p:extLst>
      <p:ext uri="{BB962C8B-B14F-4D97-AF65-F5344CB8AC3E}">
        <p14:creationId xmlns:p14="http://schemas.microsoft.com/office/powerpoint/2010/main" val="313550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A882E-22C0-CCFC-8F60-94575DAE1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760" y="250824"/>
            <a:ext cx="10515600" cy="639381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Basic Syntax </a:t>
            </a:r>
          </a:p>
          <a:p>
            <a:pPr marL="0" indent="0">
              <a:buNone/>
            </a:pPr>
            <a:r>
              <a:rPr lang="en-US" dirty="0"/>
              <a:t>Domain + Task/Action + Specific Context + Output Format</a:t>
            </a:r>
          </a:p>
          <a:p>
            <a:pPr marL="0" indent="0">
              <a:buNone/>
            </a:pPr>
            <a:r>
              <a:rPr lang="en-US" dirty="0"/>
              <a:t>[Domain/Role] + [Task] + [Topic or Problem] + [Context/Details] + [Expected Output Format]</a:t>
            </a:r>
          </a:p>
          <a:p>
            <a:r>
              <a:rPr lang="en-US" b="1" dirty="0"/>
              <a:t>Domain / Role</a:t>
            </a:r>
            <a:br>
              <a:rPr lang="en-US" dirty="0"/>
            </a:br>
            <a:r>
              <a:rPr lang="en-US" dirty="0"/>
              <a:t>Specify the professional field.</a:t>
            </a:r>
            <a:br>
              <a:rPr lang="en-US" dirty="0"/>
            </a:br>
            <a:r>
              <a:rPr lang="en-US" dirty="0"/>
              <a:t>Example: Healthcare, Finance, Legal, Education</a:t>
            </a:r>
          </a:p>
          <a:p>
            <a:r>
              <a:rPr lang="en-US" b="1" dirty="0"/>
              <a:t>Task / Action</a:t>
            </a:r>
            <a:br>
              <a:rPr lang="en-US" dirty="0"/>
            </a:br>
            <a:r>
              <a:rPr lang="en-US" dirty="0"/>
              <a:t>Tell the AI what to do.</a:t>
            </a:r>
            <a:br>
              <a:rPr lang="en-US" dirty="0"/>
            </a:br>
            <a:r>
              <a:rPr lang="en-US" dirty="0"/>
              <a:t>Example: Explain, Analyze, Generate, Summarize</a:t>
            </a:r>
          </a:p>
          <a:p>
            <a:r>
              <a:rPr lang="en-US" b="1" dirty="0"/>
              <a:t>Topic / Problem</a:t>
            </a:r>
            <a:br>
              <a:rPr lang="en-US" dirty="0"/>
            </a:br>
            <a:r>
              <a:rPr lang="en-US" dirty="0"/>
              <a:t>Mention the specific subject.</a:t>
            </a:r>
            <a:br>
              <a:rPr lang="en-US" dirty="0"/>
            </a:br>
            <a:r>
              <a:rPr lang="en-US" dirty="0"/>
              <a:t>Example: Diabetes treatment, Balance sheet analysis</a:t>
            </a:r>
          </a:p>
          <a:p>
            <a:r>
              <a:rPr lang="en-US" b="1" dirty="0"/>
              <a:t>Context / Details</a:t>
            </a:r>
            <a:br>
              <a:rPr lang="en-US" dirty="0"/>
            </a:br>
            <a:r>
              <a:rPr lang="en-US" dirty="0"/>
              <a:t>Provide background information if required.</a:t>
            </a:r>
          </a:p>
          <a:p>
            <a:r>
              <a:rPr lang="en-US" b="1" dirty="0"/>
              <a:t>Output Format</a:t>
            </a:r>
            <a:br>
              <a:rPr lang="en-US" dirty="0"/>
            </a:br>
            <a:r>
              <a:rPr lang="en-US" dirty="0"/>
              <a:t>Mention how the answer should appear.</a:t>
            </a:r>
            <a:br>
              <a:rPr lang="en-US" dirty="0"/>
            </a:br>
            <a:r>
              <a:rPr lang="en-US" dirty="0"/>
              <a:t>Example: Table, Report, Bullet points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9382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0E2DF-F7DA-DDC5-F16A-76DF4D151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7680"/>
            <a:ext cx="10515600" cy="56892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Applications</a:t>
            </a:r>
          </a:p>
          <a:p>
            <a:pPr marL="0" indent="0">
              <a:buNone/>
            </a:pPr>
            <a:r>
              <a:rPr lang="en-IN" b="1" dirty="0"/>
              <a:t>Healthcare</a:t>
            </a:r>
            <a:endParaRPr lang="en-IN" dirty="0"/>
          </a:p>
          <a:p>
            <a:r>
              <a:rPr lang="en-IN" dirty="0"/>
              <a:t>Medical report analysis</a:t>
            </a:r>
          </a:p>
          <a:p>
            <a:r>
              <a:rPr lang="en-IN" dirty="0"/>
              <a:t>Patient care summaries</a:t>
            </a:r>
          </a:p>
          <a:p>
            <a:r>
              <a:rPr lang="en-IN" dirty="0"/>
              <a:t>Clinical documentation</a:t>
            </a:r>
          </a:p>
          <a:p>
            <a:pPr marL="0" indent="0">
              <a:buNone/>
            </a:pPr>
            <a:r>
              <a:rPr lang="en-IN" b="1" dirty="0"/>
              <a:t>Finance</a:t>
            </a:r>
            <a:endParaRPr lang="en-IN" dirty="0"/>
          </a:p>
          <a:p>
            <a:r>
              <a:rPr lang="en-IN" dirty="0"/>
              <a:t>Financial data analysis</a:t>
            </a:r>
          </a:p>
          <a:p>
            <a:r>
              <a:rPr lang="en-IN" dirty="0"/>
              <a:t>Fraud detection</a:t>
            </a:r>
          </a:p>
          <a:p>
            <a:r>
              <a:rPr lang="en-IN" dirty="0"/>
              <a:t>Investment insights</a:t>
            </a:r>
          </a:p>
          <a:p>
            <a:pPr marL="0" indent="0">
              <a:buNone/>
            </a:pPr>
            <a:r>
              <a:rPr lang="en-IN" b="1" dirty="0"/>
              <a:t>Legal</a:t>
            </a:r>
            <a:endParaRPr lang="en-IN" dirty="0"/>
          </a:p>
          <a:p>
            <a:r>
              <a:rPr lang="en-IN" dirty="0"/>
              <a:t>Drafting legal documents</a:t>
            </a:r>
          </a:p>
          <a:p>
            <a:r>
              <a:rPr lang="en-IN" dirty="0"/>
              <a:t>Contract analysis</a:t>
            </a:r>
          </a:p>
          <a:p>
            <a:r>
              <a:rPr lang="en-IN" dirty="0"/>
              <a:t>Case summaries</a:t>
            </a:r>
          </a:p>
        </p:txBody>
      </p:sp>
    </p:spTree>
    <p:extLst>
      <p:ext uri="{BB962C8B-B14F-4D97-AF65-F5344CB8AC3E}">
        <p14:creationId xmlns:p14="http://schemas.microsoft.com/office/powerpoint/2010/main" val="379226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C708-8332-EA0D-9734-35F0D307B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Prompts for Coding Tasks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31279-099D-E33C-DA3F-F42158C10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writing prompts for </a:t>
            </a:r>
            <a:r>
              <a:rPr lang="en-US" b="1" dirty="0"/>
              <a:t>coding tasks</a:t>
            </a:r>
            <a:r>
              <a:rPr lang="en-US" dirty="0"/>
              <a:t>, the prompt should guide the AI like a precise blueprint. </a:t>
            </a:r>
          </a:p>
          <a:p>
            <a:r>
              <a:rPr lang="en-US" dirty="0"/>
              <a:t>A vague request produces messy code. </a:t>
            </a:r>
          </a:p>
          <a:p>
            <a:r>
              <a:rPr lang="en-US" dirty="0"/>
              <a:t>A structured prompt produces clean, usable programs.</a:t>
            </a:r>
          </a:p>
          <a:p>
            <a:r>
              <a:rPr lang="en-US" dirty="0"/>
              <a:t>Think of it like giving a chef a recipe instead of just saying “make food.”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0243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BEEFE-391E-60B3-868F-94E72F39F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Considerations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DFE9F-B8D8-3FA1-77A6-B05F724C9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Programming Language</a:t>
            </a:r>
          </a:p>
          <a:p>
            <a:r>
              <a:rPr lang="en-US" dirty="0"/>
              <a:t>Always specify the language.</a:t>
            </a:r>
          </a:p>
          <a:p>
            <a:r>
              <a:rPr lang="en-US" dirty="0"/>
              <a:t>Example</a:t>
            </a:r>
            <a:br>
              <a:rPr lang="en-US" dirty="0"/>
            </a:br>
            <a:r>
              <a:rPr lang="en-US" dirty="0"/>
              <a:t>“Write a program in </a:t>
            </a:r>
            <a:r>
              <a:rPr lang="en-US" b="1" dirty="0"/>
              <a:t>Python</a:t>
            </a:r>
            <a:r>
              <a:rPr lang="en-US" dirty="0"/>
              <a:t> to sort a list.”</a:t>
            </a:r>
          </a:p>
          <a:p>
            <a:pPr marL="0" indent="0">
              <a:buNone/>
            </a:pPr>
            <a:r>
              <a:rPr lang="en-US" b="1" dirty="0"/>
              <a:t>2. Problem Description</a:t>
            </a:r>
          </a:p>
          <a:p>
            <a:r>
              <a:rPr lang="en-US" dirty="0"/>
              <a:t>Clearly describe the task.</a:t>
            </a:r>
          </a:p>
          <a:p>
            <a:r>
              <a:rPr lang="en-US" dirty="0"/>
              <a:t>Example</a:t>
            </a:r>
            <a:br>
              <a:rPr lang="en-US" dirty="0"/>
            </a:br>
            <a:r>
              <a:rPr lang="en-US" dirty="0"/>
              <a:t>“Create a program that finds the </a:t>
            </a:r>
            <a:r>
              <a:rPr lang="en-US" b="1" dirty="0"/>
              <a:t>largest number in an array</a:t>
            </a:r>
            <a:r>
              <a:rPr lang="en-US" dirty="0"/>
              <a:t>.”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7806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E23D3-9F22-3D75-E5BE-A274C6DA1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7040"/>
            <a:ext cx="10515600" cy="57299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Input and Output</a:t>
            </a:r>
          </a:p>
          <a:p>
            <a:r>
              <a:rPr lang="en-US" dirty="0"/>
              <a:t>Define expected inputs and outputs.</a:t>
            </a:r>
          </a:p>
          <a:p>
            <a:r>
              <a:rPr lang="en-US" dirty="0"/>
              <a:t>Example</a:t>
            </a:r>
            <a:br>
              <a:rPr lang="en-US" dirty="0"/>
            </a:br>
            <a:r>
              <a:rPr lang="en-US" dirty="0"/>
              <a:t>Input: List of integers</a:t>
            </a:r>
            <a:br>
              <a:rPr lang="en-US" dirty="0"/>
            </a:br>
            <a:r>
              <a:rPr lang="en-US" dirty="0"/>
              <a:t>Output: Maximum value</a:t>
            </a:r>
          </a:p>
          <a:p>
            <a:pPr marL="0" indent="0">
              <a:buNone/>
            </a:pPr>
            <a:r>
              <a:rPr lang="en-US" b="1" dirty="0"/>
              <a:t>4. Constraints and Conditions</a:t>
            </a:r>
          </a:p>
          <a:p>
            <a:r>
              <a:rPr lang="en-US" dirty="0"/>
              <a:t>Mention limitations or requirements.</a:t>
            </a:r>
          </a:p>
          <a:p>
            <a:r>
              <a:rPr lang="en-US" dirty="0"/>
              <a:t>Examples</a:t>
            </a:r>
          </a:p>
          <a:p>
            <a:r>
              <a:rPr lang="en-US" dirty="0"/>
              <a:t>Time complexity</a:t>
            </a:r>
          </a:p>
          <a:p>
            <a:r>
              <a:rPr lang="en-US" dirty="0"/>
              <a:t>Memory usage</a:t>
            </a:r>
          </a:p>
          <a:p>
            <a:r>
              <a:rPr lang="en-US" dirty="0"/>
              <a:t>Edge cases</a:t>
            </a:r>
          </a:p>
        </p:txBody>
      </p:sp>
    </p:spTree>
    <p:extLst>
      <p:ext uri="{BB962C8B-B14F-4D97-AF65-F5344CB8AC3E}">
        <p14:creationId xmlns:p14="http://schemas.microsoft.com/office/powerpoint/2010/main" val="879102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2DB8A-6C75-4407-2EEE-B887AE178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0024"/>
            <a:ext cx="10515600" cy="621093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5. Code Structure</a:t>
            </a:r>
          </a:p>
          <a:p>
            <a:r>
              <a:rPr lang="en-US" dirty="0"/>
              <a:t>Specify how the code should be organized.</a:t>
            </a:r>
          </a:p>
          <a:p>
            <a:r>
              <a:rPr lang="en-US" dirty="0"/>
              <a:t>Examples</a:t>
            </a:r>
          </a:p>
          <a:p>
            <a:r>
              <a:rPr lang="en-US" dirty="0"/>
              <a:t>Functions</a:t>
            </a:r>
          </a:p>
          <a:p>
            <a:r>
              <a:rPr lang="en-US" dirty="0"/>
              <a:t>Classes</a:t>
            </a:r>
          </a:p>
          <a:p>
            <a:r>
              <a:rPr lang="en-US" dirty="0"/>
              <a:t>Modular code</a:t>
            </a:r>
          </a:p>
          <a:p>
            <a:pPr marL="0" indent="0">
              <a:buNone/>
            </a:pPr>
            <a:r>
              <a:rPr lang="en-US" b="1" dirty="0"/>
              <a:t>6. Documentation</a:t>
            </a:r>
          </a:p>
          <a:p>
            <a:r>
              <a:rPr lang="en-US" dirty="0"/>
              <a:t>Ask for comments or explanations.</a:t>
            </a:r>
          </a:p>
          <a:p>
            <a:r>
              <a:rPr lang="en-US" dirty="0"/>
              <a:t>Example</a:t>
            </a:r>
            <a:br>
              <a:rPr lang="en-US" dirty="0"/>
            </a:br>
            <a:r>
              <a:rPr lang="en-US" dirty="0"/>
              <a:t>“Include comments explaining each step.”</a:t>
            </a:r>
          </a:p>
          <a:p>
            <a:pPr marL="0" indent="0">
              <a:buNone/>
            </a:pPr>
            <a:r>
              <a:rPr lang="en-US" b="1" dirty="0"/>
              <a:t>7. Testing</a:t>
            </a:r>
          </a:p>
          <a:p>
            <a:r>
              <a:rPr lang="en-US" dirty="0"/>
              <a:t>Request test cases.</a:t>
            </a:r>
          </a:p>
          <a:p>
            <a:r>
              <a:rPr lang="en-US" dirty="0"/>
              <a:t>Example</a:t>
            </a:r>
            <a:br>
              <a:rPr lang="en-US" dirty="0"/>
            </a:br>
            <a:r>
              <a:rPr lang="en-US" dirty="0"/>
              <a:t>“Provide sample inputs and outputs to test the program.”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903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C195B-1700-824D-4678-6920198BB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920" y="28130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8. Optimization</a:t>
            </a:r>
          </a:p>
          <a:p>
            <a:r>
              <a:rPr lang="en-US" dirty="0"/>
              <a:t>Ask for efficient solutions.</a:t>
            </a:r>
          </a:p>
          <a:p>
            <a:r>
              <a:rPr lang="en-US" dirty="0"/>
              <a:t>Example</a:t>
            </a:r>
            <a:br>
              <a:rPr lang="en-US" dirty="0"/>
            </a:br>
            <a:r>
              <a:rPr lang="en-US" dirty="0"/>
              <a:t>“Optimize the algorithm for large datasets.”</a:t>
            </a:r>
          </a:p>
          <a:p>
            <a:endParaRPr lang="en-US" dirty="0"/>
          </a:p>
          <a:p>
            <a:r>
              <a:rPr lang="en-IN" b="1" dirty="0"/>
              <a:t>Simple Coding Prompt Template</a:t>
            </a:r>
          </a:p>
          <a:p>
            <a:r>
              <a:rPr lang="en-IN" b="1" dirty="0"/>
              <a:t>Language + Task + Input + Output + Constraints + Format</a:t>
            </a:r>
            <a:endParaRPr lang="en-IN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2898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196EB-CEEF-25E9-1D64-706A7E82D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E81E98C-1B54-6833-3A68-14A70A209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D296F73-30C9-326B-89F1-9D3A65AF8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2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825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8B2D3-B604-AA7F-67DD-73E9204A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Task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7A179-FE15-E872-A21E-BCEA729E9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Create prompts that generate the same algorithm (e.g., factorial or sorting) in Python, Java, and C++. Compare the syntax and structure of the generated code.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prompts that generate test cases for a given function (e.g., prime number check or palindrome detection). Evaluate whether the generated test cases cover edge conditions.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Provide a program without comments. Write prompts asking AI to generate proper documentation and comments explaining the code functionality.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different prompts to generate the same program. Evaluate the generated code based on accuracy, efficiency, readability, and prompt length.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4630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8BBB6-FD09-9217-5F5C-F7F30060D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Check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FDCF3D-4324-74E0-1759-F143E81418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6120" y="1960244"/>
            <a:ext cx="10515600" cy="352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3819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8F6DC-D242-5E08-CBFF-4740CA069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Prompts for Education and Tutoring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2F10D-F003-32A2-4A57-D4F3D7A2F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Educational and tutoring prompts</a:t>
            </a:r>
            <a:r>
              <a:rPr lang="en-US" dirty="0"/>
              <a:t> are instructions given to an AI system to help </a:t>
            </a:r>
            <a:r>
              <a:rPr lang="en-US" b="1" dirty="0"/>
              <a:t>teach concepts, explain topics, generate learning materials, assess student understanding, and support personalized learning</a:t>
            </a:r>
            <a:r>
              <a:rPr lang="en-US" dirty="0"/>
              <a:t>. </a:t>
            </a:r>
          </a:p>
          <a:p>
            <a:r>
              <a:rPr lang="en-US" dirty="0"/>
              <a:t>These prompts guide the AI to act like a </a:t>
            </a:r>
            <a:r>
              <a:rPr lang="en-US" b="1" dirty="0"/>
              <a:t>teacher, tutor, or learning assistant</a:t>
            </a:r>
            <a:r>
              <a:rPr lang="en-US" dirty="0"/>
              <a:t>, providing explanations, examples, exercises, and feedback for students.</a:t>
            </a:r>
          </a:p>
          <a:p>
            <a:r>
              <a:rPr lang="en-US" b="1" dirty="0"/>
              <a:t>General Syntax for Educational Prompts</a:t>
            </a:r>
          </a:p>
          <a:p>
            <a:r>
              <a:rPr lang="en-US" b="1" dirty="0"/>
              <a:t>Role + Learning Level + Task + Topic + Output Format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6469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B8027-795D-38FF-FFCE-57800E2D9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EB4372-8759-D2F3-D124-DDD6B86F78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686" y="0"/>
            <a:ext cx="11120114" cy="642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427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910AC-A7CD-0635-B24A-A4C1C285A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Educational Prompt Framework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F91968-4604-11CF-2055-5AA3621130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1080" y="1367518"/>
            <a:ext cx="7015480" cy="294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802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E48E0-3A2A-ADF6-80BD-2005E5F15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E25359-88D8-C2D6-6BE7-654DA8F1A4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080" y="0"/>
            <a:ext cx="11785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2384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8653A-0064-4F42-7CFB-FA0C23BBE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Prompts for Business Automation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6537A-40F5-6DE0-EA55-0A6F52187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Business automation prompts</a:t>
            </a:r>
            <a:r>
              <a:rPr lang="en-US" dirty="0"/>
              <a:t> are instructions given to AI systems to </a:t>
            </a:r>
            <a:r>
              <a:rPr lang="en-US" b="1" dirty="0"/>
              <a:t>automate routine business processes</a:t>
            </a:r>
            <a:r>
              <a:rPr lang="en-US" dirty="0"/>
              <a:t>, such as generating reports, analyzing data, handling customer communication, scheduling tasks, and supporting decision-making.</a:t>
            </a:r>
          </a:p>
          <a:p>
            <a:r>
              <a:rPr lang="en-US" dirty="0"/>
              <a:t> These prompts help organizations </a:t>
            </a:r>
            <a:r>
              <a:rPr lang="en-US" b="1" dirty="0"/>
              <a:t>reduce manual work, improve efficiency, and streamline operations</a:t>
            </a:r>
            <a:r>
              <a:rPr lang="en-US" dirty="0"/>
              <a:t> across departments like marketing, finance, HR, a</a:t>
            </a:r>
          </a:p>
          <a:p>
            <a:r>
              <a:rPr lang="en-US" dirty="0"/>
              <a:t>nd customer support.</a:t>
            </a:r>
          </a:p>
          <a:p>
            <a:pPr marL="0" indent="0">
              <a:buNone/>
            </a:pPr>
            <a:r>
              <a:rPr lang="en-US" b="1" dirty="0"/>
              <a:t>General Syntax for Business Automation Prompts</a:t>
            </a:r>
          </a:p>
          <a:p>
            <a:r>
              <a:rPr lang="en-US" b="1" dirty="0"/>
              <a:t>Role + Business Task + Data/Context + Expected Output Format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66446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68B1E-6C90-CDDD-E56C-EDBF067FA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235"/>
          </a:xfrm>
        </p:spPr>
        <p:txBody>
          <a:bodyPr/>
          <a:lstStyle/>
          <a:p>
            <a:r>
              <a:rPr lang="en-US" b="1" dirty="0"/>
              <a:t>Considerations </a:t>
            </a:r>
            <a:endParaRPr lang="en-IN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17C7CE-0ED4-9081-1299-DC5563AD6C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3090155"/>
              </p:ext>
            </p:extLst>
          </p:nvPr>
        </p:nvGraphicFramePr>
        <p:xfrm>
          <a:off x="838200" y="1330960"/>
          <a:ext cx="11008360" cy="5273038"/>
        </p:xfrm>
        <a:graphic>
          <a:graphicData uri="http://schemas.openxmlformats.org/drawingml/2006/table">
            <a:tbl>
              <a:tblPr>
                <a:tableStyleId>{327F97BB-C833-4FB7-BDE5-3F7075034690}</a:tableStyleId>
              </a:tblPr>
              <a:tblGrid>
                <a:gridCol w="2321560">
                  <a:extLst>
                    <a:ext uri="{9D8B030D-6E8A-4147-A177-3AD203B41FA5}">
                      <a16:colId xmlns:a16="http://schemas.microsoft.com/office/drawing/2014/main" val="513294727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1503956196"/>
                    </a:ext>
                  </a:extLst>
                </a:gridCol>
              </a:tblGrid>
              <a:tr h="397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Parameter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Description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176310"/>
                  </a:ext>
                </a:extLst>
              </a:tr>
              <a:tr h="696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Business Objective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Clearly state the goal such as reporting, analysis, or automation.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0630074"/>
                  </a:ext>
                </a:extLst>
              </a:tr>
              <a:tr h="696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Data Input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Specify the type of data the AI should process (sales data, customer feedback, etc.).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632934"/>
                  </a:ext>
                </a:extLst>
              </a:tr>
              <a:tr h="696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Task Specification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Clearly define the task such as summarize, analyze, generate, or automate.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918920"/>
                  </a:ext>
                </a:extLst>
              </a:tr>
              <a:tr h="696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Output Format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Mention whether the output should be a report, table, email draft, or dashboard summary.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6473253"/>
                  </a:ext>
                </a:extLst>
              </a:tr>
              <a:tr h="696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Accuracy and Compliance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Ensure the output follows business policies and regulatory guidelines.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570028"/>
                  </a:ext>
                </a:extLst>
              </a:tr>
              <a:tr h="696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Scalability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Design prompts that can work with large datasets or repeated tasks.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283699"/>
                  </a:ext>
                </a:extLst>
              </a:tr>
              <a:tr h="696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Integration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Ensure prompts support integration with tools like CRM, ERP, or analytics systems.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1890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476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26ED6-C61A-837A-AF20-36D0FC69B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71CAA7-930D-489C-51AD-280AE39990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560" y="365124"/>
            <a:ext cx="11308080" cy="5995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312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12A9C-13C3-DF54-E82C-8A0F8C8F1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automation prompts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2935E-2218-F5CB-9FD6-3AD6934B7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Business automation prompts</a:t>
            </a:r>
            <a:r>
              <a:rPr lang="en-US" dirty="0"/>
              <a:t> are instructions given to AI systems to </a:t>
            </a:r>
            <a:r>
              <a:rPr lang="en-US" b="1" dirty="0"/>
              <a:t>automate routine business processes</a:t>
            </a:r>
            <a:r>
              <a:rPr lang="en-US" dirty="0"/>
              <a:t>, such as generating reports, analyzing data, handling customer communication, scheduling tasks, and supporting decision-making. These prompts help organizations </a:t>
            </a:r>
            <a:r>
              <a:rPr lang="en-US" b="1" dirty="0"/>
              <a:t>reduce manual work, improve efficiency, and streamline operations</a:t>
            </a:r>
            <a:r>
              <a:rPr lang="en-US" dirty="0"/>
              <a:t> across departments like marketing, finance, HR, and customer support.</a:t>
            </a:r>
          </a:p>
          <a:p>
            <a:r>
              <a:rPr lang="en-IN" b="1" dirty="0"/>
              <a:t>Simple Prompt Structure</a:t>
            </a:r>
          </a:p>
          <a:p>
            <a:r>
              <a:rPr lang="en-IN" b="1" dirty="0"/>
              <a:t>Business Role + Action + Data + Format</a:t>
            </a:r>
            <a:endParaRPr lang="en-IN" dirty="0"/>
          </a:p>
          <a:p>
            <a:r>
              <a:rPr lang="en-IN" dirty="0"/>
              <a:t>Example:</a:t>
            </a:r>
            <a:br>
              <a:rPr lang="en-IN" dirty="0"/>
            </a:br>
            <a:r>
              <a:rPr lang="en-IN" b="1" dirty="0"/>
              <a:t>Finance Analyst + Analyze + Sales Data + Report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51124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CD211-5CBA-7815-D49A-6A0E37734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Consideration</a:t>
            </a:r>
            <a:endParaRPr lang="en-IN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0356FC-9EE8-0C1C-8D07-8DB36D3C0EB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75209" y="1825625"/>
          <a:ext cx="9441582" cy="4351338"/>
        </p:xfrm>
        <a:graphic>
          <a:graphicData uri="http://schemas.openxmlformats.org/drawingml/2006/table">
            <a:tbl>
              <a:tblPr/>
              <a:tblGrid>
                <a:gridCol w="4720791">
                  <a:extLst>
                    <a:ext uri="{9D8B030D-6E8A-4147-A177-3AD203B41FA5}">
                      <a16:colId xmlns:a16="http://schemas.microsoft.com/office/drawing/2014/main" val="2421215750"/>
                    </a:ext>
                  </a:extLst>
                </a:gridCol>
                <a:gridCol w="4720791">
                  <a:extLst>
                    <a:ext uri="{9D8B030D-6E8A-4147-A177-3AD203B41FA5}">
                      <a16:colId xmlns:a16="http://schemas.microsoft.com/office/drawing/2014/main" val="1473847893"/>
                    </a:ext>
                  </a:extLst>
                </a:gridCol>
              </a:tblGrid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Parameter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Description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51471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Business Objective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Clearly state the goal such as reporting, analysis, or automation.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699567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Data Input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Specify the type of data the AI should process (sales data, customer feedback, etc.).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224853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Task Specification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Clearly define the task such as summarize, analyze, generate, or automate.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78284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Output Format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Mention whether the output should be a report, table, email draft, or dashboard summary.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002748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Accuracy and Compliance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Ensure the output follows business policies and regulatory guidelines.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92670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Scalability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Design prompts that can work with large datasets or repeated tasks.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49815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Integration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Ensure prompts support integration with tools like CRM, ERP, or analytics systems.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790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73121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3AC2-8DA9-21FF-FFE4-8680AC615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2BFDCC-167C-4344-25B7-CE0B9B4C77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19989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437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15DC4-D530-A961-2377-2D7F7CF68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Prompts for Research Assistance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813DF-1248-CB2D-2261-A7429D19B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Research assistance prompts</a:t>
            </a:r>
            <a:r>
              <a:rPr lang="en-US" dirty="0"/>
              <a:t> are structured instructions given to AI systems to help researchers </a:t>
            </a:r>
            <a:r>
              <a:rPr lang="en-US" b="1" dirty="0"/>
              <a:t>explore topics, review literature, summarize papers, analyze data, generate research questions, and organize findings</a:t>
            </a:r>
            <a:r>
              <a:rPr lang="en-US" dirty="0"/>
              <a:t>. </a:t>
            </a:r>
          </a:p>
          <a:p>
            <a:r>
              <a:rPr lang="en-US" dirty="0"/>
              <a:t>These prompts guide AI to act like a </a:t>
            </a:r>
            <a:r>
              <a:rPr lang="en-US" b="1" dirty="0"/>
              <a:t>research assistant</a:t>
            </a:r>
            <a:r>
              <a:rPr lang="en-US" dirty="0"/>
              <a:t>, supporting tasks in academic studies, scientific investigations, and scholarly writing.</a:t>
            </a:r>
          </a:p>
          <a:p>
            <a:r>
              <a:rPr lang="en-US" b="1" dirty="0"/>
              <a:t>General Syntax for Research Prompts</a:t>
            </a:r>
          </a:p>
          <a:p>
            <a:r>
              <a:rPr lang="en-US" b="1"/>
              <a:t>Research Role + Research Task + Topic + Context + Output Format</a:t>
            </a:r>
            <a:endParaRPr lang="en-US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10060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ACC09-9CBA-A4B2-D432-DDC804EBC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4715"/>
          </a:xfrm>
        </p:spPr>
        <p:txBody>
          <a:bodyPr/>
          <a:lstStyle/>
          <a:p>
            <a:r>
              <a:rPr lang="en-US" dirty="0"/>
              <a:t>Considerations 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8D41463-51B4-914A-A2C8-AC43443CC0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1374865"/>
              </p:ext>
            </p:extLst>
          </p:nvPr>
        </p:nvGraphicFramePr>
        <p:xfrm>
          <a:off x="683688" y="1175384"/>
          <a:ext cx="9892872" cy="538797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62189">
                  <a:extLst>
                    <a:ext uri="{9D8B030D-6E8A-4147-A177-3AD203B41FA5}">
                      <a16:colId xmlns:a16="http://schemas.microsoft.com/office/drawing/2014/main" val="2928045489"/>
                    </a:ext>
                  </a:extLst>
                </a:gridCol>
                <a:gridCol w="6230683">
                  <a:extLst>
                    <a:ext uri="{9D8B030D-6E8A-4147-A177-3AD203B41FA5}">
                      <a16:colId xmlns:a16="http://schemas.microsoft.com/office/drawing/2014/main" val="2456271156"/>
                    </a:ext>
                  </a:extLst>
                </a:gridCol>
              </a:tblGrid>
              <a:tr h="353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Parameter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Description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2507593"/>
                  </a:ext>
                </a:extLst>
              </a:tr>
              <a:tr h="353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Research Objective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Clearly define the research goal or question.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5408960"/>
                  </a:ext>
                </a:extLst>
              </a:tr>
              <a:tr h="618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Domain Specification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Mention the specific research field (AI, healthcare, economics, etc.).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861646"/>
                  </a:ext>
                </a:extLst>
              </a:tr>
              <a:tr h="618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Data Sources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Specify whether to use journals, articles, datasets, or reports.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600515"/>
                  </a:ext>
                </a:extLst>
              </a:tr>
              <a:tr h="618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Depth of Analysis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Indicate whether a brief summary or detailed analysis is required.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347894"/>
                  </a:ext>
                </a:extLst>
              </a:tr>
              <a:tr h="618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Citation Style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Request citations in formats like APA, IEEE, or MLA if needed.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9462821"/>
                  </a:ext>
                </a:extLst>
              </a:tr>
              <a:tr h="618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Methodology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Specify the research method such as qualitative or quantitative analysis.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1539284"/>
                  </a:ext>
                </a:extLst>
              </a:tr>
              <a:tr h="618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Output Structure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Define format such as report, table, summary, or bullet points.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904537"/>
                  </a:ext>
                </a:extLst>
              </a:tr>
              <a:tr h="353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Accuracy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Ensure information is evidence-based and verifiable.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758421"/>
                  </a:ext>
                </a:extLst>
              </a:tr>
              <a:tr h="618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Ethical Considerations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Avoid plagiarism and ensure proper citation of sources.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6969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6840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E58837-41B9-61F9-ABDC-2B2E56FC6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" y="159232"/>
            <a:ext cx="11948160" cy="648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938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1675</Words>
  <Application>Microsoft Office PowerPoint</Application>
  <PresentationFormat>Widescreen</PresentationFormat>
  <Paragraphs>191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Times New Roman</vt:lpstr>
      <vt:lpstr>Wingdings</vt:lpstr>
      <vt:lpstr>Office Theme</vt:lpstr>
      <vt:lpstr>Module 9 Domain-Specific Prompt Engineering: Prompts for coding tasks, prompts for education and tutoring, prompts for business automation, Prompts for research assistance.</vt:lpstr>
      <vt:lpstr>Domain-Specific Prompt Engineering</vt:lpstr>
      <vt:lpstr>PowerPoint Presentation</vt:lpstr>
      <vt:lpstr>PowerPoint Presentation</vt:lpstr>
      <vt:lpstr>Terminology Precision</vt:lpstr>
      <vt:lpstr>Regulatory and Ethical Awareness</vt:lpstr>
      <vt:lpstr>Output Formatting</vt:lpstr>
      <vt:lpstr>PowerPoint Presentation</vt:lpstr>
      <vt:lpstr>PowerPoint Presentation</vt:lpstr>
      <vt:lpstr>PowerPoint Presentation</vt:lpstr>
      <vt:lpstr>Prompts for Coding Tasks</vt:lpstr>
      <vt:lpstr>Considerations </vt:lpstr>
      <vt:lpstr>PowerPoint Presentation</vt:lpstr>
      <vt:lpstr>PowerPoint Presentation</vt:lpstr>
      <vt:lpstr>PowerPoint Presentation</vt:lpstr>
      <vt:lpstr>PowerPoint Presentation</vt:lpstr>
      <vt:lpstr>Lab Task </vt:lpstr>
      <vt:lpstr>Quality Check </vt:lpstr>
      <vt:lpstr>Prompts for Education and Tutoring</vt:lpstr>
      <vt:lpstr>PowerPoint Presentation</vt:lpstr>
      <vt:lpstr>Educational Prompt Framework</vt:lpstr>
      <vt:lpstr>PowerPoint Presentation</vt:lpstr>
      <vt:lpstr>Prompts for Business Automation</vt:lpstr>
      <vt:lpstr>Considerations </vt:lpstr>
      <vt:lpstr>PowerPoint Presentation</vt:lpstr>
      <vt:lpstr>Business automation prompts</vt:lpstr>
      <vt:lpstr>Consideration</vt:lpstr>
      <vt:lpstr>PowerPoint Presentation</vt:lpstr>
      <vt:lpstr>Prompts for Research Assistance</vt:lpstr>
      <vt:lpstr>Considerations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 mudraola</dc:creator>
  <cp:lastModifiedBy>swapna mudraola</cp:lastModifiedBy>
  <cp:revision>18</cp:revision>
  <dcterms:created xsi:type="dcterms:W3CDTF">2026-03-09T08:37:46Z</dcterms:created>
  <dcterms:modified xsi:type="dcterms:W3CDTF">2026-03-23T08:10:39Z</dcterms:modified>
</cp:coreProperties>
</file>