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4" r:id="rId24"/>
    <p:sldId id="278" r:id="rId25"/>
    <p:sldId id="279" r:id="rId26"/>
    <p:sldId id="281" r:id="rId27"/>
    <p:sldId id="282" r:id="rId28"/>
    <p:sldId id="280" r:id="rId29"/>
    <p:sldId id="283"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BC71-D01D-6A99-F7B6-1D2D2A5063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D09446E-2790-C553-5B98-6D4A772592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945256F-97F0-5A76-53B6-982080D02103}"/>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5" name="Footer Placeholder 4">
            <a:extLst>
              <a:ext uri="{FF2B5EF4-FFF2-40B4-BE49-F238E27FC236}">
                <a16:creationId xmlns:a16="http://schemas.microsoft.com/office/drawing/2014/main" id="{DB98441C-9A03-6C35-6C55-86A0729882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AF126E-D0C6-4CF7-2435-06CA91F41901}"/>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1093439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04C5F-FD28-AACE-AA1B-11DB6972AC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450CF3-2FE0-6111-CC60-E0B801E66E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D16B96-82DF-AEFF-C1C2-8CD10179B348}"/>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5" name="Footer Placeholder 4">
            <a:extLst>
              <a:ext uri="{FF2B5EF4-FFF2-40B4-BE49-F238E27FC236}">
                <a16:creationId xmlns:a16="http://schemas.microsoft.com/office/drawing/2014/main" id="{BF811AD1-828E-25EF-6FD1-6BBE0A17F5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6FA1CA-F026-6AF6-B5E0-526CEC55C678}"/>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97578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D7B58-595C-7891-61D0-4FB026C8F8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DCACF14-4155-EDE4-E9F5-B6F2FED940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0A6036-AA86-A670-8B3C-45EA8EBB6C6A}"/>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5" name="Footer Placeholder 4">
            <a:extLst>
              <a:ext uri="{FF2B5EF4-FFF2-40B4-BE49-F238E27FC236}">
                <a16:creationId xmlns:a16="http://schemas.microsoft.com/office/drawing/2014/main" id="{273E7204-CAD6-F3EC-D615-A07C899057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98452-FD9F-8626-207C-CC5745E87EBB}"/>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1470176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693BA-8790-753E-CBB2-2EBFE431EC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1A27F3-1E20-FC9A-683B-2759E33894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AC347E-DEA6-BD3D-2659-F7BF79DD16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F88767-1D4E-1EAD-295A-CE2D6C5FF488}"/>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6" name="Footer Placeholder 5">
            <a:extLst>
              <a:ext uri="{FF2B5EF4-FFF2-40B4-BE49-F238E27FC236}">
                <a16:creationId xmlns:a16="http://schemas.microsoft.com/office/drawing/2014/main" id="{710C00A8-1506-6DCA-1826-16EDF524D4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103147-FD4C-A484-34D3-CC9F530DCBF4}"/>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550098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83BFA-B866-0F15-2542-9A5158743D5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193E03-0074-AE0A-9BB2-6912818D3F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5D2862-461F-6C7C-6CF0-5233F0DF0A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FF37BF-9195-A174-0436-8866296A0B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41041-FFEA-7230-F0A7-2ABF4D8A33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C99A85-67AD-D730-2E55-EA3C20CCB3B4}"/>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8" name="Footer Placeholder 7">
            <a:extLst>
              <a:ext uri="{FF2B5EF4-FFF2-40B4-BE49-F238E27FC236}">
                <a16:creationId xmlns:a16="http://schemas.microsoft.com/office/drawing/2014/main" id="{8E0DA15E-CD5F-3F33-5FB7-7855A72BE34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10696A3-BE00-1483-7E7F-E56E3B4D0535}"/>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4248750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6C9B7-2A4D-3ABF-7693-5AE9C974ECD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86D0EF-9F3F-D958-202D-303A39857A7D}"/>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4" name="Footer Placeholder 3">
            <a:extLst>
              <a:ext uri="{FF2B5EF4-FFF2-40B4-BE49-F238E27FC236}">
                <a16:creationId xmlns:a16="http://schemas.microsoft.com/office/drawing/2014/main" id="{54FC5953-03E5-DBE4-AF91-7554DFA8A1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7C28216-780B-54B5-CAB7-4D97BFBCCDA0}"/>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2853903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61318-478C-E84C-0BBC-162E15CDF7CE}"/>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3" name="Footer Placeholder 2">
            <a:extLst>
              <a:ext uri="{FF2B5EF4-FFF2-40B4-BE49-F238E27FC236}">
                <a16:creationId xmlns:a16="http://schemas.microsoft.com/office/drawing/2014/main" id="{811D7BEB-61B6-E432-2D79-78F6CCC46F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5042E4-D9B2-2EDE-C2BD-BDCFA3A5F2FD}"/>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1782528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E5426-FF79-05FE-DE18-97666FD871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31EDDC3-0358-96AD-D37E-0EB5EB9295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0AFB42-DC51-3573-0BF6-18ECA406D0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9449BF-033E-5283-BB31-84CCCAA57B6E}"/>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6" name="Footer Placeholder 5">
            <a:extLst>
              <a:ext uri="{FF2B5EF4-FFF2-40B4-BE49-F238E27FC236}">
                <a16:creationId xmlns:a16="http://schemas.microsoft.com/office/drawing/2014/main" id="{76624957-C927-9CC5-BF42-5F4793B79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47CC43-3CA1-01D2-72DC-5A7C4370D39F}"/>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1606334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B2687-F763-B22A-022C-5DE46E06C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D44A41-E336-86F8-8B38-5C700F3DBD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06C6F6D-88D0-428F-8937-5C8F360344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EC01F3-06D4-B170-8FA9-ADBB9EDD6881}"/>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6" name="Footer Placeholder 5">
            <a:extLst>
              <a:ext uri="{FF2B5EF4-FFF2-40B4-BE49-F238E27FC236}">
                <a16:creationId xmlns:a16="http://schemas.microsoft.com/office/drawing/2014/main" id="{F46A8A82-33BD-5A4C-17EC-C542348B19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2ED1D1-5E55-EBF8-3365-168684E70B4A}"/>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379709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74CE5-1249-9CA4-AB84-C076A7D6A4E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CBF590-55BE-5B24-C29B-1F62DC2CAC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EA958E-B29F-A734-A314-ED84417102DA}"/>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5" name="Footer Placeholder 4">
            <a:extLst>
              <a:ext uri="{FF2B5EF4-FFF2-40B4-BE49-F238E27FC236}">
                <a16:creationId xmlns:a16="http://schemas.microsoft.com/office/drawing/2014/main" id="{9323AF6C-01C8-1CB5-4A61-2827AD68EE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4DAFBE-E0D1-1B83-C642-2D67866BC4A7}"/>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225925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1B0592-B597-B230-7C63-565510DD34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646DC2-FEEF-FD6A-F277-9087D2DA4D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CBB853-A8AC-9C68-3CED-5BAB4BED1B78}"/>
              </a:ext>
            </a:extLst>
          </p:cNvPr>
          <p:cNvSpPr>
            <a:spLocks noGrp="1"/>
          </p:cNvSpPr>
          <p:nvPr>
            <p:ph type="dt" sz="half" idx="10"/>
          </p:nvPr>
        </p:nvSpPr>
        <p:spPr/>
        <p:txBody>
          <a:bodyPr/>
          <a:lstStyle/>
          <a:p>
            <a:fld id="{2D3B463D-18E6-492C-8CDD-32299A85E8E3}" type="datetimeFigureOut">
              <a:rPr lang="en-IN" smtClean="0"/>
              <a:t>24-02-2026</a:t>
            </a:fld>
            <a:endParaRPr lang="en-IN"/>
          </a:p>
        </p:txBody>
      </p:sp>
      <p:sp>
        <p:nvSpPr>
          <p:cNvPr id="5" name="Footer Placeholder 4">
            <a:extLst>
              <a:ext uri="{FF2B5EF4-FFF2-40B4-BE49-F238E27FC236}">
                <a16:creationId xmlns:a16="http://schemas.microsoft.com/office/drawing/2014/main" id="{96AF5334-BA0D-5164-B7EB-184F062DE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BBA0E-3F0E-0F7E-A383-D38F691A7D64}"/>
              </a:ext>
            </a:extLst>
          </p:cNvPr>
          <p:cNvSpPr>
            <a:spLocks noGrp="1"/>
          </p:cNvSpPr>
          <p:nvPr>
            <p:ph type="sldNum" sz="quarter" idx="12"/>
          </p:nvPr>
        </p:nvSpPr>
        <p:spPr/>
        <p:txBody>
          <a:bodyPr/>
          <a:lstStyle/>
          <a:p>
            <a:fld id="{172F28BA-B70B-4764-90E6-019BBB814CE8}" type="slidenum">
              <a:rPr lang="en-IN" smtClean="0"/>
              <a:t>‹#›</a:t>
            </a:fld>
            <a:endParaRPr lang="en-IN"/>
          </a:p>
        </p:txBody>
      </p:sp>
    </p:spTree>
    <p:extLst>
      <p:ext uri="{BB962C8B-B14F-4D97-AF65-F5344CB8AC3E}">
        <p14:creationId xmlns:p14="http://schemas.microsoft.com/office/powerpoint/2010/main" val="3625915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EB6128-7E48-E0B2-F5B2-8F07894206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783B06-32DE-EF67-3F1B-696CC275EA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6A19BF-2C7D-457D-9E5C-5AE1F9CE6C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3B463D-18E6-492C-8CDD-32299A85E8E3}" type="datetimeFigureOut">
              <a:rPr lang="en-IN" smtClean="0"/>
              <a:t>24-02-2026</a:t>
            </a:fld>
            <a:endParaRPr lang="en-IN"/>
          </a:p>
        </p:txBody>
      </p:sp>
      <p:sp>
        <p:nvSpPr>
          <p:cNvPr id="5" name="Footer Placeholder 4">
            <a:extLst>
              <a:ext uri="{FF2B5EF4-FFF2-40B4-BE49-F238E27FC236}">
                <a16:creationId xmlns:a16="http://schemas.microsoft.com/office/drawing/2014/main" id="{8A547156-66E4-92EA-DE7B-47B1CAE99A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9E9442-AB77-DB24-4217-0813CCB97D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F28BA-B70B-4764-90E6-019BBB814CE8}" type="slidenum">
              <a:rPr lang="en-IN" smtClean="0"/>
              <a:t>‹#›</a:t>
            </a:fld>
            <a:endParaRPr lang="en-IN"/>
          </a:p>
        </p:txBody>
      </p:sp>
    </p:spTree>
    <p:extLst>
      <p:ext uri="{BB962C8B-B14F-4D97-AF65-F5344CB8AC3E}">
        <p14:creationId xmlns:p14="http://schemas.microsoft.com/office/powerpoint/2010/main" val="37126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A686D-6097-B2D0-8A0A-BC39A5A586E7}"/>
              </a:ext>
            </a:extLst>
          </p:cNvPr>
          <p:cNvSpPr>
            <a:spLocks noGrp="1"/>
          </p:cNvSpPr>
          <p:nvPr>
            <p:ph type="ctrTitle"/>
          </p:nvPr>
        </p:nvSpPr>
        <p:spPr/>
        <p:txBody>
          <a:bodyPr/>
          <a:lstStyle/>
          <a:p>
            <a:r>
              <a:rPr lang="en-US" dirty="0"/>
              <a:t>Module 7 </a:t>
            </a:r>
            <a:endParaRPr lang="en-IN" dirty="0"/>
          </a:p>
        </p:txBody>
      </p:sp>
      <p:sp>
        <p:nvSpPr>
          <p:cNvPr id="3" name="Subtitle 2">
            <a:extLst>
              <a:ext uri="{FF2B5EF4-FFF2-40B4-BE49-F238E27FC236}">
                <a16:creationId xmlns:a16="http://schemas.microsoft.com/office/drawing/2014/main" id="{9DE2DAB7-A07C-BCCB-0F32-D151D5007C22}"/>
              </a:ext>
            </a:extLst>
          </p:cNvPr>
          <p:cNvSpPr>
            <a:spLocks noGrp="1"/>
          </p:cNvSpPr>
          <p:nvPr>
            <p:ph type="subTitle" idx="1"/>
          </p:nvPr>
        </p:nvSpPr>
        <p:spPr/>
        <p:txBody>
          <a:bodyPr/>
          <a:lstStyle/>
          <a:p>
            <a:r>
              <a:rPr lang="en-IN" b="1" dirty="0"/>
              <a:t>Tool-Augmented Prompting</a:t>
            </a:r>
            <a:endParaRPr lang="en-IN" dirty="0"/>
          </a:p>
          <a:p>
            <a:r>
              <a:rPr lang="en-IN" dirty="0"/>
              <a:t>API-based prompting, Function Calling, Plug-in Tool Integration ,Retrieval Augmented Generation</a:t>
            </a:r>
            <a:r>
              <a:rPr lang="en-IN" b="1" dirty="0"/>
              <a:t>.</a:t>
            </a:r>
            <a:endParaRPr lang="en-IN" dirty="0"/>
          </a:p>
          <a:p>
            <a:endParaRPr lang="en-IN" dirty="0"/>
          </a:p>
        </p:txBody>
      </p:sp>
    </p:spTree>
    <p:extLst>
      <p:ext uri="{BB962C8B-B14F-4D97-AF65-F5344CB8AC3E}">
        <p14:creationId xmlns:p14="http://schemas.microsoft.com/office/powerpoint/2010/main" val="583842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AAF8-055C-268F-6727-39125918B94B}"/>
              </a:ext>
            </a:extLst>
          </p:cNvPr>
          <p:cNvSpPr>
            <a:spLocks noGrp="1"/>
          </p:cNvSpPr>
          <p:nvPr>
            <p:ph type="title"/>
          </p:nvPr>
        </p:nvSpPr>
        <p:spPr/>
        <p:txBody>
          <a:bodyPr/>
          <a:lstStyle/>
          <a:p>
            <a:r>
              <a:rPr lang="en-IN" b="1" dirty="0">
                <a:solidFill>
                  <a:srgbClr val="FF0000"/>
                </a:solidFill>
              </a:rPr>
              <a:t>Tool-Augmented Prompting</a:t>
            </a:r>
          </a:p>
        </p:txBody>
      </p:sp>
      <p:sp>
        <p:nvSpPr>
          <p:cNvPr id="3" name="Content Placeholder 2">
            <a:extLst>
              <a:ext uri="{FF2B5EF4-FFF2-40B4-BE49-F238E27FC236}">
                <a16:creationId xmlns:a16="http://schemas.microsoft.com/office/drawing/2014/main" id="{5A55A3C1-6660-96C7-69DB-99F6DA8EC401}"/>
              </a:ext>
            </a:extLst>
          </p:cNvPr>
          <p:cNvSpPr>
            <a:spLocks noGrp="1"/>
          </p:cNvSpPr>
          <p:nvPr>
            <p:ph idx="1"/>
          </p:nvPr>
        </p:nvSpPr>
        <p:spPr/>
        <p:txBody>
          <a:bodyPr>
            <a:normAutofit fontScale="92500"/>
          </a:bodyPr>
          <a:lstStyle/>
          <a:p>
            <a:r>
              <a:rPr lang="en-US" b="1" dirty="0"/>
              <a:t>Tool-Augmented Prompting (TAP)</a:t>
            </a:r>
            <a:r>
              <a:rPr lang="en-US" dirty="0"/>
              <a:t> is a prompting paradigm in which a large language model (LLM) is explicitly guided to use external tools—such as search engines, calculators, databases, code interpreters, APIs, or domain-specific software—during its reasoning or response generation process.</a:t>
            </a:r>
          </a:p>
          <a:p>
            <a:r>
              <a:rPr lang="en-US" dirty="0"/>
              <a:t>Instead of relying solely on its internal parameters (pretrained knowledge), the model is prompted to:</a:t>
            </a:r>
          </a:p>
          <a:p>
            <a:r>
              <a:rPr lang="en-US" b="1" dirty="0"/>
              <a:t>Recognize when external information or computation is required</a:t>
            </a:r>
            <a:endParaRPr lang="en-US" dirty="0"/>
          </a:p>
          <a:p>
            <a:r>
              <a:rPr lang="en-US" b="1" dirty="0"/>
              <a:t>Select an appropriate tool</a:t>
            </a:r>
            <a:endParaRPr lang="en-US" dirty="0"/>
          </a:p>
          <a:p>
            <a:r>
              <a:rPr lang="en-US" b="1" dirty="0"/>
              <a:t>Generate structured inputs for that tool</a:t>
            </a:r>
            <a:endParaRPr lang="en-US" dirty="0"/>
          </a:p>
          <a:p>
            <a:r>
              <a:rPr lang="en-US" b="1" dirty="0"/>
              <a:t>Incorporate the tool’s output into the final response</a:t>
            </a:r>
            <a:endParaRPr lang="en-US" dirty="0"/>
          </a:p>
          <a:p>
            <a:endParaRPr lang="en-IN" dirty="0"/>
          </a:p>
        </p:txBody>
      </p:sp>
    </p:spTree>
    <p:extLst>
      <p:ext uri="{BB962C8B-B14F-4D97-AF65-F5344CB8AC3E}">
        <p14:creationId xmlns:p14="http://schemas.microsoft.com/office/powerpoint/2010/main" val="220559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8890-CC87-BB87-E842-BFB2B953C4D8}"/>
              </a:ext>
            </a:extLst>
          </p:cNvPr>
          <p:cNvSpPr>
            <a:spLocks noGrp="1"/>
          </p:cNvSpPr>
          <p:nvPr>
            <p:ph type="title"/>
          </p:nvPr>
        </p:nvSpPr>
        <p:spPr/>
        <p:txBody>
          <a:bodyPr>
            <a:normAutofit/>
          </a:bodyPr>
          <a:lstStyle/>
          <a:p>
            <a:r>
              <a:rPr lang="en-US" sz="2000" b="1" dirty="0">
                <a:solidFill>
                  <a:srgbClr val="FF0000"/>
                </a:solidFill>
              </a:rPr>
              <a:t>In simple terms, Tool-Augmented Prompting extends the model’s capabilities by combining natural language reasoning + external functional tools.</a:t>
            </a:r>
            <a:br>
              <a:rPr lang="en-US" sz="2000" b="1" dirty="0">
                <a:solidFill>
                  <a:srgbClr val="FF0000"/>
                </a:solidFill>
              </a:rPr>
            </a:br>
            <a:endParaRPr lang="en-IN" sz="2000" b="1" dirty="0">
              <a:solidFill>
                <a:srgbClr val="FF0000"/>
              </a:solidFill>
            </a:endParaRPr>
          </a:p>
        </p:txBody>
      </p:sp>
      <p:sp>
        <p:nvSpPr>
          <p:cNvPr id="3" name="Content Placeholder 2">
            <a:extLst>
              <a:ext uri="{FF2B5EF4-FFF2-40B4-BE49-F238E27FC236}">
                <a16:creationId xmlns:a16="http://schemas.microsoft.com/office/drawing/2014/main" id="{5537A22A-B533-47D2-A2C0-76EDD6827338}"/>
              </a:ext>
            </a:extLst>
          </p:cNvPr>
          <p:cNvSpPr>
            <a:spLocks noGrp="1"/>
          </p:cNvSpPr>
          <p:nvPr>
            <p:ph idx="1"/>
          </p:nvPr>
        </p:nvSpPr>
        <p:spPr/>
        <p:txBody>
          <a:bodyPr>
            <a:normAutofit/>
          </a:bodyPr>
          <a:lstStyle/>
          <a:p>
            <a:r>
              <a:rPr lang="en-IN" dirty="0"/>
              <a:t>Web Search Augmentation : </a:t>
            </a:r>
            <a:r>
              <a:rPr lang="en-US" dirty="0"/>
              <a:t>“Find the latest AI policy updates in India and summarize them.”</a:t>
            </a:r>
          </a:p>
          <a:p>
            <a:r>
              <a:rPr lang="en-IN" dirty="0"/>
              <a:t>Web search API</a:t>
            </a:r>
          </a:p>
          <a:p>
            <a:r>
              <a:rPr lang="en-US" b="1" dirty="0"/>
              <a:t>Why:</a:t>
            </a:r>
            <a:r>
              <a:rPr lang="en-US" dirty="0"/>
              <a:t> The model retrieves up-to-date information instead of relying only on training data.</a:t>
            </a:r>
          </a:p>
          <a:p>
            <a:r>
              <a:rPr lang="en-IN" dirty="0"/>
              <a:t>User → LLM → Web Search Tool → Retrieved Articles → LLM Summary → Output</a:t>
            </a:r>
          </a:p>
        </p:txBody>
      </p:sp>
    </p:spTree>
    <p:extLst>
      <p:ext uri="{BB962C8B-B14F-4D97-AF65-F5344CB8AC3E}">
        <p14:creationId xmlns:p14="http://schemas.microsoft.com/office/powerpoint/2010/main" val="198361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E27F-DFA1-D542-645A-9FBE4C1DA7B4}"/>
              </a:ext>
            </a:extLst>
          </p:cNvPr>
          <p:cNvSpPr>
            <a:spLocks noGrp="1"/>
          </p:cNvSpPr>
          <p:nvPr>
            <p:ph type="title"/>
          </p:nvPr>
        </p:nvSpPr>
        <p:spPr/>
        <p:txBody>
          <a:bodyPr/>
          <a:lstStyle/>
          <a:p>
            <a:r>
              <a:rPr lang="en-IN" b="1" dirty="0">
                <a:solidFill>
                  <a:srgbClr val="FF0000"/>
                </a:solidFill>
              </a:rPr>
              <a:t>Calculator Tool (Mathematical Accuracy)</a:t>
            </a:r>
          </a:p>
        </p:txBody>
      </p:sp>
      <p:sp>
        <p:nvSpPr>
          <p:cNvPr id="3" name="Content Placeholder 2">
            <a:extLst>
              <a:ext uri="{FF2B5EF4-FFF2-40B4-BE49-F238E27FC236}">
                <a16:creationId xmlns:a16="http://schemas.microsoft.com/office/drawing/2014/main" id="{997BE688-3DC0-5C03-D281-1C496815DAE0}"/>
              </a:ext>
            </a:extLst>
          </p:cNvPr>
          <p:cNvSpPr>
            <a:spLocks noGrp="1"/>
          </p:cNvSpPr>
          <p:nvPr>
            <p:ph idx="1"/>
          </p:nvPr>
        </p:nvSpPr>
        <p:spPr/>
        <p:txBody>
          <a:bodyPr/>
          <a:lstStyle/>
          <a:p>
            <a:r>
              <a:rPr lang="en-US" b="1" dirty="0"/>
              <a:t>Prompt:</a:t>
            </a:r>
            <a:endParaRPr lang="en-US" dirty="0"/>
          </a:p>
          <a:p>
            <a:r>
              <a:rPr lang="en-US" dirty="0"/>
              <a:t>“If a company’s revenue grows 12% annually for 5 years starting from ₹5 crore, what is the final amount?”</a:t>
            </a:r>
          </a:p>
          <a:p>
            <a:r>
              <a:rPr lang="en-US" b="1" dirty="0"/>
              <a:t>Tool Used:</a:t>
            </a:r>
            <a:r>
              <a:rPr lang="en-US" dirty="0"/>
              <a:t> Calculator / Python</a:t>
            </a:r>
            <a:br>
              <a:rPr lang="en-US" dirty="0"/>
            </a:br>
            <a:r>
              <a:rPr lang="en-US" b="1" dirty="0"/>
              <a:t>Why:</a:t>
            </a:r>
            <a:r>
              <a:rPr lang="en-US" dirty="0"/>
              <a:t> Ensures precise compound interest calculation.</a:t>
            </a:r>
          </a:p>
          <a:p>
            <a:r>
              <a:rPr lang="en-US" dirty="0"/>
              <a:t>Instead of mental math:</a:t>
            </a:r>
            <a:br>
              <a:rPr lang="en-US" dirty="0"/>
            </a:br>
            <a:r>
              <a:rPr lang="en-US" dirty="0"/>
              <a:t>LLM → Calls Calculator Tool → Returns exact value → Formats explanation</a:t>
            </a:r>
          </a:p>
          <a:p>
            <a:endParaRPr lang="en-IN" dirty="0"/>
          </a:p>
        </p:txBody>
      </p:sp>
    </p:spTree>
    <p:extLst>
      <p:ext uri="{BB962C8B-B14F-4D97-AF65-F5344CB8AC3E}">
        <p14:creationId xmlns:p14="http://schemas.microsoft.com/office/powerpoint/2010/main" val="890317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AF148-481E-DB89-C28C-9DEF379A221F}"/>
              </a:ext>
            </a:extLst>
          </p:cNvPr>
          <p:cNvSpPr>
            <a:spLocks noGrp="1"/>
          </p:cNvSpPr>
          <p:nvPr>
            <p:ph type="title"/>
          </p:nvPr>
        </p:nvSpPr>
        <p:spPr/>
        <p:txBody>
          <a:bodyPr/>
          <a:lstStyle/>
          <a:p>
            <a:r>
              <a:rPr lang="en-IN" b="1" dirty="0">
                <a:solidFill>
                  <a:srgbClr val="FF0000"/>
                </a:solidFill>
              </a:rPr>
              <a:t>Database Retrieval (RAG – Retrieval Augmented Generation)</a:t>
            </a:r>
          </a:p>
        </p:txBody>
      </p:sp>
      <p:sp>
        <p:nvSpPr>
          <p:cNvPr id="3" name="Content Placeholder 2">
            <a:extLst>
              <a:ext uri="{FF2B5EF4-FFF2-40B4-BE49-F238E27FC236}">
                <a16:creationId xmlns:a16="http://schemas.microsoft.com/office/drawing/2014/main" id="{7E377E18-629F-EE32-9C32-66DB3B2E6752}"/>
              </a:ext>
            </a:extLst>
          </p:cNvPr>
          <p:cNvSpPr>
            <a:spLocks noGrp="1"/>
          </p:cNvSpPr>
          <p:nvPr>
            <p:ph idx="1"/>
          </p:nvPr>
        </p:nvSpPr>
        <p:spPr/>
        <p:txBody>
          <a:bodyPr/>
          <a:lstStyle/>
          <a:p>
            <a:r>
              <a:rPr lang="en-IN" b="1" dirty="0"/>
              <a:t>Prompt:</a:t>
            </a:r>
            <a:endParaRPr lang="en-IN" dirty="0"/>
          </a:p>
          <a:p>
            <a:r>
              <a:rPr lang="en-IN" dirty="0"/>
              <a:t>“Summarize Chapter 3 of my uploaded climate research paper.”</a:t>
            </a:r>
          </a:p>
          <a:p>
            <a:r>
              <a:rPr lang="en-IN" b="1" dirty="0"/>
              <a:t>Tool Used:</a:t>
            </a:r>
            <a:r>
              <a:rPr lang="en-IN" dirty="0"/>
              <a:t> Document Retriever / Vector Database</a:t>
            </a:r>
            <a:br>
              <a:rPr lang="en-IN" dirty="0"/>
            </a:br>
            <a:r>
              <a:rPr lang="en-IN" b="1" dirty="0"/>
              <a:t>Why:</a:t>
            </a:r>
            <a:r>
              <a:rPr lang="en-IN" dirty="0"/>
              <a:t> Fetches relevant sections from the uploaded document.</a:t>
            </a:r>
          </a:p>
          <a:p>
            <a:r>
              <a:rPr lang="en-IN" dirty="0"/>
              <a:t>Flow:</a:t>
            </a:r>
            <a:br>
              <a:rPr lang="en-IN" dirty="0"/>
            </a:br>
            <a:r>
              <a:rPr lang="en-IN" dirty="0"/>
              <a:t>Query → Embedding Search → Relevant Paragraphs Retrieved → LLM Generates Summary</a:t>
            </a:r>
          </a:p>
          <a:p>
            <a:endParaRPr lang="en-IN" dirty="0"/>
          </a:p>
        </p:txBody>
      </p:sp>
    </p:spTree>
    <p:extLst>
      <p:ext uri="{BB962C8B-B14F-4D97-AF65-F5344CB8AC3E}">
        <p14:creationId xmlns:p14="http://schemas.microsoft.com/office/powerpoint/2010/main" val="964285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B819E-8004-C783-ADD0-4D98003BAF72}"/>
              </a:ext>
            </a:extLst>
          </p:cNvPr>
          <p:cNvSpPr>
            <a:spLocks noGrp="1"/>
          </p:cNvSpPr>
          <p:nvPr>
            <p:ph type="title"/>
          </p:nvPr>
        </p:nvSpPr>
        <p:spPr/>
        <p:txBody>
          <a:bodyPr/>
          <a:lstStyle/>
          <a:p>
            <a:r>
              <a:rPr lang="en-US" b="1" dirty="0">
                <a:solidFill>
                  <a:srgbClr val="FF0000"/>
                </a:solidFill>
              </a:rPr>
              <a:t>Code Execution Tool</a:t>
            </a:r>
            <a:endParaRPr lang="en-IN" b="1" dirty="0">
              <a:solidFill>
                <a:srgbClr val="FF0000"/>
              </a:solidFill>
            </a:endParaRPr>
          </a:p>
        </p:txBody>
      </p:sp>
      <p:sp>
        <p:nvSpPr>
          <p:cNvPr id="3" name="Content Placeholder 2">
            <a:extLst>
              <a:ext uri="{FF2B5EF4-FFF2-40B4-BE49-F238E27FC236}">
                <a16:creationId xmlns:a16="http://schemas.microsoft.com/office/drawing/2014/main" id="{E0761681-B114-6467-9A2E-758C8F288EB6}"/>
              </a:ext>
            </a:extLst>
          </p:cNvPr>
          <p:cNvSpPr>
            <a:spLocks noGrp="1"/>
          </p:cNvSpPr>
          <p:nvPr>
            <p:ph idx="1"/>
          </p:nvPr>
        </p:nvSpPr>
        <p:spPr/>
        <p:txBody>
          <a:bodyPr/>
          <a:lstStyle/>
          <a:p>
            <a:r>
              <a:rPr lang="en-US" b="1" dirty="0"/>
              <a:t>Prompt:</a:t>
            </a:r>
            <a:endParaRPr lang="en-US" dirty="0"/>
          </a:p>
          <a:p>
            <a:r>
              <a:rPr lang="en-US" dirty="0"/>
              <a:t>“Plot the temperature trends from this CSV file.”</a:t>
            </a:r>
          </a:p>
          <a:p>
            <a:r>
              <a:rPr lang="en-US" b="1" dirty="0"/>
              <a:t>Tool Used:</a:t>
            </a:r>
            <a:r>
              <a:rPr lang="en-US" dirty="0"/>
              <a:t> Python Code Interpreter</a:t>
            </a:r>
            <a:br>
              <a:rPr lang="en-US" dirty="0"/>
            </a:br>
            <a:r>
              <a:rPr lang="en-US" b="1" dirty="0"/>
              <a:t>Why:</a:t>
            </a:r>
            <a:r>
              <a:rPr lang="en-US" dirty="0"/>
              <a:t> Executes real data visualization instead of guessing.</a:t>
            </a:r>
          </a:p>
          <a:p>
            <a:r>
              <a:rPr lang="en-US" dirty="0"/>
              <a:t>LLM writes Python → Executes → Returns chart</a:t>
            </a:r>
          </a:p>
          <a:p>
            <a:endParaRPr lang="en-IN" dirty="0"/>
          </a:p>
        </p:txBody>
      </p:sp>
    </p:spTree>
    <p:extLst>
      <p:ext uri="{BB962C8B-B14F-4D97-AF65-F5344CB8AC3E}">
        <p14:creationId xmlns:p14="http://schemas.microsoft.com/office/powerpoint/2010/main" val="185801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D853-44F6-663F-8997-A09990C54049}"/>
              </a:ext>
            </a:extLst>
          </p:cNvPr>
          <p:cNvSpPr>
            <a:spLocks noGrp="1"/>
          </p:cNvSpPr>
          <p:nvPr>
            <p:ph type="title"/>
          </p:nvPr>
        </p:nvSpPr>
        <p:spPr/>
        <p:txBody>
          <a:bodyPr/>
          <a:lstStyle/>
          <a:p>
            <a:r>
              <a:rPr lang="en-US" b="1" dirty="0"/>
              <a:t>API Tool (Weather Example)</a:t>
            </a:r>
            <a:br>
              <a:rPr lang="en-US" b="1" dirty="0"/>
            </a:br>
            <a:endParaRPr lang="en-IN" dirty="0"/>
          </a:p>
        </p:txBody>
      </p:sp>
      <p:sp>
        <p:nvSpPr>
          <p:cNvPr id="3" name="Content Placeholder 2">
            <a:extLst>
              <a:ext uri="{FF2B5EF4-FFF2-40B4-BE49-F238E27FC236}">
                <a16:creationId xmlns:a16="http://schemas.microsoft.com/office/drawing/2014/main" id="{91934982-0554-D18A-C25F-52EDE10CAF29}"/>
              </a:ext>
            </a:extLst>
          </p:cNvPr>
          <p:cNvSpPr>
            <a:spLocks noGrp="1"/>
          </p:cNvSpPr>
          <p:nvPr>
            <p:ph idx="1"/>
          </p:nvPr>
        </p:nvSpPr>
        <p:spPr/>
        <p:txBody>
          <a:bodyPr/>
          <a:lstStyle/>
          <a:p>
            <a:r>
              <a:rPr lang="en-US" b="1" dirty="0"/>
              <a:t>Prompt:</a:t>
            </a:r>
            <a:endParaRPr lang="en-US" dirty="0"/>
          </a:p>
          <a:p>
            <a:r>
              <a:rPr lang="en-US" dirty="0"/>
              <a:t>“What’s the weather in Hyderabad right now?”</a:t>
            </a:r>
          </a:p>
          <a:p>
            <a:r>
              <a:rPr lang="en-US" b="1" dirty="0"/>
              <a:t>Tool Used:</a:t>
            </a:r>
            <a:r>
              <a:rPr lang="en-US" dirty="0"/>
              <a:t> Weather API</a:t>
            </a:r>
            <a:br>
              <a:rPr lang="en-US" dirty="0"/>
            </a:br>
            <a:r>
              <a:rPr lang="en-US" b="1" dirty="0"/>
              <a:t>Why:</a:t>
            </a:r>
            <a:r>
              <a:rPr lang="en-US" dirty="0"/>
              <a:t> Gets real-time weather instead of outdated info.</a:t>
            </a:r>
          </a:p>
          <a:p>
            <a:endParaRPr lang="en-IN" dirty="0"/>
          </a:p>
        </p:txBody>
      </p:sp>
    </p:spTree>
    <p:extLst>
      <p:ext uri="{BB962C8B-B14F-4D97-AF65-F5344CB8AC3E}">
        <p14:creationId xmlns:p14="http://schemas.microsoft.com/office/powerpoint/2010/main" val="1500918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F2D66-66E5-C24F-0BAF-A6F43082FA83}"/>
              </a:ext>
            </a:extLst>
          </p:cNvPr>
          <p:cNvSpPr>
            <a:spLocks noGrp="1"/>
          </p:cNvSpPr>
          <p:nvPr>
            <p:ph type="title"/>
          </p:nvPr>
        </p:nvSpPr>
        <p:spPr/>
        <p:txBody>
          <a:bodyPr/>
          <a:lstStyle/>
          <a:p>
            <a:r>
              <a:rPr lang="en-IN" b="1" dirty="0"/>
              <a:t>Knowledge Graph Query</a:t>
            </a:r>
          </a:p>
        </p:txBody>
      </p:sp>
      <p:sp>
        <p:nvSpPr>
          <p:cNvPr id="3" name="Content Placeholder 2">
            <a:extLst>
              <a:ext uri="{FF2B5EF4-FFF2-40B4-BE49-F238E27FC236}">
                <a16:creationId xmlns:a16="http://schemas.microsoft.com/office/drawing/2014/main" id="{A6355417-A48A-DC20-8C4E-624912548A16}"/>
              </a:ext>
            </a:extLst>
          </p:cNvPr>
          <p:cNvSpPr>
            <a:spLocks noGrp="1"/>
          </p:cNvSpPr>
          <p:nvPr>
            <p:ph idx="1"/>
          </p:nvPr>
        </p:nvSpPr>
        <p:spPr/>
        <p:txBody>
          <a:bodyPr/>
          <a:lstStyle/>
          <a:p>
            <a:r>
              <a:rPr lang="en-US" b="1" dirty="0"/>
              <a:t>Prompt:</a:t>
            </a:r>
            <a:endParaRPr lang="en-US" dirty="0"/>
          </a:p>
          <a:p>
            <a:r>
              <a:rPr lang="en-US" dirty="0"/>
              <a:t>“Who collaborated most frequently with A.R. Rahman?”</a:t>
            </a:r>
          </a:p>
          <a:p>
            <a:r>
              <a:rPr lang="en-US" b="1" dirty="0"/>
              <a:t>Tool Used:</a:t>
            </a:r>
            <a:r>
              <a:rPr lang="en-US" dirty="0"/>
              <a:t> Knowledge Graph Query</a:t>
            </a:r>
            <a:br>
              <a:rPr lang="en-US" dirty="0"/>
            </a:br>
            <a:r>
              <a:rPr lang="en-US" b="1" dirty="0"/>
              <a:t>Why:</a:t>
            </a:r>
            <a:r>
              <a:rPr lang="en-US" dirty="0"/>
              <a:t> Structured relational data gives precise answer.</a:t>
            </a:r>
          </a:p>
          <a:p>
            <a:endParaRPr lang="en-IN" dirty="0"/>
          </a:p>
        </p:txBody>
      </p:sp>
    </p:spTree>
    <p:extLst>
      <p:ext uri="{BB962C8B-B14F-4D97-AF65-F5344CB8AC3E}">
        <p14:creationId xmlns:p14="http://schemas.microsoft.com/office/powerpoint/2010/main" val="148790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6FC08-2C38-0916-04A4-43AA51AF71FE}"/>
              </a:ext>
            </a:extLst>
          </p:cNvPr>
          <p:cNvSpPr>
            <a:spLocks noGrp="1"/>
          </p:cNvSpPr>
          <p:nvPr>
            <p:ph type="title"/>
          </p:nvPr>
        </p:nvSpPr>
        <p:spPr/>
        <p:txBody>
          <a:bodyPr/>
          <a:lstStyle/>
          <a:p>
            <a:r>
              <a:rPr lang="en-US" b="1" dirty="0"/>
              <a:t>Multi-Step Tool Chain (Agentic Workflow)</a:t>
            </a:r>
            <a:endParaRPr lang="en-IN" b="1" dirty="0"/>
          </a:p>
        </p:txBody>
      </p:sp>
      <p:sp>
        <p:nvSpPr>
          <p:cNvPr id="3" name="Content Placeholder 2">
            <a:extLst>
              <a:ext uri="{FF2B5EF4-FFF2-40B4-BE49-F238E27FC236}">
                <a16:creationId xmlns:a16="http://schemas.microsoft.com/office/drawing/2014/main" id="{A7652D17-4C80-75C1-6313-94D31AEB73EC}"/>
              </a:ext>
            </a:extLst>
          </p:cNvPr>
          <p:cNvSpPr>
            <a:spLocks noGrp="1"/>
          </p:cNvSpPr>
          <p:nvPr>
            <p:ph idx="1"/>
          </p:nvPr>
        </p:nvSpPr>
        <p:spPr/>
        <p:txBody>
          <a:bodyPr>
            <a:normAutofit lnSpcReduction="10000"/>
          </a:bodyPr>
          <a:lstStyle/>
          <a:p>
            <a:r>
              <a:rPr lang="en-IN" b="1" dirty="0"/>
              <a:t>Prompt:</a:t>
            </a:r>
            <a:endParaRPr lang="en-IN" dirty="0"/>
          </a:p>
          <a:p>
            <a:r>
              <a:rPr lang="en-IN" dirty="0"/>
              <a:t>“Analyze stock performance of TCS over last 6 months and give investment insight.”</a:t>
            </a:r>
          </a:p>
          <a:p>
            <a:r>
              <a:rPr lang="en-IN" b="1" dirty="0"/>
              <a:t>Tools Used:</a:t>
            </a:r>
            <a:endParaRPr lang="en-IN" dirty="0"/>
          </a:p>
          <a:p>
            <a:r>
              <a:rPr lang="en-IN" dirty="0"/>
              <a:t>Financial API</a:t>
            </a:r>
          </a:p>
          <a:p>
            <a:r>
              <a:rPr lang="en-IN" dirty="0"/>
              <a:t>Python for statistical analysis</a:t>
            </a:r>
          </a:p>
          <a:p>
            <a:r>
              <a:rPr lang="en-IN" dirty="0"/>
              <a:t>Plotting library</a:t>
            </a:r>
          </a:p>
          <a:p>
            <a:r>
              <a:rPr lang="en-IN" dirty="0"/>
              <a:t>Flow:</a:t>
            </a:r>
            <a:br>
              <a:rPr lang="en-IN" dirty="0"/>
            </a:br>
            <a:r>
              <a:rPr lang="en-IN" dirty="0"/>
              <a:t>Retrieve data → Compute moving average → Generate graph → Provide explanation</a:t>
            </a:r>
          </a:p>
          <a:p>
            <a:endParaRPr lang="en-IN" dirty="0"/>
          </a:p>
        </p:txBody>
      </p:sp>
    </p:spTree>
    <p:extLst>
      <p:ext uri="{BB962C8B-B14F-4D97-AF65-F5344CB8AC3E}">
        <p14:creationId xmlns:p14="http://schemas.microsoft.com/office/powerpoint/2010/main" val="2026876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80ED-A48F-975E-06D0-8C65E92073E3}"/>
              </a:ext>
            </a:extLst>
          </p:cNvPr>
          <p:cNvSpPr>
            <a:spLocks noGrp="1"/>
          </p:cNvSpPr>
          <p:nvPr>
            <p:ph type="title"/>
          </p:nvPr>
        </p:nvSpPr>
        <p:spPr/>
        <p:txBody>
          <a:bodyPr/>
          <a:lstStyle/>
          <a:p>
            <a:r>
              <a:rPr lang="en-IN" b="1" dirty="0"/>
              <a:t>Scientific Tool Usage</a:t>
            </a:r>
          </a:p>
        </p:txBody>
      </p:sp>
      <p:sp>
        <p:nvSpPr>
          <p:cNvPr id="3" name="Content Placeholder 2">
            <a:extLst>
              <a:ext uri="{FF2B5EF4-FFF2-40B4-BE49-F238E27FC236}">
                <a16:creationId xmlns:a16="http://schemas.microsoft.com/office/drawing/2014/main" id="{E0838618-3DA3-B2CF-4E3F-20DAEABF57AA}"/>
              </a:ext>
            </a:extLst>
          </p:cNvPr>
          <p:cNvSpPr>
            <a:spLocks noGrp="1"/>
          </p:cNvSpPr>
          <p:nvPr>
            <p:ph idx="1"/>
          </p:nvPr>
        </p:nvSpPr>
        <p:spPr/>
        <p:txBody>
          <a:bodyPr/>
          <a:lstStyle/>
          <a:p>
            <a:r>
              <a:rPr lang="en-US" b="1" dirty="0"/>
              <a:t>Prompt:</a:t>
            </a:r>
            <a:endParaRPr lang="en-US" dirty="0"/>
          </a:p>
          <a:p>
            <a:r>
              <a:rPr lang="en-US" dirty="0"/>
              <a:t>“Run a regression model on this climate dataset and interpret results.”</a:t>
            </a:r>
          </a:p>
          <a:p>
            <a:r>
              <a:rPr lang="en-US" b="1" dirty="0"/>
              <a:t>Tool Used:</a:t>
            </a:r>
            <a:r>
              <a:rPr lang="en-US" dirty="0"/>
              <a:t> ML library (Scikit-learn via Python tool)</a:t>
            </a:r>
            <a:br>
              <a:rPr lang="en-US" dirty="0"/>
            </a:br>
            <a:r>
              <a:rPr lang="en-US" b="1" dirty="0"/>
              <a:t>Why:</a:t>
            </a:r>
            <a:r>
              <a:rPr lang="en-US" dirty="0"/>
              <a:t> Performs actual statistical modeling.</a:t>
            </a:r>
          </a:p>
          <a:p>
            <a:endParaRPr lang="en-IN" dirty="0"/>
          </a:p>
        </p:txBody>
      </p:sp>
    </p:spTree>
    <p:extLst>
      <p:ext uri="{BB962C8B-B14F-4D97-AF65-F5344CB8AC3E}">
        <p14:creationId xmlns:p14="http://schemas.microsoft.com/office/powerpoint/2010/main" val="1428706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D097A-13B2-BDFF-220C-14DD1D3AEB3B}"/>
              </a:ext>
            </a:extLst>
          </p:cNvPr>
          <p:cNvSpPr>
            <a:spLocks noGrp="1"/>
          </p:cNvSpPr>
          <p:nvPr>
            <p:ph type="title"/>
          </p:nvPr>
        </p:nvSpPr>
        <p:spPr/>
        <p:txBody>
          <a:bodyPr/>
          <a:lstStyle/>
          <a:p>
            <a:r>
              <a:rPr lang="en-IN" b="1" dirty="0"/>
              <a:t>Translation + Fact Verification</a:t>
            </a:r>
          </a:p>
        </p:txBody>
      </p:sp>
      <p:sp>
        <p:nvSpPr>
          <p:cNvPr id="3" name="Content Placeholder 2">
            <a:extLst>
              <a:ext uri="{FF2B5EF4-FFF2-40B4-BE49-F238E27FC236}">
                <a16:creationId xmlns:a16="http://schemas.microsoft.com/office/drawing/2014/main" id="{00A25563-8467-EE24-2EA1-8F4E2CBD37A5}"/>
              </a:ext>
            </a:extLst>
          </p:cNvPr>
          <p:cNvSpPr>
            <a:spLocks noGrp="1"/>
          </p:cNvSpPr>
          <p:nvPr>
            <p:ph idx="1"/>
          </p:nvPr>
        </p:nvSpPr>
        <p:spPr/>
        <p:txBody>
          <a:bodyPr/>
          <a:lstStyle/>
          <a:p>
            <a:r>
              <a:rPr lang="en-US" b="1" dirty="0"/>
              <a:t>Prompt:</a:t>
            </a:r>
            <a:endParaRPr lang="en-US" dirty="0"/>
          </a:p>
          <a:p>
            <a:r>
              <a:rPr lang="en-US" dirty="0"/>
              <a:t>“Translate this French policy document and verify key claims.”</a:t>
            </a:r>
          </a:p>
          <a:p>
            <a:r>
              <a:rPr lang="en-US" b="1" dirty="0"/>
              <a:t>Tools Used:</a:t>
            </a:r>
            <a:endParaRPr lang="en-US" dirty="0"/>
          </a:p>
          <a:p>
            <a:r>
              <a:rPr lang="en-US" dirty="0"/>
              <a:t>Translation model</a:t>
            </a:r>
          </a:p>
          <a:p>
            <a:r>
              <a:rPr lang="en-US" dirty="0"/>
              <a:t>Web verification tool</a:t>
            </a:r>
          </a:p>
          <a:p>
            <a:endParaRPr lang="en-IN" dirty="0"/>
          </a:p>
        </p:txBody>
      </p:sp>
    </p:spTree>
    <p:extLst>
      <p:ext uri="{BB962C8B-B14F-4D97-AF65-F5344CB8AC3E}">
        <p14:creationId xmlns:p14="http://schemas.microsoft.com/office/powerpoint/2010/main" val="2383363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DC1A6-0A16-9077-FBF1-4F890FCEA09B}"/>
              </a:ext>
            </a:extLst>
          </p:cNvPr>
          <p:cNvSpPr>
            <a:spLocks noGrp="1"/>
          </p:cNvSpPr>
          <p:nvPr>
            <p:ph type="title"/>
          </p:nvPr>
        </p:nvSpPr>
        <p:spPr/>
        <p:txBody>
          <a:bodyPr/>
          <a:lstStyle/>
          <a:p>
            <a:r>
              <a:rPr lang="en-US" b="1" dirty="0"/>
              <a:t>Enterprise Example – Customer Support</a:t>
            </a:r>
            <a:endParaRPr lang="en-IN" dirty="0"/>
          </a:p>
        </p:txBody>
      </p:sp>
      <p:sp>
        <p:nvSpPr>
          <p:cNvPr id="3" name="Content Placeholder 2">
            <a:extLst>
              <a:ext uri="{FF2B5EF4-FFF2-40B4-BE49-F238E27FC236}">
                <a16:creationId xmlns:a16="http://schemas.microsoft.com/office/drawing/2014/main" id="{F85C8AF5-B4C6-DD5E-12D3-E58114509A84}"/>
              </a:ext>
            </a:extLst>
          </p:cNvPr>
          <p:cNvSpPr>
            <a:spLocks noGrp="1"/>
          </p:cNvSpPr>
          <p:nvPr>
            <p:ph idx="1"/>
          </p:nvPr>
        </p:nvSpPr>
        <p:spPr/>
        <p:txBody>
          <a:bodyPr/>
          <a:lstStyle/>
          <a:p>
            <a:endParaRPr lang="en-US" b="1" dirty="0"/>
          </a:p>
          <a:p>
            <a:r>
              <a:rPr lang="en-US" b="1" dirty="0"/>
              <a:t>Prompt:</a:t>
            </a:r>
            <a:endParaRPr lang="en-US" dirty="0"/>
          </a:p>
          <a:p>
            <a:r>
              <a:rPr lang="en-US" dirty="0"/>
              <a:t>“Check order #78439 and update delivery status.”</a:t>
            </a:r>
          </a:p>
          <a:p>
            <a:r>
              <a:rPr lang="en-US" b="1" dirty="0"/>
              <a:t>Tools Used:</a:t>
            </a:r>
            <a:endParaRPr lang="en-US" dirty="0"/>
          </a:p>
          <a:p>
            <a:r>
              <a:rPr lang="en-US" dirty="0"/>
              <a:t>CRM Database</a:t>
            </a:r>
          </a:p>
          <a:p>
            <a:r>
              <a:rPr lang="en-US" dirty="0"/>
              <a:t>Shipping API</a:t>
            </a:r>
          </a:p>
          <a:p>
            <a:endParaRPr lang="en-IN" dirty="0"/>
          </a:p>
        </p:txBody>
      </p:sp>
    </p:spTree>
    <p:extLst>
      <p:ext uri="{BB962C8B-B14F-4D97-AF65-F5344CB8AC3E}">
        <p14:creationId xmlns:p14="http://schemas.microsoft.com/office/powerpoint/2010/main" val="3197878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73EC-645F-B1BF-CF5A-AAE94AF5B3C5}"/>
              </a:ext>
            </a:extLst>
          </p:cNvPr>
          <p:cNvSpPr>
            <a:spLocks noGrp="1"/>
          </p:cNvSpPr>
          <p:nvPr>
            <p:ph type="title"/>
          </p:nvPr>
        </p:nvSpPr>
        <p:spPr/>
        <p:txBody>
          <a:bodyPr/>
          <a:lstStyle/>
          <a:p>
            <a:r>
              <a:rPr lang="en-IN" b="1" dirty="0">
                <a:solidFill>
                  <a:srgbClr val="FF0000"/>
                </a:solidFill>
              </a:rPr>
              <a:t>Tool-Augmented Prompting Matters</a:t>
            </a:r>
          </a:p>
        </p:txBody>
      </p:sp>
      <p:pic>
        <p:nvPicPr>
          <p:cNvPr id="5" name="Content Placeholder 4">
            <a:extLst>
              <a:ext uri="{FF2B5EF4-FFF2-40B4-BE49-F238E27FC236}">
                <a16:creationId xmlns:a16="http://schemas.microsoft.com/office/drawing/2014/main" id="{65FE7F5C-5E54-51F1-FCB8-C75E98445BFF}"/>
              </a:ext>
            </a:extLst>
          </p:cNvPr>
          <p:cNvPicPr>
            <a:picLocks noGrp="1" noChangeAspect="1"/>
          </p:cNvPicPr>
          <p:nvPr>
            <p:ph idx="1"/>
          </p:nvPr>
        </p:nvPicPr>
        <p:blipFill>
          <a:blip r:embed="rId2"/>
          <a:stretch>
            <a:fillRect/>
          </a:stretch>
        </p:blipFill>
        <p:spPr>
          <a:xfrm>
            <a:off x="478405" y="1399173"/>
            <a:ext cx="4282440" cy="2010056"/>
          </a:xfrm>
          <a:prstGeom prst="rect">
            <a:avLst/>
          </a:prstGeom>
        </p:spPr>
      </p:pic>
      <p:pic>
        <p:nvPicPr>
          <p:cNvPr id="7" name="Picture 6">
            <a:extLst>
              <a:ext uri="{FF2B5EF4-FFF2-40B4-BE49-F238E27FC236}">
                <a16:creationId xmlns:a16="http://schemas.microsoft.com/office/drawing/2014/main" id="{1927AEBF-3FCC-9AB6-0680-CF6AF3ACFD44}"/>
              </a:ext>
            </a:extLst>
          </p:cNvPr>
          <p:cNvPicPr>
            <a:picLocks noChangeAspect="1"/>
          </p:cNvPicPr>
          <p:nvPr/>
        </p:nvPicPr>
        <p:blipFill>
          <a:blip r:embed="rId3"/>
          <a:stretch>
            <a:fillRect/>
          </a:stretch>
        </p:blipFill>
        <p:spPr>
          <a:xfrm>
            <a:off x="752724" y="3943456"/>
            <a:ext cx="3705742" cy="2762636"/>
          </a:xfrm>
          <a:prstGeom prst="rect">
            <a:avLst/>
          </a:prstGeom>
        </p:spPr>
      </p:pic>
      <p:sp>
        <p:nvSpPr>
          <p:cNvPr id="9" name="TextBox 8">
            <a:extLst>
              <a:ext uri="{FF2B5EF4-FFF2-40B4-BE49-F238E27FC236}">
                <a16:creationId xmlns:a16="http://schemas.microsoft.com/office/drawing/2014/main" id="{154D5306-FADE-9814-636B-F6E5FDD15875}"/>
              </a:ext>
            </a:extLst>
          </p:cNvPr>
          <p:cNvSpPr txBox="1"/>
          <p:nvPr/>
        </p:nvSpPr>
        <p:spPr>
          <a:xfrm>
            <a:off x="838200" y="3574124"/>
            <a:ext cx="6096000" cy="369332"/>
          </a:xfrm>
          <a:prstGeom prst="rect">
            <a:avLst/>
          </a:prstGeom>
          <a:noFill/>
        </p:spPr>
        <p:txBody>
          <a:bodyPr wrap="square">
            <a:spAutoFit/>
          </a:bodyPr>
          <a:lstStyle/>
          <a:p>
            <a:r>
              <a:rPr lang="en-IN" b="1" dirty="0">
                <a:solidFill>
                  <a:srgbClr val="FF0000"/>
                </a:solidFill>
              </a:rPr>
              <a:t>Overcoming Knowledge Limitations</a:t>
            </a:r>
          </a:p>
        </p:txBody>
      </p:sp>
      <p:sp>
        <p:nvSpPr>
          <p:cNvPr id="11" name="TextBox 10">
            <a:extLst>
              <a:ext uri="{FF2B5EF4-FFF2-40B4-BE49-F238E27FC236}">
                <a16:creationId xmlns:a16="http://schemas.microsoft.com/office/drawing/2014/main" id="{D94AAD76-49C3-06AE-F1FE-5DD264D0C754}"/>
              </a:ext>
            </a:extLst>
          </p:cNvPr>
          <p:cNvSpPr txBox="1"/>
          <p:nvPr/>
        </p:nvSpPr>
        <p:spPr>
          <a:xfrm>
            <a:off x="6934200" y="1352198"/>
            <a:ext cx="4282440" cy="369332"/>
          </a:xfrm>
          <a:prstGeom prst="rect">
            <a:avLst/>
          </a:prstGeom>
          <a:noFill/>
        </p:spPr>
        <p:txBody>
          <a:bodyPr wrap="square">
            <a:spAutoFit/>
          </a:bodyPr>
          <a:lstStyle/>
          <a:p>
            <a:r>
              <a:rPr lang="en-US" b="1" dirty="0">
                <a:solidFill>
                  <a:srgbClr val="FF0000"/>
                </a:solidFill>
              </a:rPr>
              <a:t>Improving Numerical and Logical Accuracy</a:t>
            </a:r>
            <a:endParaRPr lang="en-IN" b="1" dirty="0">
              <a:solidFill>
                <a:srgbClr val="FF0000"/>
              </a:solidFill>
            </a:endParaRPr>
          </a:p>
        </p:txBody>
      </p:sp>
      <p:pic>
        <p:nvPicPr>
          <p:cNvPr id="13" name="Picture 12">
            <a:extLst>
              <a:ext uri="{FF2B5EF4-FFF2-40B4-BE49-F238E27FC236}">
                <a16:creationId xmlns:a16="http://schemas.microsoft.com/office/drawing/2014/main" id="{38028F5E-025D-71C8-92B9-F7F042F81DDF}"/>
              </a:ext>
            </a:extLst>
          </p:cNvPr>
          <p:cNvPicPr>
            <a:picLocks noChangeAspect="1"/>
          </p:cNvPicPr>
          <p:nvPr/>
        </p:nvPicPr>
        <p:blipFill>
          <a:blip r:embed="rId4"/>
          <a:stretch>
            <a:fillRect/>
          </a:stretch>
        </p:blipFill>
        <p:spPr>
          <a:xfrm>
            <a:off x="6934200" y="1690688"/>
            <a:ext cx="4654164" cy="2252768"/>
          </a:xfrm>
          <a:prstGeom prst="rect">
            <a:avLst/>
          </a:prstGeom>
        </p:spPr>
      </p:pic>
      <p:sp>
        <p:nvSpPr>
          <p:cNvPr id="15" name="TextBox 14">
            <a:extLst>
              <a:ext uri="{FF2B5EF4-FFF2-40B4-BE49-F238E27FC236}">
                <a16:creationId xmlns:a16="http://schemas.microsoft.com/office/drawing/2014/main" id="{0992526B-C16D-6CC7-B80E-C10E8AA6C4A4}"/>
              </a:ext>
            </a:extLst>
          </p:cNvPr>
          <p:cNvSpPr txBox="1"/>
          <p:nvPr/>
        </p:nvSpPr>
        <p:spPr>
          <a:xfrm>
            <a:off x="6807200" y="3838584"/>
            <a:ext cx="6096000" cy="369332"/>
          </a:xfrm>
          <a:prstGeom prst="rect">
            <a:avLst/>
          </a:prstGeom>
          <a:noFill/>
        </p:spPr>
        <p:txBody>
          <a:bodyPr wrap="square">
            <a:spAutoFit/>
          </a:bodyPr>
          <a:lstStyle/>
          <a:p>
            <a:r>
              <a:rPr lang="en-IN" b="1" dirty="0">
                <a:solidFill>
                  <a:srgbClr val="FF0000"/>
                </a:solidFill>
              </a:rPr>
              <a:t>Enabling Complex Multi-Step Workflows</a:t>
            </a:r>
          </a:p>
        </p:txBody>
      </p:sp>
      <p:pic>
        <p:nvPicPr>
          <p:cNvPr id="17" name="Picture 16">
            <a:extLst>
              <a:ext uri="{FF2B5EF4-FFF2-40B4-BE49-F238E27FC236}">
                <a16:creationId xmlns:a16="http://schemas.microsoft.com/office/drawing/2014/main" id="{5C73EC81-09B0-5EAC-5AE2-6D3D6BCF18C7}"/>
              </a:ext>
            </a:extLst>
          </p:cNvPr>
          <p:cNvPicPr>
            <a:picLocks noChangeAspect="1"/>
          </p:cNvPicPr>
          <p:nvPr/>
        </p:nvPicPr>
        <p:blipFill>
          <a:blip r:embed="rId5"/>
          <a:stretch>
            <a:fillRect/>
          </a:stretch>
        </p:blipFill>
        <p:spPr>
          <a:xfrm>
            <a:off x="7111889" y="4207916"/>
            <a:ext cx="4476475" cy="2454125"/>
          </a:xfrm>
          <a:prstGeom prst="rect">
            <a:avLst/>
          </a:prstGeom>
        </p:spPr>
      </p:pic>
    </p:spTree>
    <p:extLst>
      <p:ext uri="{BB962C8B-B14F-4D97-AF65-F5344CB8AC3E}">
        <p14:creationId xmlns:p14="http://schemas.microsoft.com/office/powerpoint/2010/main" val="3752948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DBDBC-04CE-59C5-14CE-7B3E0D04B10E}"/>
              </a:ext>
            </a:extLst>
          </p:cNvPr>
          <p:cNvSpPr>
            <a:spLocks noGrp="1"/>
          </p:cNvSpPr>
          <p:nvPr>
            <p:ph type="title"/>
          </p:nvPr>
        </p:nvSpPr>
        <p:spPr/>
        <p:txBody>
          <a:bodyPr>
            <a:noAutofit/>
          </a:bodyPr>
          <a:lstStyle/>
          <a:p>
            <a:pPr algn="ctr"/>
            <a:r>
              <a:rPr lang="en-US" sz="2500" b="1" dirty="0">
                <a:solidFill>
                  <a:srgbClr val="FF0000"/>
                </a:solidFill>
              </a:rPr>
              <a:t>Conceptual Flow of Tool-Augmented Prompting</a:t>
            </a:r>
            <a:br>
              <a:rPr lang="en-US" sz="2500" b="1" dirty="0"/>
            </a:br>
            <a:r>
              <a:rPr lang="en-US" sz="2500" b="1" dirty="0"/>
              <a:t>User Query → LLM Reasoning → Tool Selection → Tool Execution → Result Integration → Final Answer</a:t>
            </a:r>
            <a:br>
              <a:rPr lang="en-US" sz="2500" dirty="0"/>
            </a:br>
            <a:endParaRPr lang="en-IN" sz="2500" dirty="0"/>
          </a:p>
        </p:txBody>
      </p:sp>
      <p:sp>
        <p:nvSpPr>
          <p:cNvPr id="3" name="Content Placeholder 2">
            <a:extLst>
              <a:ext uri="{FF2B5EF4-FFF2-40B4-BE49-F238E27FC236}">
                <a16:creationId xmlns:a16="http://schemas.microsoft.com/office/drawing/2014/main" id="{DCB48DE5-B7D3-F83A-07E9-B11B934759A7}"/>
              </a:ext>
            </a:extLst>
          </p:cNvPr>
          <p:cNvSpPr>
            <a:spLocks noGrp="1"/>
          </p:cNvSpPr>
          <p:nvPr>
            <p:ph idx="1"/>
          </p:nvPr>
        </p:nvSpPr>
        <p:spPr/>
        <p:txBody>
          <a:bodyPr numCol="2">
            <a:normAutofit fontScale="92500" lnSpcReduction="20000"/>
          </a:bodyPr>
          <a:lstStyle/>
          <a:p>
            <a:pPr marL="0" indent="0">
              <a:buNone/>
            </a:pPr>
            <a:r>
              <a:rPr lang="en-US" b="1" dirty="0"/>
              <a:t>Reducing Hallucination</a:t>
            </a:r>
          </a:p>
          <a:p>
            <a:r>
              <a:rPr lang="en-US" dirty="0"/>
              <a:t>Instead of guessing:</a:t>
            </a:r>
          </a:p>
          <a:p>
            <a:r>
              <a:rPr lang="en-US" dirty="0"/>
              <a:t>The model verifies through search</a:t>
            </a:r>
          </a:p>
          <a:p>
            <a:r>
              <a:rPr lang="en-US" dirty="0"/>
              <a:t>It checks facts via retrieval</a:t>
            </a:r>
          </a:p>
          <a:p>
            <a:r>
              <a:rPr lang="en-US" dirty="0"/>
              <a:t>It queries structured knowledge bases</a:t>
            </a:r>
          </a:p>
          <a:p>
            <a:r>
              <a:rPr lang="en-US" dirty="0"/>
              <a:t>This increases reliability in scientific, legal, financial, and medical domains.</a:t>
            </a:r>
          </a:p>
          <a:p>
            <a:endParaRPr lang="en-US" dirty="0"/>
          </a:p>
          <a:p>
            <a:endParaRPr lang="en-US" dirty="0"/>
          </a:p>
          <a:p>
            <a:pPr marL="0" indent="0">
              <a:buNone/>
            </a:pPr>
            <a:r>
              <a:rPr lang="en-IN" b="1" dirty="0"/>
              <a:t>Expanding Functional Capabilities</a:t>
            </a:r>
          </a:p>
          <a:p>
            <a:pPr marL="0" indent="0">
              <a:buNone/>
            </a:pPr>
            <a:r>
              <a:rPr lang="en-IN" dirty="0"/>
              <a:t>With tools, an LLM can:</a:t>
            </a:r>
          </a:p>
          <a:p>
            <a:r>
              <a:rPr lang="en-IN" dirty="0"/>
              <a:t>Execute code</a:t>
            </a:r>
          </a:p>
          <a:p>
            <a:r>
              <a:rPr lang="en-IN" dirty="0"/>
              <a:t>Analyze datasets</a:t>
            </a:r>
          </a:p>
          <a:p>
            <a:r>
              <a:rPr lang="en-IN" dirty="0"/>
              <a:t>Generate visualizations</a:t>
            </a:r>
          </a:p>
          <a:p>
            <a:r>
              <a:rPr lang="en-IN" dirty="0"/>
              <a:t>Access enterprise systems</a:t>
            </a:r>
          </a:p>
          <a:p>
            <a:r>
              <a:rPr lang="en-IN" dirty="0"/>
              <a:t>Interact with software environments</a:t>
            </a:r>
          </a:p>
          <a:p>
            <a:r>
              <a:rPr lang="en-IN" dirty="0"/>
              <a:t>This transforms a static chatbot into an interactive computational system.</a:t>
            </a:r>
          </a:p>
          <a:p>
            <a:endParaRPr lang="en-IN" dirty="0"/>
          </a:p>
        </p:txBody>
      </p:sp>
    </p:spTree>
    <p:extLst>
      <p:ext uri="{BB962C8B-B14F-4D97-AF65-F5344CB8AC3E}">
        <p14:creationId xmlns:p14="http://schemas.microsoft.com/office/powerpoint/2010/main" val="4261668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CEF4F-B73D-E7AF-7287-A98C8773051C}"/>
              </a:ext>
            </a:extLst>
          </p:cNvPr>
          <p:cNvSpPr>
            <a:spLocks noGrp="1"/>
          </p:cNvSpPr>
          <p:nvPr>
            <p:ph type="title"/>
          </p:nvPr>
        </p:nvSpPr>
        <p:spPr/>
        <p:txBody>
          <a:bodyPr/>
          <a:lstStyle/>
          <a:p>
            <a:r>
              <a:rPr lang="en-US" dirty="0">
                <a:solidFill>
                  <a:srgbClr val="FF0000"/>
                </a:solidFill>
              </a:rPr>
              <a:t>Add-on </a:t>
            </a:r>
            <a:endParaRPr lang="en-IN" dirty="0">
              <a:solidFill>
                <a:srgbClr val="FF0000"/>
              </a:solidFill>
            </a:endParaRPr>
          </a:p>
        </p:txBody>
      </p:sp>
      <p:sp>
        <p:nvSpPr>
          <p:cNvPr id="3" name="Content Placeholder 2">
            <a:extLst>
              <a:ext uri="{FF2B5EF4-FFF2-40B4-BE49-F238E27FC236}">
                <a16:creationId xmlns:a16="http://schemas.microsoft.com/office/drawing/2014/main" id="{1DEC2B0D-CEAF-F23E-F066-0B58A9764631}"/>
              </a:ext>
            </a:extLst>
          </p:cNvPr>
          <p:cNvSpPr>
            <a:spLocks noGrp="1"/>
          </p:cNvSpPr>
          <p:nvPr>
            <p:ph idx="1"/>
          </p:nvPr>
        </p:nvSpPr>
        <p:spPr/>
        <p:txBody>
          <a:bodyPr>
            <a:normAutofit fontScale="85000" lnSpcReduction="20000"/>
          </a:bodyPr>
          <a:lstStyle/>
          <a:p>
            <a:pPr marL="0" indent="0">
              <a:buNone/>
            </a:pPr>
            <a:r>
              <a:rPr lang="en-IN" b="1" dirty="0"/>
              <a:t>In Agentic AI Systems</a:t>
            </a:r>
          </a:p>
          <a:p>
            <a:pPr marL="0" indent="0">
              <a:buNone/>
            </a:pPr>
            <a:r>
              <a:rPr lang="en-IN" dirty="0"/>
              <a:t>Tool-augmented prompting enables:</a:t>
            </a:r>
          </a:p>
          <a:p>
            <a:r>
              <a:rPr lang="en-IN" dirty="0"/>
              <a:t>Autonomous planning</a:t>
            </a:r>
          </a:p>
          <a:p>
            <a:r>
              <a:rPr lang="en-IN" dirty="0"/>
              <a:t>Multi-step reasoning</a:t>
            </a:r>
          </a:p>
          <a:p>
            <a:r>
              <a:rPr lang="en-IN" dirty="0"/>
              <a:t>External action execution</a:t>
            </a:r>
          </a:p>
          <a:p>
            <a:r>
              <a:rPr lang="en-IN" dirty="0"/>
              <a:t>Self-verification loops</a:t>
            </a:r>
          </a:p>
          <a:p>
            <a:pPr marL="0" indent="0">
              <a:buNone/>
            </a:pPr>
            <a:r>
              <a:rPr lang="en-IN" dirty="0"/>
              <a:t>It is foundational for:</a:t>
            </a:r>
          </a:p>
          <a:p>
            <a:r>
              <a:rPr lang="en-IN" dirty="0"/>
              <a:t>RAG systems</a:t>
            </a:r>
          </a:p>
          <a:p>
            <a:r>
              <a:rPr lang="en-IN" dirty="0"/>
              <a:t>Autonomous agents</a:t>
            </a:r>
          </a:p>
          <a:p>
            <a:r>
              <a:rPr lang="en-IN" dirty="0"/>
              <a:t>Enterprise AI copilots</a:t>
            </a:r>
          </a:p>
          <a:p>
            <a:r>
              <a:rPr lang="en-IN" dirty="0"/>
              <a:t>Scientific AI workflows</a:t>
            </a:r>
          </a:p>
          <a:p>
            <a:endParaRPr lang="en-IN" dirty="0"/>
          </a:p>
        </p:txBody>
      </p:sp>
    </p:spTree>
    <p:extLst>
      <p:ext uri="{BB962C8B-B14F-4D97-AF65-F5344CB8AC3E}">
        <p14:creationId xmlns:p14="http://schemas.microsoft.com/office/powerpoint/2010/main" val="1716641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0B89-97B1-339B-D4EF-F2CF350A7DF7}"/>
              </a:ext>
            </a:extLst>
          </p:cNvPr>
          <p:cNvSpPr>
            <a:spLocks noGrp="1"/>
          </p:cNvSpPr>
          <p:nvPr>
            <p:ph type="title"/>
          </p:nvPr>
        </p:nvSpPr>
        <p:spPr>
          <a:xfrm>
            <a:off x="838200" y="365125"/>
            <a:ext cx="8732520" cy="1325563"/>
          </a:xfrm>
        </p:spPr>
        <p:txBody>
          <a:bodyPr/>
          <a:lstStyle/>
          <a:p>
            <a:pPr algn="r"/>
            <a:r>
              <a:rPr lang="en-US" b="1" dirty="0">
                <a:solidFill>
                  <a:srgbClr val="FF0000"/>
                </a:solidFill>
              </a:rPr>
              <a:t>Architecture Diagram of TAP	</a:t>
            </a:r>
            <a:endParaRPr lang="en-IN" b="1" dirty="0">
              <a:solidFill>
                <a:srgbClr val="FF0000"/>
              </a:solidFill>
            </a:endParaRPr>
          </a:p>
        </p:txBody>
      </p:sp>
      <p:pic>
        <p:nvPicPr>
          <p:cNvPr id="5" name="Content Placeholder 4">
            <a:extLst>
              <a:ext uri="{FF2B5EF4-FFF2-40B4-BE49-F238E27FC236}">
                <a16:creationId xmlns:a16="http://schemas.microsoft.com/office/drawing/2014/main" id="{6EF7813C-9D45-458A-05AD-10D2B1CEF404}"/>
              </a:ext>
            </a:extLst>
          </p:cNvPr>
          <p:cNvPicPr>
            <a:picLocks noGrp="1" noChangeAspect="1"/>
          </p:cNvPicPr>
          <p:nvPr>
            <p:ph idx="1"/>
          </p:nvPr>
        </p:nvPicPr>
        <p:blipFill>
          <a:blip r:embed="rId2"/>
          <a:stretch>
            <a:fillRect/>
          </a:stretch>
        </p:blipFill>
        <p:spPr>
          <a:xfrm>
            <a:off x="2174059" y="1402080"/>
            <a:ext cx="8732520" cy="5171440"/>
          </a:xfrm>
          <a:prstGeom prst="rect">
            <a:avLst/>
          </a:prstGeom>
        </p:spPr>
      </p:pic>
    </p:spTree>
    <p:extLst>
      <p:ext uri="{BB962C8B-B14F-4D97-AF65-F5344CB8AC3E}">
        <p14:creationId xmlns:p14="http://schemas.microsoft.com/office/powerpoint/2010/main" val="427053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661C-C2D7-94B7-AAA9-6B8EA00119F4}"/>
              </a:ext>
            </a:extLst>
          </p:cNvPr>
          <p:cNvSpPr>
            <a:spLocks noGrp="1"/>
          </p:cNvSpPr>
          <p:nvPr>
            <p:ph type="title"/>
          </p:nvPr>
        </p:nvSpPr>
        <p:spPr>
          <a:xfrm>
            <a:off x="838200" y="365125"/>
            <a:ext cx="10515600" cy="721995"/>
          </a:xfrm>
        </p:spPr>
        <p:txBody>
          <a:bodyPr/>
          <a:lstStyle/>
          <a:p>
            <a:r>
              <a:rPr lang="en-US" b="1" dirty="0">
                <a:solidFill>
                  <a:srgbClr val="FF0000"/>
                </a:solidFill>
              </a:rPr>
              <a:t>Components of TAP </a:t>
            </a:r>
            <a:endParaRPr lang="en-IN" b="1" dirty="0">
              <a:solidFill>
                <a:srgbClr val="FF0000"/>
              </a:solidFill>
            </a:endParaRPr>
          </a:p>
        </p:txBody>
      </p:sp>
      <p:sp>
        <p:nvSpPr>
          <p:cNvPr id="3" name="Content Placeholder 2">
            <a:extLst>
              <a:ext uri="{FF2B5EF4-FFF2-40B4-BE49-F238E27FC236}">
                <a16:creationId xmlns:a16="http://schemas.microsoft.com/office/drawing/2014/main" id="{65AF9FB9-0031-9BC4-EB18-A7F7885D6071}"/>
              </a:ext>
            </a:extLst>
          </p:cNvPr>
          <p:cNvSpPr>
            <a:spLocks noGrp="1"/>
          </p:cNvSpPr>
          <p:nvPr>
            <p:ph idx="1"/>
          </p:nvPr>
        </p:nvSpPr>
        <p:spPr>
          <a:xfrm>
            <a:off x="284480" y="1087120"/>
            <a:ext cx="11623040" cy="5608320"/>
          </a:xfrm>
        </p:spPr>
        <p:txBody>
          <a:bodyPr numCol="3">
            <a:noAutofit/>
          </a:bodyPr>
          <a:lstStyle/>
          <a:p>
            <a:pPr marL="0" indent="0">
              <a:buNone/>
            </a:pPr>
            <a:r>
              <a:rPr lang="en-US" sz="1400" b="1" dirty="0">
                <a:latin typeface="Times New Roman" panose="02020603050405020304" pitchFamily="18" charset="0"/>
                <a:cs typeface="Times New Roman" panose="02020603050405020304" pitchFamily="18" charset="0"/>
              </a:rPr>
              <a:t>Task Understanding &amp; Intent Recognition</a:t>
            </a:r>
          </a:p>
          <a:p>
            <a:pPr marL="0" indent="0">
              <a:buNone/>
            </a:pPr>
            <a:r>
              <a:rPr lang="en-US" sz="1400" dirty="0">
                <a:latin typeface="Times New Roman" panose="02020603050405020304" pitchFamily="18" charset="0"/>
                <a:cs typeface="Times New Roman" panose="02020603050405020304" pitchFamily="18" charset="0"/>
              </a:rPr>
              <a:t>The system first interprets:</a:t>
            </a:r>
          </a:p>
          <a:p>
            <a:r>
              <a:rPr lang="en-US" sz="1400" dirty="0">
                <a:latin typeface="Times New Roman" panose="02020603050405020304" pitchFamily="18" charset="0"/>
                <a:cs typeface="Times New Roman" panose="02020603050405020304" pitchFamily="18" charset="0"/>
              </a:rPr>
              <a:t>User intent</a:t>
            </a:r>
          </a:p>
          <a:p>
            <a:r>
              <a:rPr lang="en-US" sz="1400" dirty="0">
                <a:latin typeface="Times New Roman" panose="02020603050405020304" pitchFamily="18" charset="0"/>
                <a:cs typeface="Times New Roman" panose="02020603050405020304" pitchFamily="18" charset="0"/>
              </a:rPr>
              <a:t>Task complexity</a:t>
            </a:r>
          </a:p>
          <a:p>
            <a:r>
              <a:rPr lang="en-US" sz="1400" dirty="0">
                <a:latin typeface="Times New Roman" panose="02020603050405020304" pitchFamily="18" charset="0"/>
                <a:cs typeface="Times New Roman" panose="02020603050405020304" pitchFamily="18" charset="0"/>
              </a:rPr>
              <a:t>Required knowledge type (factual, computational, procedural)</a:t>
            </a:r>
          </a:p>
          <a:p>
            <a:pPr marL="0" indent="0">
              <a:buNone/>
            </a:pPr>
            <a:r>
              <a:rPr lang="en-US" sz="1400" dirty="0">
                <a:latin typeface="Times New Roman" panose="02020603050405020304" pitchFamily="18" charset="0"/>
                <a:cs typeface="Times New Roman" panose="02020603050405020304" pitchFamily="18" charset="0"/>
              </a:rPr>
              <a:t>This stage determines whether internal reasoning is sufficient or tool usage is necessary.</a:t>
            </a:r>
          </a:p>
          <a:p>
            <a:pPr marL="0" indent="0">
              <a:buNone/>
            </a:pPr>
            <a:r>
              <a:rPr lang="en-US" sz="1400" b="1" dirty="0">
                <a:latin typeface="Times New Roman" panose="02020603050405020304" pitchFamily="18" charset="0"/>
                <a:cs typeface="Times New Roman" panose="02020603050405020304" pitchFamily="18" charset="0"/>
              </a:rPr>
              <a:t>Reasoning &amp; Planning Module</a:t>
            </a:r>
          </a:p>
          <a:p>
            <a:pPr marL="0" indent="0">
              <a:buNone/>
            </a:pPr>
            <a:r>
              <a:rPr lang="en-US" sz="1400" dirty="0">
                <a:latin typeface="Times New Roman" panose="02020603050405020304" pitchFamily="18" charset="0"/>
                <a:cs typeface="Times New Roman" panose="02020603050405020304" pitchFamily="18" charset="0"/>
              </a:rPr>
              <a:t>The model decomposes the task into:</a:t>
            </a:r>
          </a:p>
          <a:p>
            <a:r>
              <a:rPr lang="en-US" sz="1400" dirty="0">
                <a:latin typeface="Times New Roman" panose="02020603050405020304" pitchFamily="18" charset="0"/>
                <a:cs typeface="Times New Roman" panose="02020603050405020304" pitchFamily="18" charset="0"/>
              </a:rPr>
              <a:t>Sub-tasks</a:t>
            </a:r>
          </a:p>
          <a:p>
            <a:r>
              <a:rPr lang="en-US" sz="1400" dirty="0">
                <a:latin typeface="Times New Roman" panose="02020603050405020304" pitchFamily="18" charset="0"/>
                <a:cs typeface="Times New Roman" panose="02020603050405020304" pitchFamily="18" charset="0"/>
              </a:rPr>
              <a:t>Ordered reasoning steps</a:t>
            </a:r>
          </a:p>
          <a:p>
            <a:r>
              <a:rPr lang="en-US" sz="1400" dirty="0">
                <a:latin typeface="Times New Roman" panose="02020603050405020304" pitchFamily="18" charset="0"/>
                <a:cs typeface="Times New Roman" panose="02020603050405020304" pitchFamily="18" charset="0"/>
              </a:rPr>
              <a:t>Tool-dependent vs non-tool steps</a:t>
            </a:r>
          </a:p>
          <a:p>
            <a:pPr marL="0" indent="0">
              <a:buNone/>
            </a:pPr>
            <a:r>
              <a:rPr lang="en-US" sz="1400" dirty="0">
                <a:latin typeface="Times New Roman" panose="02020603050405020304" pitchFamily="18" charset="0"/>
                <a:cs typeface="Times New Roman" panose="02020603050405020304" pitchFamily="18" charset="0"/>
              </a:rPr>
              <a:t>This planning layer is critical in agentic workflows where multi-step execution is required.</a:t>
            </a:r>
          </a:p>
          <a:p>
            <a:pPr marL="0" indent="0">
              <a:buNone/>
            </a:pPr>
            <a:r>
              <a:rPr lang="en-US" sz="1400" b="1" dirty="0">
                <a:latin typeface="Times New Roman" panose="02020603050405020304" pitchFamily="18" charset="0"/>
                <a:cs typeface="Times New Roman" panose="02020603050405020304" pitchFamily="18" charset="0"/>
              </a:rPr>
              <a:t>Tool Registry / Tool Library</a:t>
            </a:r>
          </a:p>
          <a:p>
            <a:pPr marL="0" indent="0">
              <a:buNone/>
            </a:pPr>
            <a:r>
              <a:rPr lang="en-US" sz="1400" dirty="0">
                <a:latin typeface="Times New Roman" panose="02020603050405020304" pitchFamily="18" charset="0"/>
                <a:cs typeface="Times New Roman" panose="02020603050405020304" pitchFamily="18" charset="0"/>
              </a:rPr>
              <a:t>A structured catalog of available tools, such as:</a:t>
            </a:r>
          </a:p>
          <a:p>
            <a:r>
              <a:rPr lang="en-US" sz="1400" dirty="0">
                <a:latin typeface="Times New Roman" panose="02020603050405020304" pitchFamily="18" charset="0"/>
                <a:cs typeface="Times New Roman" panose="02020603050405020304" pitchFamily="18" charset="0"/>
              </a:rPr>
              <a:t>Web search APIs</a:t>
            </a:r>
          </a:p>
          <a:p>
            <a:r>
              <a:rPr lang="en-US" sz="1400" dirty="0">
                <a:latin typeface="Times New Roman" panose="02020603050405020304" pitchFamily="18" charset="0"/>
                <a:cs typeface="Times New Roman" panose="02020603050405020304" pitchFamily="18" charset="0"/>
              </a:rPr>
              <a:t>Calculators</a:t>
            </a:r>
          </a:p>
          <a:p>
            <a:r>
              <a:rPr lang="en-US" sz="1400" dirty="0">
                <a:latin typeface="Times New Roman" panose="02020603050405020304" pitchFamily="18" charset="0"/>
                <a:cs typeface="Times New Roman" panose="02020603050405020304" pitchFamily="18" charset="0"/>
              </a:rPr>
              <a:t>Code interpreters</a:t>
            </a:r>
          </a:p>
          <a:p>
            <a:r>
              <a:rPr lang="en-US" sz="1400" dirty="0">
                <a:latin typeface="Times New Roman" panose="02020603050405020304" pitchFamily="18" charset="0"/>
                <a:cs typeface="Times New Roman" panose="02020603050405020304" pitchFamily="18" charset="0"/>
              </a:rPr>
              <a:t>Databases</a:t>
            </a:r>
          </a:p>
          <a:p>
            <a:r>
              <a:rPr lang="en-US" sz="1400" dirty="0">
                <a:latin typeface="Times New Roman" panose="02020603050405020304" pitchFamily="18" charset="0"/>
                <a:cs typeface="Times New Roman" panose="02020603050405020304" pitchFamily="18" charset="0"/>
              </a:rPr>
              <a:t>Domain-specific APIs</a:t>
            </a:r>
          </a:p>
          <a:p>
            <a:r>
              <a:rPr lang="en-US" sz="1400" dirty="0">
                <a:latin typeface="Times New Roman" panose="02020603050405020304" pitchFamily="18" charset="0"/>
                <a:cs typeface="Times New Roman" panose="02020603050405020304" pitchFamily="18" charset="0"/>
              </a:rPr>
              <a:t>Each tool is defined with:</a:t>
            </a:r>
          </a:p>
          <a:p>
            <a:r>
              <a:rPr lang="en-US" sz="1400" dirty="0">
                <a:latin typeface="Times New Roman" panose="02020603050405020304" pitchFamily="18" charset="0"/>
                <a:cs typeface="Times New Roman" panose="02020603050405020304" pitchFamily="18" charset="0"/>
              </a:rPr>
              <a:t>Input schema</a:t>
            </a:r>
          </a:p>
          <a:p>
            <a:r>
              <a:rPr lang="en-US" sz="1400" dirty="0">
                <a:latin typeface="Times New Roman" panose="02020603050405020304" pitchFamily="18" charset="0"/>
                <a:cs typeface="Times New Roman" panose="02020603050405020304" pitchFamily="18" charset="0"/>
              </a:rPr>
              <a:t>Output format</a:t>
            </a:r>
          </a:p>
          <a:p>
            <a:r>
              <a:rPr lang="en-US" sz="1400" dirty="0">
                <a:latin typeface="Times New Roman" panose="02020603050405020304" pitchFamily="18" charset="0"/>
                <a:cs typeface="Times New Roman" panose="02020603050405020304" pitchFamily="18" charset="0"/>
              </a:rPr>
              <a:t>Execution constraints</a:t>
            </a:r>
          </a:p>
          <a:p>
            <a:pPr marL="0" indent="0">
              <a:buNone/>
            </a:pPr>
            <a:r>
              <a:rPr lang="en-US" sz="1400" b="1" dirty="0">
                <a:latin typeface="Times New Roman" panose="02020603050405020304" pitchFamily="18" charset="0"/>
                <a:cs typeface="Times New Roman" panose="02020603050405020304" pitchFamily="18" charset="0"/>
              </a:rPr>
              <a:t>Tool Selection Mechanism</a:t>
            </a:r>
          </a:p>
          <a:p>
            <a:r>
              <a:rPr lang="en-US" sz="1400" dirty="0">
                <a:latin typeface="Times New Roman" panose="02020603050405020304" pitchFamily="18" charset="0"/>
                <a:cs typeface="Times New Roman" panose="02020603050405020304" pitchFamily="18" charset="0"/>
              </a:rPr>
              <a:t>The model decides:</a:t>
            </a:r>
          </a:p>
          <a:p>
            <a:r>
              <a:rPr lang="en-US" sz="1400" dirty="0">
                <a:latin typeface="Times New Roman" panose="02020603050405020304" pitchFamily="18" charset="0"/>
                <a:cs typeface="Times New Roman" panose="02020603050405020304" pitchFamily="18" charset="0"/>
              </a:rPr>
              <a:t>Which tool to use</a:t>
            </a:r>
          </a:p>
          <a:p>
            <a:r>
              <a:rPr lang="en-US" sz="1400" dirty="0">
                <a:latin typeface="Times New Roman" panose="02020603050405020304" pitchFamily="18" charset="0"/>
                <a:cs typeface="Times New Roman" panose="02020603050405020304" pitchFamily="18" charset="0"/>
              </a:rPr>
              <a:t>When to use it</a:t>
            </a:r>
          </a:p>
          <a:p>
            <a:r>
              <a:rPr lang="en-US" sz="1400" dirty="0">
                <a:latin typeface="Times New Roman" panose="02020603050405020304" pitchFamily="18" charset="0"/>
                <a:cs typeface="Times New Roman" panose="02020603050405020304" pitchFamily="18" charset="0"/>
              </a:rPr>
              <a:t>Whether multiple tools are required</a:t>
            </a:r>
          </a:p>
          <a:p>
            <a:r>
              <a:rPr lang="en-US" sz="1400" dirty="0">
                <a:latin typeface="Times New Roman" panose="02020603050405020304" pitchFamily="18" charset="0"/>
                <a:cs typeface="Times New Roman" panose="02020603050405020304" pitchFamily="18" charset="0"/>
              </a:rPr>
              <a:t>Selection may be rule-based, prompt-guided, or learned via reinforcement learning.</a:t>
            </a:r>
          </a:p>
          <a:p>
            <a:pPr marL="0" indent="0">
              <a:buNone/>
            </a:pPr>
            <a:r>
              <a:rPr lang="en-US" sz="1400" b="1" dirty="0">
                <a:latin typeface="Times New Roman" panose="02020603050405020304" pitchFamily="18" charset="0"/>
                <a:cs typeface="Times New Roman" panose="02020603050405020304" pitchFamily="18" charset="0"/>
              </a:rPr>
              <a:t>Tool Invocation Interface</a:t>
            </a:r>
          </a:p>
          <a:p>
            <a:pPr marL="0" indent="0">
              <a:buNone/>
            </a:pPr>
            <a:r>
              <a:rPr lang="en-US" sz="1400" dirty="0">
                <a:latin typeface="Times New Roman" panose="02020603050405020304" pitchFamily="18" charset="0"/>
                <a:cs typeface="Times New Roman" panose="02020603050405020304" pitchFamily="18" charset="0"/>
              </a:rPr>
              <a:t>The model generates: Structured arguments, API calls, Code snippets</a:t>
            </a:r>
          </a:p>
          <a:p>
            <a:pPr marL="0" indent="0">
              <a:buNone/>
            </a:pPr>
            <a:r>
              <a:rPr lang="en-US" sz="1400" dirty="0">
                <a:latin typeface="Times New Roman" panose="02020603050405020304" pitchFamily="18" charset="0"/>
                <a:cs typeface="Times New Roman" panose="02020603050405020304" pitchFamily="18" charset="0"/>
              </a:rPr>
              <a:t>This component converts natural language reasoning into machine-readable tool commands.</a:t>
            </a:r>
          </a:p>
          <a:p>
            <a:pPr marL="0" indent="0">
              <a:buNone/>
            </a:pPr>
            <a:r>
              <a:rPr lang="en-US" sz="1400" b="1" dirty="0">
                <a:latin typeface="Times New Roman" panose="02020603050405020304" pitchFamily="18" charset="0"/>
                <a:cs typeface="Times New Roman" panose="02020603050405020304" pitchFamily="18" charset="0"/>
              </a:rPr>
              <a:t>Observation &amp; Feedback Integration</a:t>
            </a:r>
          </a:p>
          <a:p>
            <a:r>
              <a:rPr lang="en-US" sz="1400" dirty="0">
                <a:latin typeface="Times New Roman" panose="02020603050405020304" pitchFamily="18" charset="0"/>
                <a:cs typeface="Times New Roman" panose="02020603050405020304" pitchFamily="18" charset="0"/>
              </a:rPr>
              <a:t>Tool outputs are:</a:t>
            </a:r>
          </a:p>
          <a:p>
            <a:r>
              <a:rPr lang="en-US" sz="1400" dirty="0">
                <a:latin typeface="Times New Roman" panose="02020603050405020304" pitchFamily="18" charset="0"/>
                <a:cs typeface="Times New Roman" panose="02020603050405020304" pitchFamily="18" charset="0"/>
              </a:rPr>
              <a:t>Parsed</a:t>
            </a:r>
          </a:p>
          <a:p>
            <a:r>
              <a:rPr lang="en-US" sz="1400" dirty="0">
                <a:latin typeface="Times New Roman" panose="02020603050405020304" pitchFamily="18" charset="0"/>
                <a:cs typeface="Times New Roman" panose="02020603050405020304" pitchFamily="18" charset="0"/>
              </a:rPr>
              <a:t>Validated</a:t>
            </a:r>
          </a:p>
          <a:p>
            <a:r>
              <a:rPr lang="en-US" sz="1400" dirty="0">
                <a:latin typeface="Times New Roman" panose="02020603050405020304" pitchFamily="18" charset="0"/>
                <a:cs typeface="Times New Roman" panose="02020603050405020304" pitchFamily="18" charset="0"/>
              </a:rPr>
              <a:t>Incorporated back into the reasoning chain</a:t>
            </a:r>
          </a:p>
          <a:p>
            <a:pPr marL="0" indent="0">
              <a:buNone/>
            </a:pPr>
            <a:r>
              <a:rPr lang="en-US" sz="1400" dirty="0">
                <a:latin typeface="Times New Roman" panose="02020603050405020304" pitchFamily="18" charset="0"/>
                <a:cs typeface="Times New Roman" panose="02020603050405020304" pitchFamily="18" charset="0"/>
              </a:rPr>
              <a:t>The model updates its internal state using the returned evidence.</a:t>
            </a:r>
          </a:p>
          <a:p>
            <a:pPr marL="0" indent="0">
              <a:buNone/>
            </a:pPr>
            <a:r>
              <a:rPr lang="en-US" sz="1400" b="1" dirty="0">
                <a:latin typeface="Times New Roman" panose="02020603050405020304" pitchFamily="18" charset="0"/>
                <a:cs typeface="Times New Roman" panose="02020603050405020304" pitchFamily="18" charset="0"/>
              </a:rPr>
              <a:t>Response Synthesis</a:t>
            </a:r>
          </a:p>
          <a:p>
            <a:r>
              <a:rPr lang="en-US" sz="1400" dirty="0">
                <a:latin typeface="Times New Roman" panose="02020603050405020304" pitchFamily="18" charset="0"/>
                <a:cs typeface="Times New Roman" panose="02020603050405020304" pitchFamily="18" charset="0"/>
              </a:rPr>
              <a:t>The final answer is generated by:</a:t>
            </a:r>
          </a:p>
          <a:p>
            <a:r>
              <a:rPr lang="en-US" sz="1400" dirty="0">
                <a:latin typeface="Times New Roman" panose="02020603050405020304" pitchFamily="18" charset="0"/>
                <a:cs typeface="Times New Roman" panose="02020603050405020304" pitchFamily="18" charset="0"/>
              </a:rPr>
              <a:t>Combining internal reasoning</a:t>
            </a:r>
          </a:p>
          <a:p>
            <a:r>
              <a:rPr lang="en-US" sz="1400" dirty="0">
                <a:latin typeface="Times New Roman" panose="02020603050405020304" pitchFamily="18" charset="0"/>
                <a:cs typeface="Times New Roman" panose="02020603050405020304" pitchFamily="18" charset="0"/>
              </a:rPr>
              <a:t>Integrating tool outputs</a:t>
            </a:r>
          </a:p>
          <a:p>
            <a:r>
              <a:rPr lang="en-US" sz="1400" dirty="0">
                <a:latin typeface="Times New Roman" panose="02020603050405020304" pitchFamily="18" charset="0"/>
                <a:cs typeface="Times New Roman" panose="02020603050405020304" pitchFamily="18" charset="0"/>
              </a:rPr>
              <a:t>Structuring information clearly for the user</a:t>
            </a:r>
          </a:p>
          <a:p>
            <a:pPr marL="0" indent="0">
              <a:buNone/>
            </a:pPr>
            <a:r>
              <a:rPr lang="en-US" sz="1400" dirty="0">
                <a:latin typeface="Times New Roman" panose="02020603050405020304" pitchFamily="18" charset="0"/>
                <a:cs typeface="Times New Roman" panose="02020603050405020304" pitchFamily="18" charset="0"/>
              </a:rPr>
              <a:t>This ensures coherence, accuracy, and completeness.</a:t>
            </a:r>
          </a:p>
          <a:p>
            <a:pPr marL="0" indent="0">
              <a:buNone/>
            </a:pPr>
            <a:r>
              <a:rPr lang="en-IN" sz="1400" b="1" dirty="0">
                <a:solidFill>
                  <a:schemeClr val="accent1">
                    <a:lumMod val="50000"/>
                  </a:schemeClr>
                </a:solidFill>
                <a:latin typeface="Times New Roman" panose="02020603050405020304" pitchFamily="18" charset="0"/>
                <a:cs typeface="Times New Roman" panose="02020603050405020304" pitchFamily="18" charset="0"/>
              </a:rPr>
              <a:t>User Input → Intent Detection → Planning → Tool Selection → Tool Invocation → Execution → Feedback Integration → Final Output</a:t>
            </a:r>
          </a:p>
        </p:txBody>
      </p:sp>
    </p:spTree>
    <p:extLst>
      <p:ext uri="{BB962C8B-B14F-4D97-AF65-F5344CB8AC3E}">
        <p14:creationId xmlns:p14="http://schemas.microsoft.com/office/powerpoint/2010/main" val="2444332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EC60C-8955-4586-6DF9-77A4436A566E}"/>
              </a:ext>
            </a:extLst>
          </p:cNvPr>
          <p:cNvSpPr>
            <a:spLocks noGrp="1"/>
          </p:cNvSpPr>
          <p:nvPr>
            <p:ph type="title"/>
          </p:nvPr>
        </p:nvSpPr>
        <p:spPr/>
        <p:txBody>
          <a:bodyPr/>
          <a:lstStyle/>
          <a:p>
            <a:r>
              <a:rPr lang="en-US" b="1" dirty="0">
                <a:solidFill>
                  <a:srgbClr val="FF0000"/>
                </a:solidFill>
              </a:rPr>
              <a:t>Architectural Workflow of Tool-Augmented Prompting (TAP) - </a:t>
            </a:r>
            <a:r>
              <a:rPr lang="en-IN" b="1" dirty="0">
                <a:solidFill>
                  <a:srgbClr val="FF0000"/>
                </a:solidFill>
              </a:rPr>
              <a:t>User Query Processing</a:t>
            </a:r>
          </a:p>
        </p:txBody>
      </p:sp>
      <p:sp>
        <p:nvSpPr>
          <p:cNvPr id="3" name="Content Placeholder 2">
            <a:extLst>
              <a:ext uri="{FF2B5EF4-FFF2-40B4-BE49-F238E27FC236}">
                <a16:creationId xmlns:a16="http://schemas.microsoft.com/office/drawing/2014/main" id="{7455AAA6-BB59-CBBF-B43E-86433A38BEEC}"/>
              </a:ext>
            </a:extLst>
          </p:cNvPr>
          <p:cNvSpPr>
            <a:spLocks noGrp="1"/>
          </p:cNvSpPr>
          <p:nvPr>
            <p:ph idx="1"/>
          </p:nvPr>
        </p:nvSpPr>
        <p:spPr/>
        <p:txBody>
          <a:bodyPr/>
          <a:lstStyle/>
          <a:p>
            <a:r>
              <a:rPr lang="en-IN" b="1" dirty="0"/>
              <a:t>Key Functions:</a:t>
            </a:r>
          </a:p>
          <a:p>
            <a:r>
              <a:rPr lang="en-IN" dirty="0"/>
              <a:t>Natural language understanding (NLU)</a:t>
            </a:r>
          </a:p>
          <a:p>
            <a:r>
              <a:rPr lang="en-IN" dirty="0"/>
              <a:t>Intent detection</a:t>
            </a:r>
          </a:p>
          <a:p>
            <a:r>
              <a:rPr lang="en-IN" dirty="0"/>
              <a:t>Task classification (factual, computational, analytical, multi-step)</a:t>
            </a:r>
          </a:p>
          <a:p>
            <a:r>
              <a:rPr lang="en-IN" dirty="0"/>
              <a:t>Context extraction (entities, constraints, goals)</a:t>
            </a:r>
          </a:p>
          <a:p>
            <a:r>
              <a:rPr lang="en-IN" dirty="0"/>
              <a:t>Complexity estimation</a:t>
            </a:r>
          </a:p>
          <a:p>
            <a:endParaRPr lang="en-IN" dirty="0"/>
          </a:p>
        </p:txBody>
      </p:sp>
    </p:spTree>
    <p:extLst>
      <p:ext uri="{BB962C8B-B14F-4D97-AF65-F5344CB8AC3E}">
        <p14:creationId xmlns:p14="http://schemas.microsoft.com/office/powerpoint/2010/main" val="3724860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0C88-7614-25C6-A27A-F9521E189FED}"/>
              </a:ext>
            </a:extLst>
          </p:cNvPr>
          <p:cNvSpPr>
            <a:spLocks noGrp="1"/>
          </p:cNvSpPr>
          <p:nvPr>
            <p:ph type="title"/>
          </p:nvPr>
        </p:nvSpPr>
        <p:spPr/>
        <p:txBody>
          <a:bodyPr>
            <a:normAutofit/>
          </a:bodyPr>
          <a:lstStyle/>
          <a:p>
            <a:r>
              <a:rPr lang="en-US" b="1" dirty="0">
                <a:solidFill>
                  <a:srgbClr val="FF0000"/>
                </a:solidFill>
              </a:rPr>
              <a:t>Decision Layer-</a:t>
            </a:r>
            <a:r>
              <a:rPr lang="en-US" dirty="0">
                <a:solidFill>
                  <a:srgbClr val="FF0000"/>
                </a:solidFill>
              </a:rPr>
              <a:t> </a:t>
            </a:r>
            <a:r>
              <a:rPr lang="en-US" b="1" dirty="0">
                <a:solidFill>
                  <a:srgbClr val="FF0000"/>
                </a:solidFill>
              </a:rPr>
              <a:t>reasoning and orchestration core</a:t>
            </a:r>
            <a:r>
              <a:rPr lang="en-US" dirty="0">
                <a:solidFill>
                  <a:srgbClr val="FF0000"/>
                </a:solidFill>
              </a:rPr>
              <a:t>.</a:t>
            </a:r>
            <a:endParaRPr lang="en-IN" dirty="0">
              <a:solidFill>
                <a:srgbClr val="FF0000"/>
              </a:solidFill>
            </a:endParaRPr>
          </a:p>
        </p:txBody>
      </p:sp>
      <p:sp>
        <p:nvSpPr>
          <p:cNvPr id="3" name="Content Placeholder 2">
            <a:extLst>
              <a:ext uri="{FF2B5EF4-FFF2-40B4-BE49-F238E27FC236}">
                <a16:creationId xmlns:a16="http://schemas.microsoft.com/office/drawing/2014/main" id="{37B0DE6A-E394-422E-A9F4-D2C8C5A2784B}"/>
              </a:ext>
            </a:extLst>
          </p:cNvPr>
          <p:cNvSpPr>
            <a:spLocks noGrp="1"/>
          </p:cNvSpPr>
          <p:nvPr>
            <p:ph idx="1"/>
          </p:nvPr>
        </p:nvSpPr>
        <p:spPr/>
        <p:txBody>
          <a:bodyPr>
            <a:normAutofit fontScale="85000" lnSpcReduction="20000"/>
          </a:bodyPr>
          <a:lstStyle/>
          <a:p>
            <a:r>
              <a:rPr lang="en-US" b="1" dirty="0"/>
              <a:t>Key Functions:</a:t>
            </a:r>
          </a:p>
          <a:p>
            <a:r>
              <a:rPr lang="en-US" dirty="0"/>
              <a:t>Task decomposition into sub-tasks</a:t>
            </a:r>
          </a:p>
          <a:p>
            <a:r>
              <a:rPr lang="en-US" dirty="0"/>
              <a:t>Planning and sequencing</a:t>
            </a:r>
          </a:p>
          <a:p>
            <a:r>
              <a:rPr lang="en-US" dirty="0"/>
              <a:t>Tool selection strategy</a:t>
            </a:r>
          </a:p>
          <a:p>
            <a:r>
              <a:rPr lang="en-US" dirty="0"/>
              <a:t>Confidence estimation</a:t>
            </a:r>
          </a:p>
          <a:p>
            <a:r>
              <a:rPr lang="en-US" dirty="0"/>
              <a:t>Error detection triggers</a:t>
            </a:r>
          </a:p>
          <a:p>
            <a:r>
              <a:rPr lang="en-US" b="1" dirty="0"/>
              <a:t>Subcomponents:</a:t>
            </a:r>
          </a:p>
          <a:p>
            <a:r>
              <a:rPr lang="en-US" dirty="0"/>
              <a:t>Reasoning engine</a:t>
            </a:r>
          </a:p>
          <a:p>
            <a:r>
              <a:rPr lang="en-US" dirty="0"/>
              <a:t>Tool selector</a:t>
            </a:r>
          </a:p>
          <a:p>
            <a:r>
              <a:rPr lang="en-US" dirty="0"/>
              <a:t>Policy controller (rule-based / learned policy)</a:t>
            </a:r>
          </a:p>
          <a:p>
            <a:r>
              <a:rPr lang="en-US" dirty="0"/>
              <a:t>Memory/context tracker</a:t>
            </a:r>
          </a:p>
          <a:p>
            <a:endParaRPr lang="en-IN" dirty="0"/>
          </a:p>
        </p:txBody>
      </p:sp>
    </p:spTree>
    <p:extLst>
      <p:ext uri="{BB962C8B-B14F-4D97-AF65-F5344CB8AC3E}">
        <p14:creationId xmlns:p14="http://schemas.microsoft.com/office/powerpoint/2010/main" val="3333933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96C65-3F84-4053-A472-97ADD63503D3}"/>
              </a:ext>
            </a:extLst>
          </p:cNvPr>
          <p:cNvSpPr>
            <a:spLocks noGrp="1"/>
          </p:cNvSpPr>
          <p:nvPr>
            <p:ph type="title"/>
          </p:nvPr>
        </p:nvSpPr>
        <p:spPr/>
        <p:txBody>
          <a:bodyPr/>
          <a:lstStyle/>
          <a:p>
            <a:r>
              <a:rPr lang="en-IN" b="1" dirty="0">
                <a:solidFill>
                  <a:srgbClr val="FF0000"/>
                </a:solidFill>
              </a:rPr>
              <a:t>External Tool Invocation</a:t>
            </a:r>
          </a:p>
        </p:txBody>
      </p:sp>
      <p:sp>
        <p:nvSpPr>
          <p:cNvPr id="3" name="Content Placeholder 2">
            <a:extLst>
              <a:ext uri="{FF2B5EF4-FFF2-40B4-BE49-F238E27FC236}">
                <a16:creationId xmlns:a16="http://schemas.microsoft.com/office/drawing/2014/main" id="{0B642D62-BE7F-32C7-3788-90D438DAFBFD}"/>
              </a:ext>
            </a:extLst>
          </p:cNvPr>
          <p:cNvSpPr>
            <a:spLocks noGrp="1"/>
          </p:cNvSpPr>
          <p:nvPr>
            <p:ph idx="1"/>
          </p:nvPr>
        </p:nvSpPr>
        <p:spPr/>
        <p:txBody>
          <a:bodyPr/>
          <a:lstStyle/>
          <a:p>
            <a:pPr marL="0" indent="0">
              <a:buNone/>
            </a:pPr>
            <a:r>
              <a:rPr lang="en-US" b="1" dirty="0"/>
              <a:t>Key Functions:</a:t>
            </a:r>
          </a:p>
          <a:p>
            <a:r>
              <a:rPr lang="en-US" dirty="0"/>
              <a:t>Structured API calls</a:t>
            </a:r>
          </a:p>
          <a:p>
            <a:r>
              <a:rPr lang="en-US" dirty="0"/>
              <a:t>Code generation for computation</a:t>
            </a:r>
          </a:p>
          <a:p>
            <a:r>
              <a:rPr lang="en-US" dirty="0"/>
              <a:t>Database queries</a:t>
            </a:r>
          </a:p>
          <a:p>
            <a:r>
              <a:rPr lang="en-US" dirty="0"/>
              <a:t>Web search retrieval</a:t>
            </a:r>
          </a:p>
          <a:p>
            <a:r>
              <a:rPr lang="en-US" dirty="0"/>
              <a:t>Software/system interaction</a:t>
            </a:r>
          </a:p>
          <a:p>
            <a:endParaRPr lang="en-IN" dirty="0"/>
          </a:p>
        </p:txBody>
      </p:sp>
    </p:spTree>
    <p:extLst>
      <p:ext uri="{BB962C8B-B14F-4D97-AF65-F5344CB8AC3E}">
        <p14:creationId xmlns:p14="http://schemas.microsoft.com/office/powerpoint/2010/main" val="861385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1EA7D-CC3C-0D97-6985-2A5FF0C9BAC2}"/>
              </a:ext>
            </a:extLst>
          </p:cNvPr>
          <p:cNvSpPr>
            <a:spLocks noGrp="1"/>
          </p:cNvSpPr>
          <p:nvPr>
            <p:ph type="title"/>
          </p:nvPr>
        </p:nvSpPr>
        <p:spPr/>
        <p:txBody>
          <a:bodyPr/>
          <a:lstStyle/>
          <a:p>
            <a:r>
              <a:rPr lang="en-US" b="1" dirty="0">
                <a:solidFill>
                  <a:srgbClr val="FF0000"/>
                </a:solidFill>
              </a:rPr>
              <a:t>Response Synthesis</a:t>
            </a:r>
            <a:br>
              <a:rPr lang="en-US" b="1" dirty="0">
                <a:solidFill>
                  <a:srgbClr val="FF0000"/>
                </a:solidFill>
              </a:rPr>
            </a:br>
            <a:endParaRPr lang="en-IN" b="1" dirty="0">
              <a:solidFill>
                <a:srgbClr val="FF0000"/>
              </a:solidFill>
            </a:endParaRPr>
          </a:p>
        </p:txBody>
      </p:sp>
      <p:sp>
        <p:nvSpPr>
          <p:cNvPr id="3" name="Content Placeholder 2">
            <a:extLst>
              <a:ext uri="{FF2B5EF4-FFF2-40B4-BE49-F238E27FC236}">
                <a16:creationId xmlns:a16="http://schemas.microsoft.com/office/drawing/2014/main" id="{67499234-47C4-6EEE-EB1F-EB65B66A15C5}"/>
              </a:ext>
            </a:extLst>
          </p:cNvPr>
          <p:cNvSpPr>
            <a:spLocks noGrp="1"/>
          </p:cNvSpPr>
          <p:nvPr>
            <p:ph idx="1"/>
          </p:nvPr>
        </p:nvSpPr>
        <p:spPr/>
        <p:txBody>
          <a:bodyPr>
            <a:normAutofit fontScale="55000" lnSpcReduction="20000"/>
          </a:bodyPr>
          <a:lstStyle/>
          <a:p>
            <a:r>
              <a:rPr lang="en-US" dirty="0"/>
              <a:t>This is the </a:t>
            </a:r>
            <a:r>
              <a:rPr lang="en-US" b="1" dirty="0"/>
              <a:t>integration and generation layer</a:t>
            </a:r>
            <a:r>
              <a:rPr lang="en-US" dirty="0"/>
              <a:t>.</a:t>
            </a:r>
          </a:p>
          <a:p>
            <a:pPr marL="0" indent="0">
              <a:buNone/>
            </a:pPr>
            <a:r>
              <a:rPr lang="en-US" b="1" dirty="0"/>
              <a:t>Key Functions:</a:t>
            </a:r>
          </a:p>
          <a:p>
            <a:r>
              <a:rPr lang="en-US" dirty="0"/>
              <a:t>Combine internal reasoning + tool output</a:t>
            </a:r>
          </a:p>
          <a:p>
            <a:r>
              <a:rPr lang="en-US" dirty="0"/>
              <a:t>Cross-check consistency</a:t>
            </a:r>
          </a:p>
          <a:p>
            <a:r>
              <a:rPr lang="en-US" dirty="0"/>
              <a:t>Refine answer clarity</a:t>
            </a:r>
          </a:p>
          <a:p>
            <a:r>
              <a:rPr lang="en-US" dirty="0"/>
              <a:t>Generate human-readable response</a:t>
            </a:r>
          </a:p>
          <a:p>
            <a:r>
              <a:rPr lang="en-US" dirty="0"/>
              <a:t>Provide explanations if required</a:t>
            </a:r>
          </a:p>
          <a:p>
            <a:pPr marL="0" indent="0">
              <a:buNone/>
            </a:pPr>
            <a:r>
              <a:rPr lang="en-US" b="1" dirty="0"/>
              <a:t>Objective:</a:t>
            </a:r>
          </a:p>
          <a:p>
            <a:pPr marL="0" indent="0">
              <a:buNone/>
            </a:pPr>
            <a:r>
              <a:rPr lang="en-US" dirty="0"/>
              <a:t>Produce:</a:t>
            </a:r>
          </a:p>
          <a:p>
            <a:r>
              <a:rPr lang="en-US" dirty="0"/>
              <a:t>Accurate</a:t>
            </a:r>
          </a:p>
          <a:p>
            <a:r>
              <a:rPr lang="en-US" dirty="0"/>
              <a:t>Context-aware</a:t>
            </a:r>
          </a:p>
          <a:p>
            <a:r>
              <a:rPr lang="en-US" dirty="0"/>
              <a:t>Coherent</a:t>
            </a:r>
          </a:p>
          <a:p>
            <a:r>
              <a:rPr lang="en-US" dirty="0"/>
              <a:t>Verifiable answer</a:t>
            </a:r>
          </a:p>
          <a:p>
            <a:r>
              <a:rPr lang="en-US" dirty="0"/>
              <a:t>Final Output:</a:t>
            </a:r>
          </a:p>
          <a:p>
            <a:r>
              <a:rPr lang="en-US" dirty="0"/>
              <a:t>Structured natural language response (optionally with citations, calculations, or trace explanations)</a:t>
            </a:r>
          </a:p>
          <a:p>
            <a:endParaRPr lang="en-IN" dirty="0"/>
          </a:p>
        </p:txBody>
      </p:sp>
    </p:spTree>
    <p:extLst>
      <p:ext uri="{BB962C8B-B14F-4D97-AF65-F5344CB8AC3E}">
        <p14:creationId xmlns:p14="http://schemas.microsoft.com/office/powerpoint/2010/main" val="2156146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0E346-83BF-CEE8-82D8-AB1143A0B631}"/>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API-Based Prompting</a:t>
            </a:r>
          </a:p>
        </p:txBody>
      </p:sp>
      <p:sp>
        <p:nvSpPr>
          <p:cNvPr id="3" name="Content Placeholder 2">
            <a:extLst>
              <a:ext uri="{FF2B5EF4-FFF2-40B4-BE49-F238E27FC236}">
                <a16:creationId xmlns:a16="http://schemas.microsoft.com/office/drawing/2014/main" id="{3D82864D-8103-D4FC-0128-12B29C18F898}"/>
              </a:ext>
            </a:extLst>
          </p:cNvPr>
          <p:cNvSpPr>
            <a:spLocks noGrp="1"/>
          </p:cNvSpPr>
          <p:nvPr>
            <p:ph idx="1"/>
          </p:nvPr>
        </p:nvSpPr>
        <p:spPr/>
        <p:txBody>
          <a:bodyPr>
            <a:normAutofit fontScale="92500" lnSpcReduction="20000"/>
          </a:bodyPr>
          <a:lstStyle/>
          <a:p>
            <a:r>
              <a:rPr lang="en-US" dirty="0"/>
              <a:t>API-based prompting refers to interacting with Large Language Models (LLMs) through structured Application Programming Interfaces (APIs). Instead of manually entering prompts, developers send structured requests (JSON format) to the model via HTTP calls.</a:t>
            </a:r>
          </a:p>
          <a:p>
            <a:r>
              <a:rPr lang="en-IN" dirty="0"/>
              <a:t>Prompt → LLM → API Call → API Response → LLM Processes → Final Output</a:t>
            </a:r>
          </a:p>
          <a:p>
            <a:r>
              <a:rPr lang="en-US" dirty="0"/>
              <a:t>The model:</a:t>
            </a:r>
          </a:p>
          <a:p>
            <a:r>
              <a:rPr lang="en-US" dirty="0"/>
              <a:t>Understands the user request</a:t>
            </a:r>
          </a:p>
          <a:p>
            <a:r>
              <a:rPr lang="en-US" dirty="0"/>
              <a:t>Decides which API to call</a:t>
            </a:r>
          </a:p>
          <a:p>
            <a:r>
              <a:rPr lang="en-US" dirty="0"/>
              <a:t>Sends structured parameters</a:t>
            </a:r>
          </a:p>
          <a:p>
            <a:r>
              <a:rPr lang="en-US" dirty="0"/>
              <a:t>Receives JSON/data</a:t>
            </a:r>
          </a:p>
          <a:p>
            <a:r>
              <a:rPr lang="en-US" dirty="0"/>
              <a:t>Converts it into human-readable response</a:t>
            </a:r>
          </a:p>
          <a:p>
            <a:endParaRPr lang="en-IN" dirty="0"/>
          </a:p>
        </p:txBody>
      </p:sp>
    </p:spTree>
    <p:extLst>
      <p:ext uri="{BB962C8B-B14F-4D97-AF65-F5344CB8AC3E}">
        <p14:creationId xmlns:p14="http://schemas.microsoft.com/office/powerpoint/2010/main" val="758553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8CC96-72E8-9A6E-7489-37E2ED508AB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9A406C6-A857-F046-219D-F6FBCB989BEC}"/>
              </a:ext>
            </a:extLst>
          </p:cNvPr>
          <p:cNvPicPr>
            <a:picLocks noGrp="1" noChangeAspect="1"/>
          </p:cNvPicPr>
          <p:nvPr>
            <p:ph idx="1"/>
          </p:nvPr>
        </p:nvPicPr>
        <p:blipFill>
          <a:blip r:embed="rId2"/>
          <a:stretch>
            <a:fillRect/>
          </a:stretch>
        </p:blipFill>
        <p:spPr>
          <a:xfrm>
            <a:off x="599440" y="66040"/>
            <a:ext cx="11104880" cy="6426835"/>
          </a:xfrm>
          <a:prstGeom prst="rect">
            <a:avLst/>
          </a:prstGeom>
        </p:spPr>
      </p:pic>
    </p:spTree>
    <p:extLst>
      <p:ext uri="{BB962C8B-B14F-4D97-AF65-F5344CB8AC3E}">
        <p14:creationId xmlns:p14="http://schemas.microsoft.com/office/powerpoint/2010/main" val="3304689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88D77-007C-D77B-74E3-18A63CE77C16}"/>
              </a:ext>
            </a:extLst>
          </p:cNvPr>
          <p:cNvSpPr>
            <a:spLocks noGrp="1"/>
          </p:cNvSpPr>
          <p:nvPr>
            <p:ph type="title"/>
          </p:nvPr>
        </p:nvSpPr>
        <p:spPr/>
        <p:txBody>
          <a:bodyPr>
            <a:normAutofit/>
          </a:bodyPr>
          <a:lstStyle/>
          <a:p>
            <a:r>
              <a:rPr lang="en-US" sz="3000" b="1" dirty="0">
                <a:solidFill>
                  <a:srgbClr val="FF0000"/>
                </a:solidFill>
                <a:latin typeface="Times New Roman" panose="02020603050405020304" pitchFamily="18" charset="0"/>
                <a:cs typeface="Times New Roman" panose="02020603050405020304" pitchFamily="18" charset="0"/>
              </a:rPr>
              <a:t>An API (Application Programming Interface) allows different software systems to communicate.</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ECACCD-FFA0-1CA7-3746-B4E2AFFF6BD7}"/>
              </a:ext>
            </a:extLst>
          </p:cNvPr>
          <p:cNvSpPr>
            <a:spLocks noGrp="1"/>
          </p:cNvSpPr>
          <p:nvPr>
            <p:ph idx="1"/>
          </p:nvPr>
        </p:nvSpPr>
        <p:spPr/>
        <p:txBody>
          <a:bodyPr/>
          <a:lstStyle/>
          <a:p>
            <a:r>
              <a:rPr lang="en-US" dirty="0"/>
              <a:t>Weather services</a:t>
            </a:r>
          </a:p>
          <a:p>
            <a:r>
              <a:rPr lang="en-US" dirty="0"/>
              <a:t>Payment gateways</a:t>
            </a:r>
          </a:p>
          <a:p>
            <a:r>
              <a:rPr lang="en-US" dirty="0"/>
              <a:t>Banking systems</a:t>
            </a:r>
          </a:p>
          <a:p>
            <a:r>
              <a:rPr lang="en-US" dirty="0"/>
              <a:t>University databases</a:t>
            </a:r>
          </a:p>
          <a:p>
            <a:r>
              <a:rPr lang="en-US" dirty="0"/>
              <a:t>Stock market feeds</a:t>
            </a:r>
          </a:p>
          <a:p>
            <a:endParaRPr lang="en-IN" dirty="0"/>
          </a:p>
        </p:txBody>
      </p:sp>
    </p:spTree>
    <p:extLst>
      <p:ext uri="{BB962C8B-B14F-4D97-AF65-F5344CB8AC3E}">
        <p14:creationId xmlns:p14="http://schemas.microsoft.com/office/powerpoint/2010/main" val="4194153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EDA92-DDE3-7CEC-536C-E1741A32A2B1}"/>
              </a:ext>
            </a:extLst>
          </p:cNvPr>
          <p:cNvSpPr>
            <a:spLocks noGrp="1"/>
          </p:cNvSpPr>
          <p:nvPr>
            <p:ph type="title"/>
          </p:nvPr>
        </p:nvSpPr>
        <p:spPr/>
        <p:txBody>
          <a:bodyPr/>
          <a:lstStyle/>
          <a:p>
            <a:r>
              <a:rPr lang="en-US" b="1" dirty="0">
                <a:solidFill>
                  <a:srgbClr val="FF0000"/>
                </a:solidFill>
              </a:rPr>
              <a:t>Simpe Example </a:t>
            </a:r>
            <a:endParaRPr lang="en-IN" b="1" dirty="0">
              <a:solidFill>
                <a:srgbClr val="FF0000"/>
              </a:solidFill>
            </a:endParaRPr>
          </a:p>
        </p:txBody>
      </p:sp>
      <p:sp>
        <p:nvSpPr>
          <p:cNvPr id="3" name="Content Placeholder 2">
            <a:extLst>
              <a:ext uri="{FF2B5EF4-FFF2-40B4-BE49-F238E27FC236}">
                <a16:creationId xmlns:a16="http://schemas.microsoft.com/office/drawing/2014/main" id="{1CEC1F50-87BC-D3D5-08B8-FADB38880958}"/>
              </a:ext>
            </a:extLst>
          </p:cNvPr>
          <p:cNvSpPr>
            <a:spLocks noGrp="1"/>
          </p:cNvSpPr>
          <p:nvPr>
            <p:ph idx="1"/>
          </p:nvPr>
        </p:nvSpPr>
        <p:spPr/>
        <p:txBody>
          <a:bodyPr>
            <a:normAutofit fontScale="92500" lnSpcReduction="20000"/>
          </a:bodyPr>
          <a:lstStyle/>
          <a:p>
            <a:r>
              <a:rPr lang="en-US" b="1" dirty="0"/>
              <a:t>Example 1: Weather Query</a:t>
            </a:r>
          </a:p>
          <a:p>
            <a:r>
              <a:rPr lang="en-US" b="1" dirty="0"/>
              <a:t>User Prompt:</a:t>
            </a:r>
            <a:endParaRPr lang="en-US" dirty="0"/>
          </a:p>
          <a:p>
            <a:r>
              <a:rPr lang="en-US" dirty="0"/>
              <a:t>“What is the current weather in Hyderabad?”</a:t>
            </a:r>
          </a:p>
          <a:p>
            <a:r>
              <a:rPr lang="en-US" b="1" dirty="0"/>
              <a:t>Process:</a:t>
            </a:r>
            <a:endParaRPr lang="en-US" dirty="0"/>
          </a:p>
          <a:p>
            <a:r>
              <a:rPr lang="en-US" dirty="0"/>
              <a:t>LLM detects need for real-time data</a:t>
            </a:r>
          </a:p>
          <a:p>
            <a:r>
              <a:rPr lang="en-US" dirty="0"/>
              <a:t>Calls Weather API</a:t>
            </a:r>
          </a:p>
          <a:p>
            <a:r>
              <a:rPr lang="en-US" dirty="0"/>
              <a:t>Receives JSON response</a:t>
            </a:r>
          </a:p>
          <a:p>
            <a:r>
              <a:rPr lang="en-US" dirty="0"/>
              <a:t>Converts into readable sentence</a:t>
            </a:r>
          </a:p>
          <a:p>
            <a:r>
              <a:rPr lang="en-US" b="1" dirty="0"/>
              <a:t>Output:</a:t>
            </a:r>
            <a:endParaRPr lang="en-US" dirty="0"/>
          </a:p>
          <a:p>
            <a:r>
              <a:rPr lang="en-US" dirty="0"/>
              <a:t>“The current temperature in Hyderabad is 29°C with moderate humidity.”</a:t>
            </a:r>
          </a:p>
          <a:p>
            <a:endParaRPr lang="en-IN" dirty="0"/>
          </a:p>
        </p:txBody>
      </p:sp>
    </p:spTree>
    <p:extLst>
      <p:ext uri="{BB962C8B-B14F-4D97-AF65-F5344CB8AC3E}">
        <p14:creationId xmlns:p14="http://schemas.microsoft.com/office/powerpoint/2010/main" val="33982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E7672-6ED4-709C-9600-63163A73707F}"/>
              </a:ext>
            </a:extLst>
          </p:cNvPr>
          <p:cNvSpPr>
            <a:spLocks noGrp="1"/>
          </p:cNvSpPr>
          <p:nvPr>
            <p:ph type="title"/>
          </p:nvPr>
        </p:nvSpPr>
        <p:spPr/>
        <p:txBody>
          <a:bodyPr/>
          <a:lstStyle/>
          <a:p>
            <a:r>
              <a:rPr lang="en-IN" b="1" dirty="0">
                <a:solidFill>
                  <a:srgbClr val="FF0000"/>
                </a:solidFill>
              </a:rPr>
              <a:t>Climate Intelligence Decision Agent </a:t>
            </a:r>
          </a:p>
        </p:txBody>
      </p:sp>
      <p:sp>
        <p:nvSpPr>
          <p:cNvPr id="3" name="Content Placeholder 2">
            <a:extLst>
              <a:ext uri="{FF2B5EF4-FFF2-40B4-BE49-F238E27FC236}">
                <a16:creationId xmlns:a16="http://schemas.microsoft.com/office/drawing/2014/main" id="{60E0C7CA-5DE9-DC36-993C-F5C534526832}"/>
              </a:ext>
            </a:extLst>
          </p:cNvPr>
          <p:cNvSpPr>
            <a:spLocks noGrp="1"/>
          </p:cNvSpPr>
          <p:nvPr>
            <p:ph idx="1"/>
          </p:nvPr>
        </p:nvSpPr>
        <p:spPr/>
        <p:txBody>
          <a:bodyPr numCol="2">
            <a:normAutofit fontScale="92500" lnSpcReduction="10000"/>
          </a:bodyPr>
          <a:lstStyle/>
          <a:p>
            <a:r>
              <a:rPr lang="en-US" dirty="0"/>
              <a:t>Prompt : “Assess flood risk for Hyderabad for next 7 days and suggest mitigation strategy.”</a:t>
            </a:r>
          </a:p>
          <a:p>
            <a:r>
              <a:rPr lang="en-US" b="1" dirty="0"/>
              <a:t>APIs Used</a:t>
            </a:r>
          </a:p>
          <a:p>
            <a:r>
              <a:rPr lang="en-US" dirty="0"/>
              <a:t>Weather Forecast API</a:t>
            </a:r>
          </a:p>
          <a:p>
            <a:r>
              <a:rPr lang="en-US" dirty="0"/>
              <a:t>Satellite Rainfall API</a:t>
            </a:r>
          </a:p>
          <a:p>
            <a:r>
              <a:rPr lang="en-US" dirty="0"/>
              <a:t>River Water Level API</a:t>
            </a:r>
          </a:p>
          <a:p>
            <a:r>
              <a:rPr lang="en-US" dirty="0"/>
              <a:t>Urban Drainage GIS API</a:t>
            </a:r>
          </a:p>
          <a:p>
            <a:r>
              <a:rPr lang="en-US" b="1" dirty="0"/>
              <a:t>Processing Steps</a:t>
            </a:r>
          </a:p>
          <a:p>
            <a:r>
              <a:rPr lang="en-US" dirty="0"/>
              <a:t>Retrieve 7-day rainfall forecast</a:t>
            </a:r>
          </a:p>
          <a:p>
            <a:r>
              <a:rPr lang="en-US" dirty="0"/>
              <a:t>Retrieve river level trends</a:t>
            </a:r>
          </a:p>
          <a:p>
            <a:r>
              <a:rPr lang="en-US" dirty="0"/>
              <a:t>Retrieve soil saturation index</a:t>
            </a:r>
          </a:p>
          <a:p>
            <a:r>
              <a:rPr lang="en-US" dirty="0"/>
              <a:t>Run flood risk scoring model</a:t>
            </a:r>
          </a:p>
          <a:p>
            <a:pPr marL="0" lvl="0" indent="0" eaLnBrk="0" fontAlgn="base" hangingPunct="0">
              <a:lnSpc>
                <a:spcPct val="100000"/>
              </a:lnSpc>
              <a:spcBef>
                <a:spcPct val="0"/>
              </a:spcBef>
              <a:spcAft>
                <a:spcPct val="0"/>
              </a:spcAft>
              <a:buNone/>
            </a:pPr>
            <a:r>
              <a:rPr lang="en-US" dirty="0">
                <a:solidFill>
                  <a:srgbClr val="FF0000"/>
                </a:solidFill>
              </a:rPr>
              <a:t>Generate structured advisory </a:t>
            </a:r>
            <a:r>
              <a:rPr lang="en-US" altLang="en-US" dirty="0">
                <a:solidFill>
                  <a:srgbClr val="FF0000"/>
                </a:solidFill>
                <a:latin typeface="Arial" panose="020B0604020202020204" pitchFamily="34" charset="0"/>
              </a:rPr>
              <a:t>Risk Level: </a:t>
            </a:r>
            <a:r>
              <a:rPr lang="en-US" altLang="en-US" dirty="0">
                <a:latin typeface="Arial" panose="020B0604020202020204" pitchFamily="34" charset="0"/>
              </a:rPr>
              <a:t>High</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Expected Peak Rainfall: 120 mm</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Suggested Actions: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Drainage clearance</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Low-lying area alerts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Reservoir pre-release</a:t>
            </a:r>
          </a:p>
          <a:p>
            <a:endParaRPr lang="en-IN" dirty="0"/>
          </a:p>
        </p:txBody>
      </p:sp>
    </p:spTree>
    <p:extLst>
      <p:ext uri="{BB962C8B-B14F-4D97-AF65-F5344CB8AC3E}">
        <p14:creationId xmlns:p14="http://schemas.microsoft.com/office/powerpoint/2010/main" val="4113918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A0C19-C288-0FBA-94B6-D8311506DA7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166ADC7-4832-6EF2-60B6-69ABFD68AFF5}"/>
              </a:ext>
            </a:extLst>
          </p:cNvPr>
          <p:cNvPicPr>
            <a:picLocks noGrp="1" noChangeAspect="1"/>
          </p:cNvPicPr>
          <p:nvPr>
            <p:ph idx="1"/>
          </p:nvPr>
        </p:nvPicPr>
        <p:blipFill>
          <a:blip r:embed="rId2"/>
          <a:stretch>
            <a:fillRect/>
          </a:stretch>
        </p:blipFill>
        <p:spPr>
          <a:xfrm>
            <a:off x="558488" y="365124"/>
            <a:ext cx="11105192" cy="6269355"/>
          </a:xfrm>
          <a:prstGeom prst="rect">
            <a:avLst/>
          </a:prstGeom>
        </p:spPr>
      </p:pic>
    </p:spTree>
    <p:extLst>
      <p:ext uri="{BB962C8B-B14F-4D97-AF65-F5344CB8AC3E}">
        <p14:creationId xmlns:p14="http://schemas.microsoft.com/office/powerpoint/2010/main" val="34249631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B96311-BEBE-A122-FB3E-1D0F8F00561A}"/>
              </a:ext>
            </a:extLst>
          </p:cNvPr>
          <p:cNvSpPr>
            <a:spLocks noGrp="1"/>
          </p:cNvSpPr>
          <p:nvPr>
            <p:ph idx="1"/>
          </p:nvPr>
        </p:nvSpPr>
        <p:spPr>
          <a:xfrm>
            <a:off x="584200" y="535305"/>
            <a:ext cx="10515600" cy="4351338"/>
          </a:xfrm>
        </p:spPr>
        <p:txBody>
          <a:bodyPr/>
          <a:lstStyle/>
          <a:p>
            <a:pPr marL="0" indent="0">
              <a:buNone/>
            </a:pPr>
            <a:r>
              <a:rPr lang="en-IN" b="1" dirty="0">
                <a:solidFill>
                  <a:srgbClr val="FF0000"/>
                </a:solidFill>
              </a:rPr>
              <a:t>Types of APIs Used</a:t>
            </a:r>
          </a:p>
          <a:p>
            <a:r>
              <a:rPr lang="en-IN" b="1" dirty="0"/>
              <a:t>REST APIs</a:t>
            </a:r>
            <a:r>
              <a:rPr lang="en-IN" dirty="0"/>
              <a:t> – Most common (JSON-based)</a:t>
            </a:r>
          </a:p>
          <a:p>
            <a:r>
              <a:rPr lang="en-IN" b="1" dirty="0" err="1"/>
              <a:t>GraphQL</a:t>
            </a:r>
            <a:r>
              <a:rPr lang="en-IN" b="1" dirty="0"/>
              <a:t> APIs</a:t>
            </a:r>
            <a:r>
              <a:rPr lang="en-IN" dirty="0"/>
              <a:t> – Flexible queries</a:t>
            </a:r>
          </a:p>
          <a:p>
            <a:r>
              <a:rPr lang="en-IN" b="1" dirty="0"/>
              <a:t>SOAP APIs</a:t>
            </a:r>
            <a:r>
              <a:rPr lang="en-IN" dirty="0"/>
              <a:t> – Enterprise legacy systems</a:t>
            </a:r>
          </a:p>
          <a:p>
            <a:r>
              <a:rPr lang="en-IN" b="1" dirty="0"/>
              <a:t>Internal Enterprise APIs</a:t>
            </a:r>
            <a:r>
              <a:rPr lang="en-IN" dirty="0"/>
              <a:t> – CRM, ERP, HR systems</a:t>
            </a:r>
          </a:p>
          <a:p>
            <a:endParaRPr lang="en-IN" dirty="0"/>
          </a:p>
        </p:txBody>
      </p:sp>
      <p:pic>
        <p:nvPicPr>
          <p:cNvPr id="5" name="Picture 4">
            <a:extLst>
              <a:ext uri="{FF2B5EF4-FFF2-40B4-BE49-F238E27FC236}">
                <a16:creationId xmlns:a16="http://schemas.microsoft.com/office/drawing/2014/main" id="{A554ACBA-D283-79B4-FD8B-A43CC9F1E8D6}"/>
              </a:ext>
            </a:extLst>
          </p:cNvPr>
          <p:cNvPicPr>
            <a:picLocks noChangeAspect="1"/>
          </p:cNvPicPr>
          <p:nvPr/>
        </p:nvPicPr>
        <p:blipFill>
          <a:blip r:embed="rId2"/>
          <a:stretch>
            <a:fillRect/>
          </a:stretch>
        </p:blipFill>
        <p:spPr>
          <a:xfrm>
            <a:off x="690454" y="3584006"/>
            <a:ext cx="10282346" cy="3036505"/>
          </a:xfrm>
          <a:prstGeom prst="rect">
            <a:avLst/>
          </a:prstGeom>
        </p:spPr>
      </p:pic>
    </p:spTree>
    <p:extLst>
      <p:ext uri="{BB962C8B-B14F-4D97-AF65-F5344CB8AC3E}">
        <p14:creationId xmlns:p14="http://schemas.microsoft.com/office/powerpoint/2010/main" val="3255647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6D634E-D34A-2C52-D793-9BC9AA9D0524}"/>
              </a:ext>
            </a:extLst>
          </p:cNvPr>
          <p:cNvPicPr>
            <a:picLocks noGrp="1" noChangeAspect="1"/>
          </p:cNvPicPr>
          <p:nvPr>
            <p:ph idx="1"/>
          </p:nvPr>
        </p:nvPicPr>
        <p:blipFill>
          <a:blip r:embed="rId2"/>
          <a:stretch>
            <a:fillRect/>
          </a:stretch>
        </p:blipFill>
        <p:spPr>
          <a:xfrm>
            <a:off x="543560" y="215106"/>
            <a:ext cx="10947400" cy="6127750"/>
          </a:xfrm>
          <a:prstGeom prst="rect">
            <a:avLst/>
          </a:prstGeom>
        </p:spPr>
      </p:pic>
    </p:spTree>
    <p:extLst>
      <p:ext uri="{BB962C8B-B14F-4D97-AF65-F5344CB8AC3E}">
        <p14:creationId xmlns:p14="http://schemas.microsoft.com/office/powerpoint/2010/main" val="1444144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57E56-38AC-170C-6B4C-38F64A8AEE0A}"/>
              </a:ext>
            </a:extLst>
          </p:cNvPr>
          <p:cNvSpPr>
            <a:spLocks noGrp="1"/>
          </p:cNvSpPr>
          <p:nvPr>
            <p:ph type="title"/>
          </p:nvPr>
        </p:nvSpPr>
        <p:spPr/>
        <p:txBody>
          <a:bodyPr/>
          <a:lstStyle/>
          <a:p>
            <a:r>
              <a:rPr lang="en-IN" b="1" dirty="0">
                <a:solidFill>
                  <a:srgbClr val="FF0000"/>
                </a:solidFill>
              </a:rPr>
              <a:t>Function Calling in Prompt Engineering </a:t>
            </a:r>
          </a:p>
        </p:txBody>
      </p:sp>
      <p:sp>
        <p:nvSpPr>
          <p:cNvPr id="3" name="Content Placeholder 2">
            <a:extLst>
              <a:ext uri="{FF2B5EF4-FFF2-40B4-BE49-F238E27FC236}">
                <a16:creationId xmlns:a16="http://schemas.microsoft.com/office/drawing/2014/main" id="{8A78D3B0-A36A-D83E-05B4-B2BB11034389}"/>
              </a:ext>
            </a:extLst>
          </p:cNvPr>
          <p:cNvSpPr>
            <a:spLocks noGrp="1"/>
          </p:cNvSpPr>
          <p:nvPr>
            <p:ph idx="1"/>
          </p:nvPr>
        </p:nvSpPr>
        <p:spPr/>
        <p:txBody>
          <a:bodyPr>
            <a:normAutofit lnSpcReduction="10000"/>
          </a:bodyPr>
          <a:lstStyle/>
          <a:p>
            <a:r>
              <a:rPr lang="en-US" b="1" dirty="0"/>
              <a:t>Function calling</a:t>
            </a:r>
            <a:r>
              <a:rPr lang="en-US" dirty="0"/>
              <a:t> in prompt engineering is a structured mechanism that allows a Large Language Model (LLM) to </a:t>
            </a:r>
            <a:r>
              <a:rPr lang="en-US" b="1" dirty="0"/>
              <a:t>generate machine-readable instructions to call external functions or tools</a:t>
            </a:r>
            <a:r>
              <a:rPr lang="en-US" dirty="0"/>
              <a:t> instead of directly producing a final natural language answer.</a:t>
            </a:r>
          </a:p>
          <a:p>
            <a:r>
              <a:rPr lang="en-US" dirty="0"/>
              <a:t>Rather than answering purely in text, the model can:</a:t>
            </a:r>
          </a:p>
          <a:p>
            <a:r>
              <a:rPr lang="en-US" dirty="0"/>
              <a:t>Detect when a task requires external execution</a:t>
            </a:r>
          </a:p>
          <a:p>
            <a:r>
              <a:rPr lang="en-US" dirty="0"/>
              <a:t>Select an appropriate predefined function</a:t>
            </a:r>
          </a:p>
          <a:p>
            <a:r>
              <a:rPr lang="en-US" dirty="0"/>
              <a:t>Generate structured arguments (usually in JSON format)</a:t>
            </a:r>
          </a:p>
          <a:p>
            <a:r>
              <a:rPr lang="en-US" dirty="0"/>
              <a:t>Trigger backend logic or APIs</a:t>
            </a:r>
          </a:p>
          <a:p>
            <a:r>
              <a:rPr lang="en-US" dirty="0"/>
              <a:t>Incorporate the function result into the final response</a:t>
            </a:r>
          </a:p>
          <a:p>
            <a:pPr marL="0" indent="0">
              <a:buNone/>
            </a:pPr>
            <a:endParaRPr lang="en-IN" dirty="0"/>
          </a:p>
        </p:txBody>
      </p:sp>
    </p:spTree>
    <p:extLst>
      <p:ext uri="{BB962C8B-B14F-4D97-AF65-F5344CB8AC3E}">
        <p14:creationId xmlns:p14="http://schemas.microsoft.com/office/powerpoint/2010/main" val="2333469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DBAA7-FDBF-EE9F-1D29-261FFB9EC3EB}"/>
              </a:ext>
            </a:extLst>
          </p:cNvPr>
          <p:cNvSpPr>
            <a:spLocks noGrp="1"/>
          </p:cNvSpPr>
          <p:nvPr>
            <p:ph type="title"/>
          </p:nvPr>
        </p:nvSpPr>
        <p:spPr/>
        <p:txBody>
          <a:bodyPr/>
          <a:lstStyle/>
          <a:p>
            <a:r>
              <a:rPr lang="en-US" b="1" dirty="0">
                <a:solidFill>
                  <a:srgbClr val="FF0000"/>
                </a:solidFill>
              </a:rPr>
              <a:t>Need of Function Calling </a:t>
            </a:r>
            <a:endParaRPr lang="en-IN" b="1" dirty="0">
              <a:solidFill>
                <a:srgbClr val="FF0000"/>
              </a:solidFill>
            </a:endParaRPr>
          </a:p>
        </p:txBody>
      </p:sp>
      <p:sp>
        <p:nvSpPr>
          <p:cNvPr id="3" name="Content Placeholder 2">
            <a:extLst>
              <a:ext uri="{FF2B5EF4-FFF2-40B4-BE49-F238E27FC236}">
                <a16:creationId xmlns:a16="http://schemas.microsoft.com/office/drawing/2014/main" id="{B149B65C-B66D-4ED4-7BA1-C7BC86DEA821}"/>
              </a:ext>
            </a:extLst>
          </p:cNvPr>
          <p:cNvSpPr>
            <a:spLocks noGrp="1"/>
          </p:cNvSpPr>
          <p:nvPr>
            <p:ph idx="1"/>
          </p:nvPr>
        </p:nvSpPr>
        <p:spPr/>
        <p:txBody>
          <a:bodyPr/>
          <a:lstStyle/>
          <a:p>
            <a:r>
              <a:rPr lang="en-IN" dirty="0"/>
              <a:t>Traditional prompting:</a:t>
            </a:r>
          </a:p>
          <a:p>
            <a:r>
              <a:rPr lang="en-IN" dirty="0"/>
              <a:t>User asks → Model generates text answer</a:t>
            </a:r>
          </a:p>
          <a:p>
            <a:r>
              <a:rPr lang="en-IN" dirty="0"/>
              <a:t>Function calling:</a:t>
            </a:r>
          </a:p>
          <a:p>
            <a:r>
              <a:rPr lang="en-IN" dirty="0"/>
              <a:t>User asks → Model decides a function is needed → Model generates structured function call → Backend executes → Result returned → Model generates final answer</a:t>
            </a:r>
          </a:p>
          <a:p>
            <a:r>
              <a:rPr lang="en-IN" dirty="0"/>
              <a:t>It transforms an LLM from a </a:t>
            </a:r>
            <a:r>
              <a:rPr lang="en-IN" b="1" dirty="0"/>
              <a:t>text generator</a:t>
            </a:r>
            <a:r>
              <a:rPr lang="en-IN" dirty="0"/>
              <a:t> into an </a:t>
            </a:r>
            <a:r>
              <a:rPr lang="en-IN" b="1" dirty="0"/>
              <a:t>action-oriented system component</a:t>
            </a:r>
            <a:r>
              <a:rPr lang="en-IN" dirty="0"/>
              <a:t>.</a:t>
            </a:r>
          </a:p>
          <a:p>
            <a:endParaRPr lang="en-IN" dirty="0"/>
          </a:p>
        </p:txBody>
      </p:sp>
    </p:spTree>
    <p:extLst>
      <p:ext uri="{BB962C8B-B14F-4D97-AF65-F5344CB8AC3E}">
        <p14:creationId xmlns:p14="http://schemas.microsoft.com/office/powerpoint/2010/main" val="179459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9916-D7F3-9711-1740-459D27DEB6F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5101DB2-BE06-C461-7F12-7A40F3F35879}"/>
              </a:ext>
            </a:extLst>
          </p:cNvPr>
          <p:cNvPicPr>
            <a:picLocks noGrp="1" noChangeAspect="1"/>
          </p:cNvPicPr>
          <p:nvPr>
            <p:ph idx="1"/>
          </p:nvPr>
        </p:nvPicPr>
        <p:blipFill>
          <a:blip r:embed="rId2"/>
          <a:stretch>
            <a:fillRect/>
          </a:stretch>
        </p:blipFill>
        <p:spPr>
          <a:xfrm>
            <a:off x="453148" y="271144"/>
            <a:ext cx="11809971" cy="6586855"/>
          </a:xfrm>
          <a:prstGeom prst="rect">
            <a:avLst/>
          </a:prstGeom>
        </p:spPr>
      </p:pic>
    </p:spTree>
    <p:extLst>
      <p:ext uri="{BB962C8B-B14F-4D97-AF65-F5344CB8AC3E}">
        <p14:creationId xmlns:p14="http://schemas.microsoft.com/office/powerpoint/2010/main" val="1056696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AC324-A2F1-FF64-A57B-B8B852E0782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E6375A8-F633-A275-DAAA-841783ED4AAB}"/>
              </a:ext>
            </a:extLst>
          </p:cNvPr>
          <p:cNvPicPr>
            <a:picLocks noGrp="1" noChangeAspect="1"/>
          </p:cNvPicPr>
          <p:nvPr>
            <p:ph idx="1"/>
          </p:nvPr>
        </p:nvPicPr>
        <p:blipFill>
          <a:blip r:embed="rId2"/>
          <a:stretch>
            <a:fillRect/>
          </a:stretch>
        </p:blipFill>
        <p:spPr>
          <a:xfrm>
            <a:off x="672158" y="504825"/>
            <a:ext cx="11174402" cy="5988050"/>
          </a:xfrm>
          <a:prstGeom prst="rect">
            <a:avLst/>
          </a:prstGeom>
        </p:spPr>
      </p:pic>
    </p:spTree>
    <p:extLst>
      <p:ext uri="{BB962C8B-B14F-4D97-AF65-F5344CB8AC3E}">
        <p14:creationId xmlns:p14="http://schemas.microsoft.com/office/powerpoint/2010/main" val="1259457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C602-BE9E-1487-04C5-91EC2DB4FD3C}"/>
              </a:ext>
            </a:extLst>
          </p:cNvPr>
          <p:cNvSpPr>
            <a:spLocks noGrp="1"/>
          </p:cNvSpPr>
          <p:nvPr>
            <p:ph type="title"/>
          </p:nvPr>
        </p:nvSpPr>
        <p:spPr/>
        <p:txBody>
          <a:bodyPr/>
          <a:lstStyle/>
          <a:p>
            <a:r>
              <a:rPr lang="en-US" b="1" dirty="0"/>
              <a:t>Function Calling </a:t>
            </a:r>
            <a:endParaRPr lang="en-IN" b="1" dirty="0"/>
          </a:p>
        </p:txBody>
      </p:sp>
      <p:sp>
        <p:nvSpPr>
          <p:cNvPr id="3" name="Content Placeholder 2">
            <a:extLst>
              <a:ext uri="{FF2B5EF4-FFF2-40B4-BE49-F238E27FC236}">
                <a16:creationId xmlns:a16="http://schemas.microsoft.com/office/drawing/2014/main" id="{CF7B84C5-3F53-09B5-E496-053C6B27D3A0}"/>
              </a:ext>
            </a:extLst>
          </p:cNvPr>
          <p:cNvSpPr>
            <a:spLocks noGrp="1"/>
          </p:cNvSpPr>
          <p:nvPr>
            <p:ph idx="1"/>
          </p:nvPr>
        </p:nvSpPr>
        <p:spPr/>
        <p:txBody>
          <a:bodyPr>
            <a:normAutofit fontScale="70000" lnSpcReduction="20000"/>
          </a:bodyPr>
          <a:lstStyle/>
          <a:p>
            <a:r>
              <a:rPr lang="en-US" b="1" dirty="0"/>
              <a:t>Function Schema Definition</a:t>
            </a:r>
          </a:p>
          <a:p>
            <a:r>
              <a:rPr lang="en-US" dirty="0"/>
              <a:t>This defines the function the model is allowed to call. It acts as a </a:t>
            </a:r>
            <a:r>
              <a:rPr lang="en-US" b="1" dirty="0"/>
              <a:t>contract</a:t>
            </a:r>
            <a:r>
              <a:rPr lang="en-US" dirty="0"/>
              <a:t> between the LLM and the backend system.</a:t>
            </a:r>
          </a:p>
          <a:p>
            <a:r>
              <a:rPr lang="en-US" b="1" dirty="0"/>
              <a:t>🔹 a) Name</a:t>
            </a:r>
          </a:p>
          <a:p>
            <a:r>
              <a:rPr lang="en-US" dirty="0"/>
              <a:t>Unique identifier of the function</a:t>
            </a:r>
          </a:p>
          <a:p>
            <a:r>
              <a:rPr lang="en-US" dirty="0"/>
              <a:t>Should clearly describe the action</a:t>
            </a:r>
          </a:p>
          <a:p>
            <a:r>
              <a:rPr lang="en-US" dirty="0"/>
              <a:t>Example: </a:t>
            </a:r>
            <a:r>
              <a:rPr lang="en-US" dirty="0" err="1"/>
              <a:t>get_weather</a:t>
            </a:r>
            <a:r>
              <a:rPr lang="en-US" dirty="0"/>
              <a:t>, </a:t>
            </a:r>
            <a:r>
              <a:rPr lang="en-US" dirty="0" err="1"/>
              <a:t>book_flight</a:t>
            </a:r>
            <a:r>
              <a:rPr lang="en-US" dirty="0"/>
              <a:t>, </a:t>
            </a:r>
            <a:r>
              <a:rPr lang="en-US" dirty="0" err="1"/>
              <a:t>calculate_tax</a:t>
            </a:r>
            <a:endParaRPr lang="en-US" dirty="0"/>
          </a:p>
          <a:p>
            <a:r>
              <a:rPr lang="en-US" b="1" dirty="0"/>
              <a:t>🔹 b) Description</a:t>
            </a:r>
          </a:p>
          <a:p>
            <a:r>
              <a:rPr lang="en-US" dirty="0"/>
              <a:t>Explains what the function does</a:t>
            </a:r>
          </a:p>
          <a:p>
            <a:r>
              <a:rPr lang="en-US" dirty="0"/>
              <a:t>Helps the model understand </a:t>
            </a:r>
            <a:r>
              <a:rPr lang="en-US" i="1" dirty="0"/>
              <a:t>when</a:t>
            </a:r>
            <a:r>
              <a:rPr lang="en-US" dirty="0"/>
              <a:t> to call it</a:t>
            </a:r>
          </a:p>
          <a:p>
            <a:r>
              <a:rPr lang="en-US" dirty="0"/>
              <a:t>Should be clear and specific</a:t>
            </a:r>
          </a:p>
          <a:p>
            <a:r>
              <a:rPr lang="en-US" dirty="0"/>
              <a:t>Example:</a:t>
            </a:r>
          </a:p>
          <a:p>
            <a:r>
              <a:rPr lang="en-US" dirty="0"/>
              <a:t>"Fetches the current weather information for a given city."</a:t>
            </a:r>
          </a:p>
          <a:p>
            <a:endParaRPr lang="en-IN" dirty="0"/>
          </a:p>
        </p:txBody>
      </p:sp>
    </p:spTree>
    <p:extLst>
      <p:ext uri="{BB962C8B-B14F-4D97-AF65-F5344CB8AC3E}">
        <p14:creationId xmlns:p14="http://schemas.microsoft.com/office/powerpoint/2010/main" val="2188495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DE5-9B95-4438-9DD4-0026EAD91734}"/>
              </a:ext>
            </a:extLst>
          </p:cNvPr>
          <p:cNvSpPr>
            <a:spLocks noGrp="1"/>
          </p:cNvSpPr>
          <p:nvPr>
            <p:ph type="title"/>
          </p:nvPr>
        </p:nvSpPr>
        <p:spPr/>
        <p:txBody>
          <a:bodyPr/>
          <a:lstStyle/>
          <a:p>
            <a:r>
              <a:rPr lang="en-US" b="1" dirty="0"/>
              <a:t>c) Parameters (JSON Schema)</a:t>
            </a:r>
            <a:br>
              <a:rPr lang="en-US" b="1" dirty="0"/>
            </a:br>
            <a:endParaRPr lang="en-IN" dirty="0"/>
          </a:p>
        </p:txBody>
      </p:sp>
      <p:sp>
        <p:nvSpPr>
          <p:cNvPr id="3" name="Content Placeholder 2">
            <a:extLst>
              <a:ext uri="{FF2B5EF4-FFF2-40B4-BE49-F238E27FC236}">
                <a16:creationId xmlns:a16="http://schemas.microsoft.com/office/drawing/2014/main" id="{00F76BDF-3C7B-00DE-1DEB-555D2F7D75F0}"/>
              </a:ext>
            </a:extLst>
          </p:cNvPr>
          <p:cNvSpPr>
            <a:spLocks noGrp="1"/>
          </p:cNvSpPr>
          <p:nvPr>
            <p:ph idx="1"/>
          </p:nvPr>
        </p:nvSpPr>
        <p:spPr/>
        <p:txBody>
          <a:bodyPr/>
          <a:lstStyle/>
          <a:p>
            <a:r>
              <a:rPr lang="en-US" dirty="0"/>
              <a:t>Defines the expected inputs</a:t>
            </a:r>
          </a:p>
          <a:p>
            <a:r>
              <a:rPr lang="en-US" dirty="0"/>
              <a:t>Uses structured JSON format</a:t>
            </a:r>
          </a:p>
          <a:p>
            <a:r>
              <a:rPr lang="en-US" dirty="0"/>
              <a:t>Includes:</a:t>
            </a:r>
          </a:p>
          <a:p>
            <a:pPr lvl="1"/>
            <a:r>
              <a:rPr lang="en-US" dirty="0"/>
              <a:t>type (string, number, object, array)</a:t>
            </a:r>
          </a:p>
          <a:p>
            <a:pPr lvl="1"/>
            <a:r>
              <a:rPr lang="en-US" dirty="0"/>
              <a:t>properties</a:t>
            </a:r>
          </a:p>
          <a:p>
            <a:pPr lvl="1"/>
            <a:r>
              <a:rPr lang="en-US" dirty="0"/>
              <a:t>required fields</a:t>
            </a:r>
          </a:p>
          <a:p>
            <a:pPr lvl="1"/>
            <a:r>
              <a:rPr lang="en-US" dirty="0"/>
              <a:t>Optional validation rules</a:t>
            </a:r>
          </a:p>
          <a:p>
            <a:endParaRPr lang="en-IN" dirty="0"/>
          </a:p>
        </p:txBody>
      </p:sp>
    </p:spTree>
    <p:extLst>
      <p:ext uri="{BB962C8B-B14F-4D97-AF65-F5344CB8AC3E}">
        <p14:creationId xmlns:p14="http://schemas.microsoft.com/office/powerpoint/2010/main" val="1747689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92EFD-F8CF-5D09-FB49-BA70939A14AC}"/>
              </a:ext>
            </a:extLst>
          </p:cNvPr>
          <p:cNvSpPr>
            <a:spLocks noGrp="1"/>
          </p:cNvSpPr>
          <p:nvPr>
            <p:ph type="title"/>
          </p:nvPr>
        </p:nvSpPr>
        <p:spPr/>
        <p:txBody>
          <a:bodyPr/>
          <a:lstStyle/>
          <a:p>
            <a:r>
              <a:rPr lang="en-US" b="1" dirty="0"/>
              <a:t>Structured Output</a:t>
            </a:r>
            <a:endParaRPr lang="en-IN" dirty="0"/>
          </a:p>
        </p:txBody>
      </p:sp>
      <p:sp>
        <p:nvSpPr>
          <p:cNvPr id="3" name="Content Placeholder 2">
            <a:extLst>
              <a:ext uri="{FF2B5EF4-FFF2-40B4-BE49-F238E27FC236}">
                <a16:creationId xmlns:a16="http://schemas.microsoft.com/office/drawing/2014/main" id="{8075263A-003E-180F-E0BF-1827EA9343B5}"/>
              </a:ext>
            </a:extLst>
          </p:cNvPr>
          <p:cNvSpPr>
            <a:spLocks noGrp="1"/>
          </p:cNvSpPr>
          <p:nvPr>
            <p:ph idx="1"/>
          </p:nvPr>
        </p:nvSpPr>
        <p:spPr/>
        <p:txBody>
          <a:bodyPr>
            <a:normAutofit fontScale="92500" lnSpcReduction="20000"/>
          </a:bodyPr>
          <a:lstStyle/>
          <a:p>
            <a:r>
              <a:rPr lang="en-US" dirty="0"/>
              <a:t>Instead of plain text, the model returns structured JSON.</a:t>
            </a:r>
          </a:p>
          <a:p>
            <a:r>
              <a:rPr lang="en-US" b="1" dirty="0"/>
              <a:t> JSON Arguments</a:t>
            </a:r>
          </a:p>
          <a:p>
            <a:r>
              <a:rPr lang="en-US" dirty="0"/>
              <a:t>When the model decides to call a function, it outputs:</a:t>
            </a:r>
          </a:p>
          <a:p>
            <a:pPr marL="0" indent="0">
              <a:buNone/>
            </a:pPr>
            <a:r>
              <a:rPr lang="en-US" b="1" dirty="0"/>
              <a:t>Decision Capability</a:t>
            </a:r>
          </a:p>
          <a:p>
            <a:r>
              <a:rPr lang="en-US" dirty="0"/>
              <a:t>This is the intelligence layer.</a:t>
            </a:r>
          </a:p>
          <a:p>
            <a:r>
              <a:rPr lang="en-US" dirty="0"/>
              <a:t>The model:</a:t>
            </a:r>
          </a:p>
          <a:p>
            <a:r>
              <a:rPr lang="en-US" dirty="0"/>
              <a:t>Understands user intent</a:t>
            </a:r>
          </a:p>
          <a:p>
            <a:r>
              <a:rPr lang="en-US" dirty="0"/>
              <a:t>Checks available functions</a:t>
            </a:r>
          </a:p>
          <a:p>
            <a:r>
              <a:rPr lang="en-US" dirty="0"/>
              <a:t>Decides whether to:</a:t>
            </a:r>
          </a:p>
          <a:p>
            <a:pPr lvl="1"/>
            <a:r>
              <a:rPr lang="en-US" dirty="0"/>
              <a:t>Respond normally (text)</a:t>
            </a:r>
          </a:p>
          <a:p>
            <a:pPr lvl="1"/>
            <a:r>
              <a:rPr lang="en-US" dirty="0"/>
              <a:t>OR call a function</a:t>
            </a:r>
          </a:p>
          <a:p>
            <a:endParaRPr lang="en-IN" dirty="0"/>
          </a:p>
        </p:txBody>
      </p:sp>
    </p:spTree>
    <p:extLst>
      <p:ext uri="{BB962C8B-B14F-4D97-AF65-F5344CB8AC3E}">
        <p14:creationId xmlns:p14="http://schemas.microsoft.com/office/powerpoint/2010/main" val="1397166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1F9C-A0A1-2E87-A8C1-52C2032BF55E}"/>
              </a:ext>
            </a:extLst>
          </p:cNvPr>
          <p:cNvSpPr>
            <a:spLocks noGrp="1"/>
          </p:cNvSpPr>
          <p:nvPr>
            <p:ph type="title"/>
          </p:nvPr>
        </p:nvSpPr>
        <p:spPr/>
        <p:txBody>
          <a:bodyPr/>
          <a:lstStyle/>
          <a:p>
            <a:r>
              <a:rPr lang="en-IN" b="1" dirty="0">
                <a:solidFill>
                  <a:srgbClr val="FF0000"/>
                </a:solidFill>
              </a:rPr>
              <a:t>Plug-in Tool Integration</a:t>
            </a:r>
          </a:p>
        </p:txBody>
      </p:sp>
      <p:sp>
        <p:nvSpPr>
          <p:cNvPr id="3" name="Content Placeholder 2">
            <a:extLst>
              <a:ext uri="{FF2B5EF4-FFF2-40B4-BE49-F238E27FC236}">
                <a16:creationId xmlns:a16="http://schemas.microsoft.com/office/drawing/2014/main" id="{A00D9CFC-3C7B-6EE1-D7D1-9BD5FAAD269D}"/>
              </a:ext>
            </a:extLst>
          </p:cNvPr>
          <p:cNvSpPr>
            <a:spLocks noGrp="1"/>
          </p:cNvSpPr>
          <p:nvPr>
            <p:ph idx="1"/>
          </p:nvPr>
        </p:nvSpPr>
        <p:spPr/>
        <p:txBody>
          <a:bodyPr>
            <a:normAutofit fontScale="92500" lnSpcReduction="10000"/>
          </a:bodyPr>
          <a:lstStyle/>
          <a:p>
            <a:r>
              <a:rPr lang="en-US" dirty="0"/>
              <a:t>Plug-in tools in prompt engineering are </a:t>
            </a:r>
            <a:r>
              <a:rPr lang="en-US" b="1" dirty="0"/>
              <a:t>external tools, APIs, or systems</a:t>
            </a:r>
            <a:r>
              <a:rPr lang="en-US" dirty="0"/>
              <a:t> that a Large Language Model (LLM) can access during a conversation to perform tasks beyond text generation.</a:t>
            </a:r>
          </a:p>
          <a:p>
            <a:r>
              <a:rPr lang="en-US" dirty="0"/>
              <a:t>Instead of only generating responses from its training data, the model can:</a:t>
            </a:r>
          </a:p>
          <a:p>
            <a:r>
              <a:rPr lang="en-US" dirty="0"/>
              <a:t>Retrieve real-time data</a:t>
            </a:r>
          </a:p>
          <a:p>
            <a:r>
              <a:rPr lang="en-US" dirty="0"/>
              <a:t>Perform calculations</a:t>
            </a:r>
          </a:p>
          <a:p>
            <a:r>
              <a:rPr lang="en-US" dirty="0"/>
              <a:t>Access databases</a:t>
            </a:r>
          </a:p>
          <a:p>
            <a:r>
              <a:rPr lang="en-US" dirty="0"/>
              <a:t>Execute code</a:t>
            </a:r>
          </a:p>
          <a:p>
            <a:r>
              <a:rPr lang="en-US" dirty="0"/>
              <a:t>Interact with enterprise systems</a:t>
            </a:r>
          </a:p>
          <a:p>
            <a:r>
              <a:rPr lang="en-US" dirty="0"/>
              <a:t>This makes AI systems more </a:t>
            </a:r>
            <a:r>
              <a:rPr lang="en-US" b="1" dirty="0"/>
              <a:t>powerful, accurate, and action-oriented</a:t>
            </a:r>
            <a:r>
              <a:rPr lang="en-US" dirty="0"/>
              <a:t>.</a:t>
            </a:r>
          </a:p>
          <a:p>
            <a:endParaRPr lang="en-IN" dirty="0"/>
          </a:p>
        </p:txBody>
      </p:sp>
    </p:spTree>
    <p:extLst>
      <p:ext uri="{BB962C8B-B14F-4D97-AF65-F5344CB8AC3E}">
        <p14:creationId xmlns:p14="http://schemas.microsoft.com/office/powerpoint/2010/main" val="37391990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DBAF-F411-695F-236A-0323F5EABED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01680CE-ECB5-DBEA-42DF-E64C7FE2F776}"/>
              </a:ext>
            </a:extLst>
          </p:cNvPr>
          <p:cNvPicPr>
            <a:picLocks noGrp="1" noChangeAspect="1"/>
          </p:cNvPicPr>
          <p:nvPr>
            <p:ph idx="1"/>
          </p:nvPr>
        </p:nvPicPr>
        <p:blipFill>
          <a:blip r:embed="rId2"/>
          <a:stretch>
            <a:fillRect/>
          </a:stretch>
        </p:blipFill>
        <p:spPr>
          <a:xfrm>
            <a:off x="299720" y="182562"/>
            <a:ext cx="10866120" cy="6492875"/>
          </a:xfrm>
          <a:prstGeom prst="rect">
            <a:avLst/>
          </a:prstGeom>
        </p:spPr>
      </p:pic>
      <p:sp>
        <p:nvSpPr>
          <p:cNvPr id="6" name="Rectangle: Rounded Corners 5">
            <a:extLst>
              <a:ext uri="{FF2B5EF4-FFF2-40B4-BE49-F238E27FC236}">
                <a16:creationId xmlns:a16="http://schemas.microsoft.com/office/drawing/2014/main" id="{01F45C84-5847-26E4-CD6C-A8BC10E0AA20}"/>
              </a:ext>
            </a:extLst>
          </p:cNvPr>
          <p:cNvSpPr/>
          <p:nvPr/>
        </p:nvSpPr>
        <p:spPr>
          <a:xfrm>
            <a:off x="10728960" y="274320"/>
            <a:ext cx="386080" cy="33528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8888979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EF440-ADD4-D879-F82D-4CAAA93B8D7A}"/>
              </a:ext>
            </a:extLst>
          </p:cNvPr>
          <p:cNvSpPr>
            <a:spLocks noGrp="1"/>
          </p:cNvSpPr>
          <p:nvPr>
            <p:ph type="title"/>
          </p:nvPr>
        </p:nvSpPr>
        <p:spPr/>
        <p:txBody>
          <a:bodyPr/>
          <a:lstStyle/>
          <a:p>
            <a:r>
              <a:rPr lang="en-IN" dirty="0"/>
              <a:t>RAG (Retrieval-Augmented Generation)</a:t>
            </a:r>
          </a:p>
        </p:txBody>
      </p:sp>
      <p:sp>
        <p:nvSpPr>
          <p:cNvPr id="3" name="Content Placeholder 2">
            <a:extLst>
              <a:ext uri="{FF2B5EF4-FFF2-40B4-BE49-F238E27FC236}">
                <a16:creationId xmlns:a16="http://schemas.microsoft.com/office/drawing/2014/main" id="{1E0DA762-49E3-B2B9-1E19-CDBE1E5B81B6}"/>
              </a:ext>
            </a:extLst>
          </p:cNvPr>
          <p:cNvSpPr>
            <a:spLocks noGrp="1"/>
          </p:cNvSpPr>
          <p:nvPr>
            <p:ph idx="1"/>
          </p:nvPr>
        </p:nvSpPr>
        <p:spPr/>
        <p:txBody>
          <a:bodyPr/>
          <a:lstStyle/>
          <a:p>
            <a:pPr marL="0" indent="0">
              <a:buNone/>
            </a:pPr>
            <a:r>
              <a:rPr lang="en-US" b="1" dirty="0"/>
              <a:t>Retrieval-Augmented Generation (RAG)</a:t>
            </a:r>
            <a:r>
              <a:rPr lang="en-US" dirty="0"/>
              <a:t> is an AI technique where a Large Language Model (LLM) retrieves relevant information from external knowledge sources before generating a response.</a:t>
            </a:r>
          </a:p>
          <a:p>
            <a:r>
              <a:rPr lang="en-US" dirty="0"/>
              <a:t>Instead of answering only from its training data, the model:</a:t>
            </a:r>
          </a:p>
          <a:p>
            <a:r>
              <a:rPr lang="en-US" dirty="0"/>
              <a:t>Retrieves relevant documents</a:t>
            </a:r>
          </a:p>
          <a:p>
            <a:r>
              <a:rPr lang="en-US" dirty="0"/>
              <a:t>Injects them into the prompt</a:t>
            </a:r>
          </a:p>
          <a:p>
            <a:r>
              <a:rPr lang="en-US" dirty="0"/>
              <a:t>Generates an answer grounded in that data</a:t>
            </a:r>
          </a:p>
          <a:p>
            <a:endParaRPr lang="en-IN" dirty="0"/>
          </a:p>
        </p:txBody>
      </p:sp>
    </p:spTree>
    <p:extLst>
      <p:ext uri="{BB962C8B-B14F-4D97-AF65-F5344CB8AC3E}">
        <p14:creationId xmlns:p14="http://schemas.microsoft.com/office/powerpoint/2010/main" val="10174391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D666C-6814-E017-86D8-DBBC042E9C4C}"/>
              </a:ext>
            </a:extLst>
          </p:cNvPr>
          <p:cNvSpPr>
            <a:spLocks noGrp="1"/>
          </p:cNvSpPr>
          <p:nvPr>
            <p:ph type="title"/>
          </p:nvPr>
        </p:nvSpPr>
        <p:spPr/>
        <p:txBody>
          <a:bodyPr/>
          <a:lstStyle/>
          <a:p>
            <a:r>
              <a:rPr lang="en-US" dirty="0"/>
              <a:t>RAG Workflow </a:t>
            </a:r>
            <a:endParaRPr lang="en-IN" dirty="0"/>
          </a:p>
        </p:txBody>
      </p:sp>
      <p:sp>
        <p:nvSpPr>
          <p:cNvPr id="3" name="Content Placeholder 2">
            <a:extLst>
              <a:ext uri="{FF2B5EF4-FFF2-40B4-BE49-F238E27FC236}">
                <a16:creationId xmlns:a16="http://schemas.microsoft.com/office/drawing/2014/main" id="{3D2905C5-6903-0855-40FA-7C46EDB6F29F}"/>
              </a:ext>
            </a:extLst>
          </p:cNvPr>
          <p:cNvSpPr>
            <a:spLocks noGrp="1"/>
          </p:cNvSpPr>
          <p:nvPr>
            <p:ph idx="1"/>
          </p:nvPr>
        </p:nvSpPr>
        <p:spPr/>
        <p:txBody>
          <a:bodyPr>
            <a:normAutofit fontScale="62500" lnSpcReduction="20000"/>
          </a:bodyPr>
          <a:lstStyle/>
          <a:p>
            <a:r>
              <a:rPr lang="en-IN" dirty="0"/>
              <a:t>User Query</a:t>
            </a:r>
          </a:p>
          <a:p>
            <a:r>
              <a:rPr lang="en-IN" dirty="0"/>
              <a:t>     ↓</a:t>
            </a:r>
          </a:p>
          <a:p>
            <a:r>
              <a:rPr lang="en-IN" dirty="0"/>
              <a:t>Query Sent to Retriever</a:t>
            </a:r>
          </a:p>
          <a:p>
            <a:r>
              <a:rPr lang="en-IN" dirty="0"/>
              <a:t>     ↓</a:t>
            </a:r>
          </a:p>
          <a:p>
            <a:r>
              <a:rPr lang="en-IN" dirty="0"/>
              <a:t>Search in Vector Database</a:t>
            </a:r>
          </a:p>
          <a:p>
            <a:r>
              <a:rPr lang="en-IN" dirty="0"/>
              <a:t>     ↓</a:t>
            </a:r>
          </a:p>
          <a:p>
            <a:r>
              <a:rPr lang="en-IN" dirty="0"/>
              <a:t>Relevant Documents Retrieved</a:t>
            </a:r>
          </a:p>
          <a:p>
            <a:r>
              <a:rPr lang="en-IN" dirty="0"/>
              <a:t>     ↓</a:t>
            </a:r>
          </a:p>
          <a:p>
            <a:r>
              <a:rPr lang="en-IN" dirty="0"/>
              <a:t>Documents Added to Prompt</a:t>
            </a:r>
          </a:p>
          <a:p>
            <a:r>
              <a:rPr lang="en-IN" dirty="0"/>
              <a:t>     ↓</a:t>
            </a:r>
          </a:p>
          <a:p>
            <a:r>
              <a:rPr lang="en-IN" dirty="0"/>
              <a:t>LLM Generates Answer</a:t>
            </a:r>
          </a:p>
          <a:p>
            <a:r>
              <a:rPr lang="en-IN" dirty="0"/>
              <a:t>     ↓</a:t>
            </a:r>
          </a:p>
          <a:p>
            <a:r>
              <a:rPr lang="en-IN" dirty="0"/>
              <a:t>Final Response to User</a:t>
            </a:r>
          </a:p>
        </p:txBody>
      </p:sp>
    </p:spTree>
    <p:extLst>
      <p:ext uri="{BB962C8B-B14F-4D97-AF65-F5344CB8AC3E}">
        <p14:creationId xmlns:p14="http://schemas.microsoft.com/office/powerpoint/2010/main" val="35829480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3E4F2-AECE-1F7A-0362-4E6AB885FBB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9FACE8-5078-EECB-BBE8-A7F41236FE7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1E61EDD-5410-FFB7-425B-474EAF9C79B7}"/>
              </a:ext>
            </a:extLst>
          </p:cNvPr>
          <p:cNvPicPr>
            <a:picLocks noChangeAspect="1"/>
          </p:cNvPicPr>
          <p:nvPr/>
        </p:nvPicPr>
        <p:blipFill>
          <a:blip r:embed="rId2"/>
          <a:stretch>
            <a:fillRect/>
          </a:stretch>
        </p:blipFill>
        <p:spPr>
          <a:xfrm>
            <a:off x="838200" y="283822"/>
            <a:ext cx="10515600" cy="5984897"/>
          </a:xfrm>
          <a:prstGeom prst="rect">
            <a:avLst/>
          </a:prstGeom>
        </p:spPr>
      </p:pic>
    </p:spTree>
    <p:extLst>
      <p:ext uri="{BB962C8B-B14F-4D97-AF65-F5344CB8AC3E}">
        <p14:creationId xmlns:p14="http://schemas.microsoft.com/office/powerpoint/2010/main" val="4595921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F0738-793F-4B11-3FDD-5710E72ADA11}"/>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1C86FF69-1DB2-00DB-9B2C-419C3726749D}"/>
              </a:ext>
            </a:extLst>
          </p:cNvPr>
          <p:cNvPicPr>
            <a:picLocks noGrp="1" noChangeAspect="1"/>
          </p:cNvPicPr>
          <p:nvPr>
            <p:ph idx="1"/>
          </p:nvPr>
        </p:nvPicPr>
        <p:blipFill>
          <a:blip r:embed="rId2"/>
          <a:stretch>
            <a:fillRect/>
          </a:stretch>
        </p:blipFill>
        <p:spPr>
          <a:xfrm>
            <a:off x="942355" y="1825625"/>
            <a:ext cx="10307290" cy="4351338"/>
          </a:xfrm>
          <a:prstGeom prst="rect">
            <a:avLst/>
          </a:prstGeom>
        </p:spPr>
      </p:pic>
    </p:spTree>
    <p:extLst>
      <p:ext uri="{BB962C8B-B14F-4D97-AF65-F5344CB8AC3E}">
        <p14:creationId xmlns:p14="http://schemas.microsoft.com/office/powerpoint/2010/main" val="36668896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D1AC-A0D8-1EE2-E18D-A395EAA7A9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D7FA4A-1081-60E6-8FDB-A93DC32947D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66D30B4-4BE3-368E-2A4F-95A699EBAF31}"/>
              </a:ext>
            </a:extLst>
          </p:cNvPr>
          <p:cNvPicPr>
            <a:picLocks noChangeAspect="1"/>
          </p:cNvPicPr>
          <p:nvPr/>
        </p:nvPicPr>
        <p:blipFill>
          <a:blip r:embed="rId2"/>
          <a:stretch>
            <a:fillRect/>
          </a:stretch>
        </p:blipFill>
        <p:spPr>
          <a:xfrm>
            <a:off x="294640" y="115782"/>
            <a:ext cx="11348720" cy="6579658"/>
          </a:xfrm>
          <a:prstGeom prst="rect">
            <a:avLst/>
          </a:prstGeom>
        </p:spPr>
      </p:pic>
    </p:spTree>
    <p:extLst>
      <p:ext uri="{BB962C8B-B14F-4D97-AF65-F5344CB8AC3E}">
        <p14:creationId xmlns:p14="http://schemas.microsoft.com/office/powerpoint/2010/main" val="3642123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1887</Words>
  <Application>Microsoft Office PowerPoint</Application>
  <PresentationFormat>Widescreen</PresentationFormat>
  <Paragraphs>310</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Times New Roman</vt:lpstr>
      <vt:lpstr>Office Theme</vt:lpstr>
      <vt:lpstr>Module 7 </vt:lpstr>
      <vt:lpstr>Tool-Augmented Prompting</vt:lpstr>
      <vt:lpstr>In simple terms, Tool-Augmented Prompting extends the model’s capabilities by combining natural language reasoning + external functional tools. </vt:lpstr>
      <vt:lpstr>Calculator Tool (Mathematical Accuracy)</vt:lpstr>
      <vt:lpstr>Database Retrieval (RAG – Retrieval Augmented Generation)</vt:lpstr>
      <vt:lpstr>Code Execution Tool</vt:lpstr>
      <vt:lpstr>API Tool (Weather Example) </vt:lpstr>
      <vt:lpstr>Knowledge Graph Query</vt:lpstr>
      <vt:lpstr>Multi-Step Tool Chain (Agentic Workflow)</vt:lpstr>
      <vt:lpstr>Scientific Tool Usage</vt:lpstr>
      <vt:lpstr>Translation + Fact Verification</vt:lpstr>
      <vt:lpstr>Enterprise Example – Customer Support</vt:lpstr>
      <vt:lpstr>Tool-Augmented Prompting Matters</vt:lpstr>
      <vt:lpstr>Conceptual Flow of Tool-Augmented Prompting User Query → LLM Reasoning → Tool Selection → Tool Execution → Result Integration → Final Answer </vt:lpstr>
      <vt:lpstr>Add-on </vt:lpstr>
      <vt:lpstr>Architecture Diagram of TAP </vt:lpstr>
      <vt:lpstr>Components of TAP </vt:lpstr>
      <vt:lpstr>Architectural Workflow of Tool-Augmented Prompting (TAP) - User Query Processing</vt:lpstr>
      <vt:lpstr>Decision Layer- reasoning and orchestration core.</vt:lpstr>
      <vt:lpstr>External Tool Invocation</vt:lpstr>
      <vt:lpstr>Response Synthesis </vt:lpstr>
      <vt:lpstr>API-Based Prompting</vt:lpstr>
      <vt:lpstr>PowerPoint Presentation</vt:lpstr>
      <vt:lpstr>An API (Application Programming Interface) allows different software systems to communicate.</vt:lpstr>
      <vt:lpstr>Simpe Example </vt:lpstr>
      <vt:lpstr>Climate Intelligence Decision Agent </vt:lpstr>
      <vt:lpstr>PowerPoint Presentation</vt:lpstr>
      <vt:lpstr>PowerPoint Presentation</vt:lpstr>
      <vt:lpstr>PowerPoint Presentation</vt:lpstr>
      <vt:lpstr>Function Calling in Prompt Engineering </vt:lpstr>
      <vt:lpstr>Need of Function Calling </vt:lpstr>
      <vt:lpstr>PowerPoint Presentation</vt:lpstr>
      <vt:lpstr>PowerPoint Presentation</vt:lpstr>
      <vt:lpstr>Function Calling </vt:lpstr>
      <vt:lpstr>c) Parameters (JSON Schema) </vt:lpstr>
      <vt:lpstr>Structured Output</vt:lpstr>
      <vt:lpstr>Plug-in Tool Integration</vt:lpstr>
      <vt:lpstr>PowerPoint Presentation</vt:lpstr>
      <vt:lpstr>RAG (Retrieval-Augmented Generation)</vt:lpstr>
      <vt:lpstr>RAG Workflow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 mudraola</dc:creator>
  <cp:lastModifiedBy>swapna mudraola</cp:lastModifiedBy>
  <cp:revision>20</cp:revision>
  <dcterms:created xsi:type="dcterms:W3CDTF">2026-02-23T04:31:25Z</dcterms:created>
  <dcterms:modified xsi:type="dcterms:W3CDTF">2026-02-24T06:13:18Z</dcterms:modified>
</cp:coreProperties>
</file>