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57" r:id="rId4"/>
    <p:sldId id="258" r:id="rId5"/>
    <p:sldId id="259" r:id="rId6"/>
    <p:sldId id="260" r:id="rId7"/>
    <p:sldId id="262" r:id="rId8"/>
    <p:sldId id="263" r:id="rId9"/>
    <p:sldId id="264" r:id="rId10"/>
    <p:sldId id="265" r:id="rId11"/>
    <p:sldId id="266" r:id="rId12"/>
    <p:sldId id="267" r:id="rId13"/>
    <p:sldId id="270" r:id="rId14"/>
    <p:sldId id="277" r:id="rId15"/>
    <p:sldId id="278" r:id="rId16"/>
    <p:sldId id="279" r:id="rId17"/>
    <p:sldId id="280" r:id="rId18"/>
    <p:sldId id="284" r:id="rId19"/>
    <p:sldId id="281" r:id="rId20"/>
    <p:sldId id="271" r:id="rId21"/>
    <p:sldId id="272" r:id="rId22"/>
    <p:sldId id="273" r:id="rId23"/>
    <p:sldId id="274" r:id="rId24"/>
    <p:sldId id="275" r:id="rId25"/>
    <p:sldId id="276" r:id="rId26"/>
    <p:sldId id="268"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07" r:id="rId50"/>
    <p:sldId id="308" r:id="rId51"/>
    <p:sldId id="309" r:id="rId52"/>
    <p:sldId id="310" r:id="rId53"/>
    <p:sldId id="311" r:id="rId54"/>
    <p:sldId id="312" r:id="rId55"/>
    <p:sldId id="313" r:id="rId56"/>
    <p:sldId id="314" r:id="rId57"/>
    <p:sldId id="315" r:id="rId58"/>
    <p:sldId id="316" r:id="rId59"/>
    <p:sldId id="317" r:id="rId60"/>
    <p:sldId id="318"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3CD41-CCA1-7B5A-B64B-2D68832D2C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A002886-558F-36AB-6B91-B625FD0D62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FFCF5D6-CA16-188D-553D-1F59037D9A19}"/>
              </a:ext>
            </a:extLst>
          </p:cNvPr>
          <p:cNvSpPr>
            <a:spLocks noGrp="1"/>
          </p:cNvSpPr>
          <p:nvPr>
            <p:ph type="dt" sz="half" idx="10"/>
          </p:nvPr>
        </p:nvSpPr>
        <p:spPr/>
        <p:txBody>
          <a:bodyPr/>
          <a:lstStyle/>
          <a:p>
            <a:fld id="{F753C897-02ED-424B-BEE0-CCC4D6AB5C2E}" type="datetimeFigureOut">
              <a:rPr lang="en-IN" smtClean="0"/>
              <a:t>27-01-2026</a:t>
            </a:fld>
            <a:endParaRPr lang="en-IN"/>
          </a:p>
        </p:txBody>
      </p:sp>
      <p:sp>
        <p:nvSpPr>
          <p:cNvPr id="5" name="Footer Placeholder 4">
            <a:extLst>
              <a:ext uri="{FF2B5EF4-FFF2-40B4-BE49-F238E27FC236}">
                <a16:creationId xmlns:a16="http://schemas.microsoft.com/office/drawing/2014/main" id="{276282C0-AB99-7822-58CB-942C438866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6E2576-947C-E747-A4AA-32A2DCE7E440}"/>
              </a:ext>
            </a:extLst>
          </p:cNvPr>
          <p:cNvSpPr>
            <a:spLocks noGrp="1"/>
          </p:cNvSpPr>
          <p:nvPr>
            <p:ph type="sldNum" sz="quarter" idx="12"/>
          </p:nvPr>
        </p:nvSpPr>
        <p:spPr/>
        <p:txBody>
          <a:bodyPr/>
          <a:lstStyle/>
          <a:p>
            <a:fld id="{8986277A-20E6-4DF3-BE49-9D71D8BBCAEB}" type="slidenum">
              <a:rPr lang="en-IN" smtClean="0"/>
              <a:t>‹#›</a:t>
            </a:fld>
            <a:endParaRPr lang="en-IN"/>
          </a:p>
        </p:txBody>
      </p:sp>
    </p:spTree>
    <p:extLst>
      <p:ext uri="{BB962C8B-B14F-4D97-AF65-F5344CB8AC3E}">
        <p14:creationId xmlns:p14="http://schemas.microsoft.com/office/powerpoint/2010/main" val="33595695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AC691-65BB-84D4-C215-E2ABB5EB406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45FE338-ADAC-EA2D-B8DA-1DD586252A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81D999-A11C-D6B9-1B94-4B5DCD7F2E71}"/>
              </a:ext>
            </a:extLst>
          </p:cNvPr>
          <p:cNvSpPr>
            <a:spLocks noGrp="1"/>
          </p:cNvSpPr>
          <p:nvPr>
            <p:ph type="dt" sz="half" idx="10"/>
          </p:nvPr>
        </p:nvSpPr>
        <p:spPr/>
        <p:txBody>
          <a:bodyPr/>
          <a:lstStyle/>
          <a:p>
            <a:fld id="{F753C897-02ED-424B-BEE0-CCC4D6AB5C2E}" type="datetimeFigureOut">
              <a:rPr lang="en-IN" smtClean="0"/>
              <a:t>27-01-2026</a:t>
            </a:fld>
            <a:endParaRPr lang="en-IN"/>
          </a:p>
        </p:txBody>
      </p:sp>
      <p:sp>
        <p:nvSpPr>
          <p:cNvPr id="5" name="Footer Placeholder 4">
            <a:extLst>
              <a:ext uri="{FF2B5EF4-FFF2-40B4-BE49-F238E27FC236}">
                <a16:creationId xmlns:a16="http://schemas.microsoft.com/office/drawing/2014/main" id="{E09FD7BC-2148-D5B9-E074-817AC76BE6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C633DD-CC84-24CD-B3DC-6221C09BBD76}"/>
              </a:ext>
            </a:extLst>
          </p:cNvPr>
          <p:cNvSpPr>
            <a:spLocks noGrp="1"/>
          </p:cNvSpPr>
          <p:nvPr>
            <p:ph type="sldNum" sz="quarter" idx="12"/>
          </p:nvPr>
        </p:nvSpPr>
        <p:spPr/>
        <p:txBody>
          <a:bodyPr/>
          <a:lstStyle/>
          <a:p>
            <a:fld id="{8986277A-20E6-4DF3-BE49-9D71D8BBCAEB}" type="slidenum">
              <a:rPr lang="en-IN" smtClean="0"/>
              <a:t>‹#›</a:t>
            </a:fld>
            <a:endParaRPr lang="en-IN"/>
          </a:p>
        </p:txBody>
      </p:sp>
    </p:spTree>
    <p:extLst>
      <p:ext uri="{BB962C8B-B14F-4D97-AF65-F5344CB8AC3E}">
        <p14:creationId xmlns:p14="http://schemas.microsoft.com/office/powerpoint/2010/main" val="3305267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DB870-9ED0-F7E5-CEAA-A1091DCC1A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F9518ED-3F3F-AA7D-FBEE-9EB038719A6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4667B72-D63D-1F1C-A2BC-C01FDC716177}"/>
              </a:ext>
            </a:extLst>
          </p:cNvPr>
          <p:cNvSpPr>
            <a:spLocks noGrp="1"/>
          </p:cNvSpPr>
          <p:nvPr>
            <p:ph type="dt" sz="half" idx="10"/>
          </p:nvPr>
        </p:nvSpPr>
        <p:spPr/>
        <p:txBody>
          <a:bodyPr/>
          <a:lstStyle/>
          <a:p>
            <a:fld id="{F753C897-02ED-424B-BEE0-CCC4D6AB5C2E}" type="datetimeFigureOut">
              <a:rPr lang="en-IN" smtClean="0"/>
              <a:t>27-01-2026</a:t>
            </a:fld>
            <a:endParaRPr lang="en-IN"/>
          </a:p>
        </p:txBody>
      </p:sp>
      <p:sp>
        <p:nvSpPr>
          <p:cNvPr id="5" name="Footer Placeholder 4">
            <a:extLst>
              <a:ext uri="{FF2B5EF4-FFF2-40B4-BE49-F238E27FC236}">
                <a16:creationId xmlns:a16="http://schemas.microsoft.com/office/drawing/2014/main" id="{9E24E3A3-58CB-3790-D2AA-90721CA95C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2B639C-0A36-0C13-1E4A-5F3580EF7EBE}"/>
              </a:ext>
            </a:extLst>
          </p:cNvPr>
          <p:cNvSpPr>
            <a:spLocks noGrp="1"/>
          </p:cNvSpPr>
          <p:nvPr>
            <p:ph type="sldNum" sz="quarter" idx="12"/>
          </p:nvPr>
        </p:nvSpPr>
        <p:spPr/>
        <p:txBody>
          <a:bodyPr/>
          <a:lstStyle/>
          <a:p>
            <a:fld id="{8986277A-20E6-4DF3-BE49-9D71D8BBCAEB}" type="slidenum">
              <a:rPr lang="en-IN" smtClean="0"/>
              <a:t>‹#›</a:t>
            </a:fld>
            <a:endParaRPr lang="en-IN"/>
          </a:p>
        </p:txBody>
      </p:sp>
    </p:spTree>
    <p:extLst>
      <p:ext uri="{BB962C8B-B14F-4D97-AF65-F5344CB8AC3E}">
        <p14:creationId xmlns:p14="http://schemas.microsoft.com/office/powerpoint/2010/main" val="42667563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37884-51DC-7424-034B-312B7E6C961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B5AE12C-47C1-8275-CDC7-31A5E8B4F3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E005B2C-0CC5-1A70-758A-5F9DD7A079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6F5387C-1A65-F59A-D9DC-3F0D6CC0EC71}"/>
              </a:ext>
            </a:extLst>
          </p:cNvPr>
          <p:cNvSpPr>
            <a:spLocks noGrp="1"/>
          </p:cNvSpPr>
          <p:nvPr>
            <p:ph type="dt" sz="half" idx="10"/>
          </p:nvPr>
        </p:nvSpPr>
        <p:spPr/>
        <p:txBody>
          <a:bodyPr/>
          <a:lstStyle/>
          <a:p>
            <a:fld id="{F753C897-02ED-424B-BEE0-CCC4D6AB5C2E}" type="datetimeFigureOut">
              <a:rPr lang="en-IN" smtClean="0"/>
              <a:t>27-01-2026</a:t>
            </a:fld>
            <a:endParaRPr lang="en-IN"/>
          </a:p>
        </p:txBody>
      </p:sp>
      <p:sp>
        <p:nvSpPr>
          <p:cNvPr id="6" name="Footer Placeholder 5">
            <a:extLst>
              <a:ext uri="{FF2B5EF4-FFF2-40B4-BE49-F238E27FC236}">
                <a16:creationId xmlns:a16="http://schemas.microsoft.com/office/drawing/2014/main" id="{DF9448B2-5FEB-DE4B-E0B7-D067357292F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698E99C-C73A-4D3F-9334-7B77A14382B4}"/>
              </a:ext>
            </a:extLst>
          </p:cNvPr>
          <p:cNvSpPr>
            <a:spLocks noGrp="1"/>
          </p:cNvSpPr>
          <p:nvPr>
            <p:ph type="sldNum" sz="quarter" idx="12"/>
          </p:nvPr>
        </p:nvSpPr>
        <p:spPr/>
        <p:txBody>
          <a:bodyPr/>
          <a:lstStyle/>
          <a:p>
            <a:fld id="{8986277A-20E6-4DF3-BE49-9D71D8BBCAEB}" type="slidenum">
              <a:rPr lang="en-IN" smtClean="0"/>
              <a:t>‹#›</a:t>
            </a:fld>
            <a:endParaRPr lang="en-IN"/>
          </a:p>
        </p:txBody>
      </p:sp>
    </p:spTree>
    <p:extLst>
      <p:ext uri="{BB962C8B-B14F-4D97-AF65-F5344CB8AC3E}">
        <p14:creationId xmlns:p14="http://schemas.microsoft.com/office/powerpoint/2010/main" val="1578288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6B1E4-7919-04B6-531C-5126897A520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D73289A-1E60-FCE1-9B8A-5EE2F556C2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96E72A-E48D-3EEB-BD4F-17963D9F71C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6454D08-8601-485D-E14D-18C0CAF881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D4FAB4-61C1-23AC-58B9-A6F68B701F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5E13700-B053-7EB8-48D6-9F0E7B358755}"/>
              </a:ext>
            </a:extLst>
          </p:cNvPr>
          <p:cNvSpPr>
            <a:spLocks noGrp="1"/>
          </p:cNvSpPr>
          <p:nvPr>
            <p:ph type="dt" sz="half" idx="10"/>
          </p:nvPr>
        </p:nvSpPr>
        <p:spPr/>
        <p:txBody>
          <a:bodyPr/>
          <a:lstStyle/>
          <a:p>
            <a:fld id="{F753C897-02ED-424B-BEE0-CCC4D6AB5C2E}" type="datetimeFigureOut">
              <a:rPr lang="en-IN" smtClean="0"/>
              <a:t>27-01-2026</a:t>
            </a:fld>
            <a:endParaRPr lang="en-IN"/>
          </a:p>
        </p:txBody>
      </p:sp>
      <p:sp>
        <p:nvSpPr>
          <p:cNvPr id="8" name="Footer Placeholder 7">
            <a:extLst>
              <a:ext uri="{FF2B5EF4-FFF2-40B4-BE49-F238E27FC236}">
                <a16:creationId xmlns:a16="http://schemas.microsoft.com/office/drawing/2014/main" id="{307F5610-BC38-8D84-BA8A-A75983BD3AF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071E78C-E2BB-44D7-8F9E-9434DEE37CB4}"/>
              </a:ext>
            </a:extLst>
          </p:cNvPr>
          <p:cNvSpPr>
            <a:spLocks noGrp="1"/>
          </p:cNvSpPr>
          <p:nvPr>
            <p:ph type="sldNum" sz="quarter" idx="12"/>
          </p:nvPr>
        </p:nvSpPr>
        <p:spPr/>
        <p:txBody>
          <a:bodyPr/>
          <a:lstStyle/>
          <a:p>
            <a:fld id="{8986277A-20E6-4DF3-BE49-9D71D8BBCAEB}" type="slidenum">
              <a:rPr lang="en-IN" smtClean="0"/>
              <a:t>‹#›</a:t>
            </a:fld>
            <a:endParaRPr lang="en-IN"/>
          </a:p>
        </p:txBody>
      </p:sp>
    </p:spTree>
    <p:extLst>
      <p:ext uri="{BB962C8B-B14F-4D97-AF65-F5344CB8AC3E}">
        <p14:creationId xmlns:p14="http://schemas.microsoft.com/office/powerpoint/2010/main" val="16313713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4BFED-34B0-577D-3EB7-406C0248E3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FB3C4DB-AC30-3E8A-A23F-8A2D1FA20C73}"/>
              </a:ext>
            </a:extLst>
          </p:cNvPr>
          <p:cNvSpPr>
            <a:spLocks noGrp="1"/>
          </p:cNvSpPr>
          <p:nvPr>
            <p:ph type="dt" sz="half" idx="10"/>
          </p:nvPr>
        </p:nvSpPr>
        <p:spPr/>
        <p:txBody>
          <a:bodyPr/>
          <a:lstStyle/>
          <a:p>
            <a:fld id="{F753C897-02ED-424B-BEE0-CCC4D6AB5C2E}" type="datetimeFigureOut">
              <a:rPr lang="en-IN" smtClean="0"/>
              <a:t>27-01-2026</a:t>
            </a:fld>
            <a:endParaRPr lang="en-IN"/>
          </a:p>
        </p:txBody>
      </p:sp>
      <p:sp>
        <p:nvSpPr>
          <p:cNvPr id="4" name="Footer Placeholder 3">
            <a:extLst>
              <a:ext uri="{FF2B5EF4-FFF2-40B4-BE49-F238E27FC236}">
                <a16:creationId xmlns:a16="http://schemas.microsoft.com/office/drawing/2014/main" id="{7B0D8AAA-E254-0082-C67F-AD35B5350FF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5E6CDFD-681C-4C24-6B60-FE7369FCACD6}"/>
              </a:ext>
            </a:extLst>
          </p:cNvPr>
          <p:cNvSpPr>
            <a:spLocks noGrp="1"/>
          </p:cNvSpPr>
          <p:nvPr>
            <p:ph type="sldNum" sz="quarter" idx="12"/>
          </p:nvPr>
        </p:nvSpPr>
        <p:spPr/>
        <p:txBody>
          <a:bodyPr/>
          <a:lstStyle/>
          <a:p>
            <a:fld id="{8986277A-20E6-4DF3-BE49-9D71D8BBCAEB}" type="slidenum">
              <a:rPr lang="en-IN" smtClean="0"/>
              <a:t>‹#›</a:t>
            </a:fld>
            <a:endParaRPr lang="en-IN"/>
          </a:p>
        </p:txBody>
      </p:sp>
    </p:spTree>
    <p:extLst>
      <p:ext uri="{BB962C8B-B14F-4D97-AF65-F5344CB8AC3E}">
        <p14:creationId xmlns:p14="http://schemas.microsoft.com/office/powerpoint/2010/main" val="3095325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42489E-BDC1-D577-F890-880ED604CE0A}"/>
              </a:ext>
            </a:extLst>
          </p:cNvPr>
          <p:cNvSpPr>
            <a:spLocks noGrp="1"/>
          </p:cNvSpPr>
          <p:nvPr>
            <p:ph type="dt" sz="half" idx="10"/>
          </p:nvPr>
        </p:nvSpPr>
        <p:spPr/>
        <p:txBody>
          <a:bodyPr/>
          <a:lstStyle/>
          <a:p>
            <a:fld id="{F753C897-02ED-424B-BEE0-CCC4D6AB5C2E}" type="datetimeFigureOut">
              <a:rPr lang="en-IN" smtClean="0"/>
              <a:t>27-01-2026</a:t>
            </a:fld>
            <a:endParaRPr lang="en-IN"/>
          </a:p>
        </p:txBody>
      </p:sp>
      <p:sp>
        <p:nvSpPr>
          <p:cNvPr id="3" name="Footer Placeholder 2">
            <a:extLst>
              <a:ext uri="{FF2B5EF4-FFF2-40B4-BE49-F238E27FC236}">
                <a16:creationId xmlns:a16="http://schemas.microsoft.com/office/drawing/2014/main" id="{221C3237-35F2-5456-63F6-41438D1C148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31D53CC-6A7C-A583-C6AC-82209414160C}"/>
              </a:ext>
            </a:extLst>
          </p:cNvPr>
          <p:cNvSpPr>
            <a:spLocks noGrp="1"/>
          </p:cNvSpPr>
          <p:nvPr>
            <p:ph type="sldNum" sz="quarter" idx="12"/>
          </p:nvPr>
        </p:nvSpPr>
        <p:spPr/>
        <p:txBody>
          <a:bodyPr/>
          <a:lstStyle/>
          <a:p>
            <a:fld id="{8986277A-20E6-4DF3-BE49-9D71D8BBCAEB}" type="slidenum">
              <a:rPr lang="en-IN" smtClean="0"/>
              <a:t>‹#›</a:t>
            </a:fld>
            <a:endParaRPr lang="en-IN"/>
          </a:p>
        </p:txBody>
      </p:sp>
    </p:spTree>
    <p:extLst>
      <p:ext uri="{BB962C8B-B14F-4D97-AF65-F5344CB8AC3E}">
        <p14:creationId xmlns:p14="http://schemas.microsoft.com/office/powerpoint/2010/main" val="3434751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7B2AE-D1F5-6B3D-EE60-D7DA62EC06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F8CA93B-8213-2AA9-BCA6-A455BB7F44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4775F13-5497-6323-678E-2461DB42EA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A39228-2E37-66F4-E888-79F47D0525E2}"/>
              </a:ext>
            </a:extLst>
          </p:cNvPr>
          <p:cNvSpPr>
            <a:spLocks noGrp="1"/>
          </p:cNvSpPr>
          <p:nvPr>
            <p:ph type="dt" sz="half" idx="10"/>
          </p:nvPr>
        </p:nvSpPr>
        <p:spPr/>
        <p:txBody>
          <a:bodyPr/>
          <a:lstStyle/>
          <a:p>
            <a:fld id="{F753C897-02ED-424B-BEE0-CCC4D6AB5C2E}" type="datetimeFigureOut">
              <a:rPr lang="en-IN" smtClean="0"/>
              <a:t>27-01-2026</a:t>
            </a:fld>
            <a:endParaRPr lang="en-IN"/>
          </a:p>
        </p:txBody>
      </p:sp>
      <p:sp>
        <p:nvSpPr>
          <p:cNvPr id="6" name="Footer Placeholder 5">
            <a:extLst>
              <a:ext uri="{FF2B5EF4-FFF2-40B4-BE49-F238E27FC236}">
                <a16:creationId xmlns:a16="http://schemas.microsoft.com/office/drawing/2014/main" id="{C5C04015-7E91-0291-F45C-442BD6E6F56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0338EA8-7C49-25BE-538F-49EC31C11CF3}"/>
              </a:ext>
            </a:extLst>
          </p:cNvPr>
          <p:cNvSpPr>
            <a:spLocks noGrp="1"/>
          </p:cNvSpPr>
          <p:nvPr>
            <p:ph type="sldNum" sz="quarter" idx="12"/>
          </p:nvPr>
        </p:nvSpPr>
        <p:spPr/>
        <p:txBody>
          <a:bodyPr/>
          <a:lstStyle/>
          <a:p>
            <a:fld id="{8986277A-20E6-4DF3-BE49-9D71D8BBCAEB}" type="slidenum">
              <a:rPr lang="en-IN" smtClean="0"/>
              <a:t>‹#›</a:t>
            </a:fld>
            <a:endParaRPr lang="en-IN"/>
          </a:p>
        </p:txBody>
      </p:sp>
    </p:spTree>
    <p:extLst>
      <p:ext uri="{BB962C8B-B14F-4D97-AF65-F5344CB8AC3E}">
        <p14:creationId xmlns:p14="http://schemas.microsoft.com/office/powerpoint/2010/main" val="3156759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8A548-A320-68D1-55F9-971953BD55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775D070-92A1-BAE6-58B3-53DD7DF1DE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CE2E002-801E-10E3-CD48-BF1DFD6FD7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43AA73-CCF0-C700-699B-69824EB31916}"/>
              </a:ext>
            </a:extLst>
          </p:cNvPr>
          <p:cNvSpPr>
            <a:spLocks noGrp="1"/>
          </p:cNvSpPr>
          <p:nvPr>
            <p:ph type="dt" sz="half" idx="10"/>
          </p:nvPr>
        </p:nvSpPr>
        <p:spPr/>
        <p:txBody>
          <a:bodyPr/>
          <a:lstStyle/>
          <a:p>
            <a:fld id="{F753C897-02ED-424B-BEE0-CCC4D6AB5C2E}" type="datetimeFigureOut">
              <a:rPr lang="en-IN" smtClean="0"/>
              <a:t>27-01-2026</a:t>
            </a:fld>
            <a:endParaRPr lang="en-IN"/>
          </a:p>
        </p:txBody>
      </p:sp>
      <p:sp>
        <p:nvSpPr>
          <p:cNvPr id="6" name="Footer Placeholder 5">
            <a:extLst>
              <a:ext uri="{FF2B5EF4-FFF2-40B4-BE49-F238E27FC236}">
                <a16:creationId xmlns:a16="http://schemas.microsoft.com/office/drawing/2014/main" id="{8E9FDACE-B9B4-6280-2ACF-D3C7F3C4FB4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0DE13BC-4E05-A883-B82D-BE67A2F5DE84}"/>
              </a:ext>
            </a:extLst>
          </p:cNvPr>
          <p:cNvSpPr>
            <a:spLocks noGrp="1"/>
          </p:cNvSpPr>
          <p:nvPr>
            <p:ph type="sldNum" sz="quarter" idx="12"/>
          </p:nvPr>
        </p:nvSpPr>
        <p:spPr/>
        <p:txBody>
          <a:bodyPr/>
          <a:lstStyle/>
          <a:p>
            <a:fld id="{8986277A-20E6-4DF3-BE49-9D71D8BBCAEB}" type="slidenum">
              <a:rPr lang="en-IN" smtClean="0"/>
              <a:t>‹#›</a:t>
            </a:fld>
            <a:endParaRPr lang="en-IN"/>
          </a:p>
        </p:txBody>
      </p:sp>
    </p:spTree>
    <p:extLst>
      <p:ext uri="{BB962C8B-B14F-4D97-AF65-F5344CB8AC3E}">
        <p14:creationId xmlns:p14="http://schemas.microsoft.com/office/powerpoint/2010/main" val="16280778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C5047-ADA0-26A9-24BC-9A19B13FFB8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80DDACC-287E-1477-C31E-1214ADC91B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BC6701-74EE-FFC7-A774-EFCDC55976F1}"/>
              </a:ext>
            </a:extLst>
          </p:cNvPr>
          <p:cNvSpPr>
            <a:spLocks noGrp="1"/>
          </p:cNvSpPr>
          <p:nvPr>
            <p:ph type="dt" sz="half" idx="10"/>
          </p:nvPr>
        </p:nvSpPr>
        <p:spPr/>
        <p:txBody>
          <a:bodyPr/>
          <a:lstStyle/>
          <a:p>
            <a:fld id="{F753C897-02ED-424B-BEE0-CCC4D6AB5C2E}" type="datetimeFigureOut">
              <a:rPr lang="en-IN" smtClean="0"/>
              <a:t>27-01-2026</a:t>
            </a:fld>
            <a:endParaRPr lang="en-IN"/>
          </a:p>
        </p:txBody>
      </p:sp>
      <p:sp>
        <p:nvSpPr>
          <p:cNvPr id="5" name="Footer Placeholder 4">
            <a:extLst>
              <a:ext uri="{FF2B5EF4-FFF2-40B4-BE49-F238E27FC236}">
                <a16:creationId xmlns:a16="http://schemas.microsoft.com/office/drawing/2014/main" id="{3764C938-F696-5175-9B9A-4634E5D5CA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D470FB-6BD4-258E-D709-7C67F565E65E}"/>
              </a:ext>
            </a:extLst>
          </p:cNvPr>
          <p:cNvSpPr>
            <a:spLocks noGrp="1"/>
          </p:cNvSpPr>
          <p:nvPr>
            <p:ph type="sldNum" sz="quarter" idx="12"/>
          </p:nvPr>
        </p:nvSpPr>
        <p:spPr/>
        <p:txBody>
          <a:bodyPr/>
          <a:lstStyle/>
          <a:p>
            <a:fld id="{8986277A-20E6-4DF3-BE49-9D71D8BBCAEB}" type="slidenum">
              <a:rPr lang="en-IN" smtClean="0"/>
              <a:t>‹#›</a:t>
            </a:fld>
            <a:endParaRPr lang="en-IN"/>
          </a:p>
        </p:txBody>
      </p:sp>
    </p:spTree>
    <p:extLst>
      <p:ext uri="{BB962C8B-B14F-4D97-AF65-F5344CB8AC3E}">
        <p14:creationId xmlns:p14="http://schemas.microsoft.com/office/powerpoint/2010/main" val="3136643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4A9BD9-7E1A-9266-93CD-47D626C9CC7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4B094A8-CEE0-A5B1-166F-194494ABF2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D6064B-BAEC-E82F-C7F0-C84BFE16C100}"/>
              </a:ext>
            </a:extLst>
          </p:cNvPr>
          <p:cNvSpPr>
            <a:spLocks noGrp="1"/>
          </p:cNvSpPr>
          <p:nvPr>
            <p:ph type="dt" sz="half" idx="10"/>
          </p:nvPr>
        </p:nvSpPr>
        <p:spPr/>
        <p:txBody>
          <a:bodyPr/>
          <a:lstStyle/>
          <a:p>
            <a:fld id="{F753C897-02ED-424B-BEE0-CCC4D6AB5C2E}" type="datetimeFigureOut">
              <a:rPr lang="en-IN" smtClean="0"/>
              <a:t>27-01-2026</a:t>
            </a:fld>
            <a:endParaRPr lang="en-IN"/>
          </a:p>
        </p:txBody>
      </p:sp>
      <p:sp>
        <p:nvSpPr>
          <p:cNvPr id="5" name="Footer Placeholder 4">
            <a:extLst>
              <a:ext uri="{FF2B5EF4-FFF2-40B4-BE49-F238E27FC236}">
                <a16:creationId xmlns:a16="http://schemas.microsoft.com/office/drawing/2014/main" id="{24740FB3-4C02-1DC6-63F6-CA6CC9F46F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7256FC-E7D3-1C9B-1556-9678FA540CE4}"/>
              </a:ext>
            </a:extLst>
          </p:cNvPr>
          <p:cNvSpPr>
            <a:spLocks noGrp="1"/>
          </p:cNvSpPr>
          <p:nvPr>
            <p:ph type="sldNum" sz="quarter" idx="12"/>
          </p:nvPr>
        </p:nvSpPr>
        <p:spPr/>
        <p:txBody>
          <a:bodyPr/>
          <a:lstStyle/>
          <a:p>
            <a:fld id="{8986277A-20E6-4DF3-BE49-9D71D8BBCAEB}" type="slidenum">
              <a:rPr lang="en-IN" smtClean="0"/>
              <a:t>‹#›</a:t>
            </a:fld>
            <a:endParaRPr lang="en-IN"/>
          </a:p>
        </p:txBody>
      </p:sp>
    </p:spTree>
    <p:extLst>
      <p:ext uri="{BB962C8B-B14F-4D97-AF65-F5344CB8AC3E}">
        <p14:creationId xmlns:p14="http://schemas.microsoft.com/office/powerpoint/2010/main" val="567872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C15B59-768A-3E91-E453-597E6E754F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5DD7AB8-226A-E75B-5347-E7F01A043E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882D5A-CB7C-503F-9369-F162AF5F59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53C897-02ED-424B-BEE0-CCC4D6AB5C2E}" type="datetimeFigureOut">
              <a:rPr lang="en-IN" smtClean="0"/>
              <a:t>27-01-2026</a:t>
            </a:fld>
            <a:endParaRPr lang="en-IN"/>
          </a:p>
        </p:txBody>
      </p:sp>
      <p:sp>
        <p:nvSpPr>
          <p:cNvPr id="5" name="Footer Placeholder 4">
            <a:extLst>
              <a:ext uri="{FF2B5EF4-FFF2-40B4-BE49-F238E27FC236}">
                <a16:creationId xmlns:a16="http://schemas.microsoft.com/office/drawing/2014/main" id="{835D6853-CF50-0A22-3444-080B1D4A9F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EFA1049-C96C-A5A5-E17C-6DAF49E63E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86277A-20E6-4DF3-BE49-9D71D8BBCAEB}" type="slidenum">
              <a:rPr lang="en-IN" smtClean="0"/>
              <a:t>‹#›</a:t>
            </a:fld>
            <a:endParaRPr lang="en-IN"/>
          </a:p>
        </p:txBody>
      </p:sp>
    </p:spTree>
    <p:extLst>
      <p:ext uri="{BB962C8B-B14F-4D97-AF65-F5344CB8AC3E}">
        <p14:creationId xmlns:p14="http://schemas.microsoft.com/office/powerpoint/2010/main" val="19220639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dashboard.promptlayer.com/onboarding" TargetMode="External"/><Relationship Id="rId2" Type="http://schemas.openxmlformats.org/officeDocument/2006/relationships/hyperlink" Target="https://smith.langchain.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1DE34-65AA-01FB-4290-F29E455B7816}"/>
              </a:ext>
            </a:extLst>
          </p:cNvPr>
          <p:cNvSpPr>
            <a:spLocks noGrp="1"/>
          </p:cNvSpPr>
          <p:nvPr>
            <p:ph type="ctrTitle"/>
          </p:nvPr>
        </p:nvSpPr>
        <p:spPr/>
        <p:txBody>
          <a:bodyPr/>
          <a:lstStyle/>
          <a:p>
            <a:r>
              <a:rPr lang="en-US" dirty="0"/>
              <a:t>Module 2 </a:t>
            </a:r>
            <a:endParaRPr lang="en-IN" dirty="0"/>
          </a:p>
        </p:txBody>
      </p:sp>
      <p:sp>
        <p:nvSpPr>
          <p:cNvPr id="3" name="Subtitle 2">
            <a:extLst>
              <a:ext uri="{FF2B5EF4-FFF2-40B4-BE49-F238E27FC236}">
                <a16:creationId xmlns:a16="http://schemas.microsoft.com/office/drawing/2014/main" id="{B78317CE-5122-E2EF-A30F-975BE27FB0D9}"/>
              </a:ext>
            </a:extLst>
          </p:cNvPr>
          <p:cNvSpPr>
            <a:spLocks noGrp="1"/>
          </p:cNvSpPr>
          <p:nvPr>
            <p:ph type="subTitle" idx="1"/>
          </p:nvPr>
        </p:nvSpPr>
        <p:spPr/>
        <p:txBody>
          <a:bodyPr/>
          <a:lstStyle/>
          <a:p>
            <a:r>
              <a:rPr lang="en-IN" b="1" dirty="0"/>
              <a:t>Example and Instruction Based Prompts</a:t>
            </a:r>
            <a:r>
              <a:rPr lang="en-IN" dirty="0"/>
              <a:t> : Example Prompts – Zero-Shot, One-Shot, Few-Shot, Chain of Thoughts. Instruction Based Prompts-Instruction based, Role based, Constrain based, Persona.</a:t>
            </a:r>
          </a:p>
          <a:p>
            <a:endParaRPr lang="en-IN" dirty="0"/>
          </a:p>
        </p:txBody>
      </p:sp>
    </p:spTree>
    <p:extLst>
      <p:ext uri="{BB962C8B-B14F-4D97-AF65-F5344CB8AC3E}">
        <p14:creationId xmlns:p14="http://schemas.microsoft.com/office/powerpoint/2010/main" val="5516009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1B717-0F2C-77D5-FEC0-F8BC7A11377B}"/>
              </a:ext>
            </a:extLst>
          </p:cNvPr>
          <p:cNvSpPr>
            <a:spLocks noGrp="1"/>
          </p:cNvSpPr>
          <p:nvPr>
            <p:ph type="title"/>
          </p:nvPr>
        </p:nvSpPr>
        <p:spPr/>
        <p:txBody>
          <a:bodyPr/>
          <a:lstStyle/>
          <a:p>
            <a:r>
              <a:rPr lang="en-US" dirty="0"/>
              <a:t>Add-On	</a:t>
            </a:r>
            <a:endParaRPr lang="en-IN" dirty="0"/>
          </a:p>
        </p:txBody>
      </p:sp>
      <p:sp>
        <p:nvSpPr>
          <p:cNvPr id="3" name="Content Placeholder 2">
            <a:extLst>
              <a:ext uri="{FF2B5EF4-FFF2-40B4-BE49-F238E27FC236}">
                <a16:creationId xmlns:a16="http://schemas.microsoft.com/office/drawing/2014/main" id="{0EA34CD8-ACED-E5A0-BCED-EDC94F0A3668}"/>
              </a:ext>
            </a:extLst>
          </p:cNvPr>
          <p:cNvSpPr>
            <a:spLocks noGrp="1"/>
          </p:cNvSpPr>
          <p:nvPr>
            <p:ph idx="1"/>
          </p:nvPr>
        </p:nvSpPr>
        <p:spPr/>
        <p:txBody>
          <a:bodyPr/>
          <a:lstStyle/>
          <a:p>
            <a:r>
              <a:rPr lang="en-IN" dirty="0" err="1"/>
              <a:t>LangSmith</a:t>
            </a:r>
            <a:r>
              <a:rPr lang="en-IN" dirty="0"/>
              <a:t> : </a:t>
            </a:r>
            <a:r>
              <a:rPr lang="en-IN" dirty="0">
                <a:hlinkClick r:id="rId2"/>
              </a:rPr>
              <a:t>https://smith.langchain.com/</a:t>
            </a:r>
            <a:endParaRPr lang="en-IN" dirty="0"/>
          </a:p>
          <a:p>
            <a:r>
              <a:rPr lang="en-IN" dirty="0" err="1"/>
              <a:t>PromptLayer</a:t>
            </a:r>
            <a:r>
              <a:rPr lang="en-IN" dirty="0"/>
              <a:t>: </a:t>
            </a:r>
            <a:r>
              <a:rPr lang="en-IN" dirty="0">
                <a:hlinkClick r:id="rId3"/>
              </a:rPr>
              <a:t>https://dashboard.promptlayer.com/onboarding</a:t>
            </a:r>
            <a:r>
              <a:rPr lang="en-IN" dirty="0"/>
              <a:t> </a:t>
            </a:r>
          </a:p>
          <a:p>
            <a:endParaRPr lang="en-IN" dirty="0"/>
          </a:p>
          <a:p>
            <a:endParaRPr lang="en-IN" dirty="0"/>
          </a:p>
        </p:txBody>
      </p:sp>
    </p:spTree>
    <p:extLst>
      <p:ext uri="{BB962C8B-B14F-4D97-AF65-F5344CB8AC3E}">
        <p14:creationId xmlns:p14="http://schemas.microsoft.com/office/powerpoint/2010/main" val="2742446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DBF9B5-85C3-7208-4A8D-592427A20DAD}"/>
              </a:ext>
            </a:extLst>
          </p:cNvPr>
          <p:cNvSpPr>
            <a:spLocks noGrp="1"/>
          </p:cNvSpPr>
          <p:nvPr>
            <p:ph idx="1"/>
          </p:nvPr>
        </p:nvSpPr>
        <p:spPr>
          <a:xfrm>
            <a:off x="929640" y="697864"/>
            <a:ext cx="10515600" cy="5509895"/>
          </a:xfrm>
        </p:spPr>
        <p:txBody>
          <a:bodyPr>
            <a:noAutofit/>
          </a:bodyPr>
          <a:lstStyle/>
          <a:p>
            <a:pPr marL="0" indent="0">
              <a:lnSpc>
                <a:spcPct val="100000"/>
              </a:lnSpc>
              <a:buNone/>
            </a:pPr>
            <a:r>
              <a:rPr lang="en-US" sz="2000" b="1" dirty="0">
                <a:latin typeface="Times New Roman" panose="02020603050405020304" pitchFamily="18" charset="0"/>
                <a:cs typeface="Times New Roman" panose="02020603050405020304" pitchFamily="18" charset="0"/>
              </a:rPr>
              <a:t>Examples of Prompts </a:t>
            </a:r>
          </a:p>
          <a:p>
            <a:pPr marL="0" indent="0">
              <a:lnSpc>
                <a:spcPct val="100000"/>
              </a:lnSpc>
              <a:buNone/>
            </a:pPr>
            <a:r>
              <a:rPr lang="en-US" sz="2000" dirty="0">
                <a:latin typeface="Times New Roman" panose="02020603050405020304" pitchFamily="18" charset="0"/>
                <a:cs typeface="Times New Roman" panose="02020603050405020304" pitchFamily="18" charset="0"/>
              </a:rPr>
              <a:t>Introduced a basic example of how to prompt LLMs. </a:t>
            </a:r>
          </a:p>
          <a:p>
            <a:pPr marL="0" indent="0">
              <a:lnSpc>
                <a:spcPct val="100000"/>
              </a:lnSpc>
              <a:buNone/>
            </a:pPr>
            <a:r>
              <a:rPr lang="en-US" sz="2000" dirty="0">
                <a:latin typeface="Times New Roman" panose="02020603050405020304" pitchFamily="18" charset="0"/>
                <a:cs typeface="Times New Roman" panose="02020603050405020304" pitchFamily="18" charset="0"/>
              </a:rPr>
              <a:t>This section will provide more examples of how to use prompts to achieve different tasks and introduce key concepts along the way. Often, the best way to learn concepts is by going through examples. The few examples below illustrate how you can use well-crafted prompts to perform different types of tasks. </a:t>
            </a:r>
          </a:p>
          <a:p>
            <a:pPr marL="0" indent="0">
              <a:lnSpc>
                <a:spcPct val="100000"/>
              </a:lnSpc>
              <a:buNone/>
            </a:pPr>
            <a:r>
              <a:rPr lang="en-US" sz="2000" b="1" dirty="0">
                <a:latin typeface="Times New Roman" panose="02020603050405020304" pitchFamily="18" charset="0"/>
                <a:cs typeface="Times New Roman" panose="02020603050405020304" pitchFamily="18" charset="0"/>
              </a:rPr>
              <a:t>Topics:</a:t>
            </a:r>
            <a:r>
              <a:rPr lang="en-US" sz="2000" dirty="0">
                <a:latin typeface="Times New Roman" panose="02020603050405020304" pitchFamily="18" charset="0"/>
                <a:cs typeface="Times New Roman" panose="02020603050405020304" pitchFamily="18" charset="0"/>
              </a:rPr>
              <a:t> </a:t>
            </a:r>
          </a:p>
          <a:p>
            <a:pPr>
              <a:lnSpc>
                <a:spcPct val="100000"/>
              </a:lnSpc>
            </a:pPr>
            <a:r>
              <a:rPr lang="en-US" sz="2000" dirty="0">
                <a:latin typeface="Times New Roman" panose="02020603050405020304" pitchFamily="18" charset="0"/>
                <a:cs typeface="Times New Roman" panose="02020603050405020304" pitchFamily="18" charset="0"/>
              </a:rPr>
              <a:t>Text Summarization </a:t>
            </a:r>
          </a:p>
          <a:p>
            <a:pPr>
              <a:lnSpc>
                <a:spcPct val="100000"/>
              </a:lnSpc>
            </a:pPr>
            <a:r>
              <a:rPr lang="en-US" sz="2000" dirty="0">
                <a:latin typeface="Times New Roman" panose="02020603050405020304" pitchFamily="18" charset="0"/>
                <a:cs typeface="Times New Roman" panose="02020603050405020304" pitchFamily="18" charset="0"/>
              </a:rPr>
              <a:t>Information Extraction </a:t>
            </a:r>
          </a:p>
          <a:p>
            <a:pPr>
              <a:lnSpc>
                <a:spcPct val="100000"/>
              </a:lnSpc>
            </a:pPr>
            <a:r>
              <a:rPr lang="en-US" sz="2000" dirty="0">
                <a:latin typeface="Times New Roman" panose="02020603050405020304" pitchFamily="18" charset="0"/>
                <a:cs typeface="Times New Roman" panose="02020603050405020304" pitchFamily="18" charset="0"/>
              </a:rPr>
              <a:t>Question Answering </a:t>
            </a:r>
          </a:p>
          <a:p>
            <a:pPr>
              <a:lnSpc>
                <a:spcPct val="100000"/>
              </a:lnSpc>
            </a:pPr>
            <a:r>
              <a:rPr lang="en-US" sz="2000" dirty="0">
                <a:latin typeface="Times New Roman" panose="02020603050405020304" pitchFamily="18" charset="0"/>
                <a:cs typeface="Times New Roman" panose="02020603050405020304" pitchFamily="18" charset="0"/>
              </a:rPr>
              <a:t>Text Classification </a:t>
            </a:r>
          </a:p>
          <a:p>
            <a:pPr>
              <a:lnSpc>
                <a:spcPct val="100000"/>
              </a:lnSpc>
            </a:pPr>
            <a:r>
              <a:rPr lang="en-US" sz="2000" dirty="0">
                <a:latin typeface="Times New Roman" panose="02020603050405020304" pitchFamily="18" charset="0"/>
                <a:cs typeface="Times New Roman" panose="02020603050405020304" pitchFamily="18" charset="0"/>
              </a:rPr>
              <a:t>Conversation </a:t>
            </a:r>
          </a:p>
          <a:p>
            <a:pPr>
              <a:lnSpc>
                <a:spcPct val="100000"/>
              </a:lnSpc>
            </a:pPr>
            <a:r>
              <a:rPr lang="en-US" sz="2000" dirty="0">
                <a:latin typeface="Times New Roman" panose="02020603050405020304" pitchFamily="18" charset="0"/>
                <a:cs typeface="Times New Roman" panose="02020603050405020304" pitchFamily="18" charset="0"/>
              </a:rPr>
              <a:t>Code Generation </a:t>
            </a:r>
          </a:p>
          <a:p>
            <a:pPr>
              <a:lnSpc>
                <a:spcPct val="100000"/>
              </a:lnSpc>
            </a:pPr>
            <a:r>
              <a:rPr lang="en-US" sz="2000" dirty="0">
                <a:latin typeface="Times New Roman" panose="02020603050405020304" pitchFamily="18" charset="0"/>
                <a:cs typeface="Times New Roman" panose="02020603050405020304" pitchFamily="18" charset="0"/>
              </a:rPr>
              <a:t>Reasoning search above on topic of agent workflows.</a:t>
            </a:r>
          </a:p>
          <a:p>
            <a:pPr>
              <a:lnSpc>
                <a:spcPct val="100000"/>
              </a:lnSpc>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4562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2359D-011C-D99B-912E-80CFFCFFFD34}"/>
              </a:ext>
            </a:extLst>
          </p:cNvPr>
          <p:cNvSpPr>
            <a:spLocks noGrp="1"/>
          </p:cNvSpPr>
          <p:nvPr>
            <p:ph type="title"/>
          </p:nvPr>
        </p:nvSpPr>
        <p:spPr/>
        <p:txBody>
          <a:bodyPr/>
          <a:lstStyle/>
          <a:p>
            <a:r>
              <a:rPr lang="en-US" dirty="0">
                <a:solidFill>
                  <a:srgbClr val="00B050"/>
                </a:solidFill>
                <a:latin typeface="Times New Roman" panose="02020603050405020304" pitchFamily="18" charset="0"/>
                <a:cs typeface="Times New Roman" panose="02020603050405020304" pitchFamily="18" charset="0"/>
              </a:rPr>
              <a:t>Text Summarization </a:t>
            </a:r>
            <a:endParaRPr lang="en-IN" dirty="0">
              <a:solidFill>
                <a:srgbClr val="00B050"/>
              </a:solidFill>
            </a:endParaRPr>
          </a:p>
        </p:txBody>
      </p:sp>
      <p:graphicFrame>
        <p:nvGraphicFramePr>
          <p:cNvPr id="4" name="Content Placeholder 3">
            <a:extLst>
              <a:ext uri="{FF2B5EF4-FFF2-40B4-BE49-F238E27FC236}">
                <a16:creationId xmlns:a16="http://schemas.microsoft.com/office/drawing/2014/main" id="{A395BCA9-6D79-5A5A-094F-06D1C839535A}"/>
              </a:ext>
            </a:extLst>
          </p:cNvPr>
          <p:cNvGraphicFramePr>
            <a:graphicFrameLocks noGrp="1"/>
          </p:cNvGraphicFramePr>
          <p:nvPr>
            <p:ph idx="1"/>
            <p:extLst>
              <p:ext uri="{D42A27DB-BD31-4B8C-83A1-F6EECF244321}">
                <p14:modId xmlns:p14="http://schemas.microsoft.com/office/powerpoint/2010/main" val="2440534676"/>
              </p:ext>
            </p:extLst>
          </p:nvPr>
        </p:nvGraphicFramePr>
        <p:xfrm>
          <a:off x="548640" y="1690688"/>
          <a:ext cx="11409680" cy="4445132"/>
        </p:xfrm>
        <a:graphic>
          <a:graphicData uri="http://schemas.openxmlformats.org/drawingml/2006/table">
            <a:tbl>
              <a:tblPr/>
              <a:tblGrid>
                <a:gridCol w="985520">
                  <a:extLst>
                    <a:ext uri="{9D8B030D-6E8A-4147-A177-3AD203B41FA5}">
                      <a16:colId xmlns:a16="http://schemas.microsoft.com/office/drawing/2014/main" val="2581237097"/>
                    </a:ext>
                  </a:extLst>
                </a:gridCol>
                <a:gridCol w="1818640">
                  <a:extLst>
                    <a:ext uri="{9D8B030D-6E8A-4147-A177-3AD203B41FA5}">
                      <a16:colId xmlns:a16="http://schemas.microsoft.com/office/drawing/2014/main" val="3083677651"/>
                    </a:ext>
                  </a:extLst>
                </a:gridCol>
                <a:gridCol w="1595120">
                  <a:extLst>
                    <a:ext uri="{9D8B030D-6E8A-4147-A177-3AD203B41FA5}">
                      <a16:colId xmlns:a16="http://schemas.microsoft.com/office/drawing/2014/main" val="1524676321"/>
                    </a:ext>
                  </a:extLst>
                </a:gridCol>
                <a:gridCol w="5212080">
                  <a:extLst>
                    <a:ext uri="{9D8B030D-6E8A-4147-A177-3AD203B41FA5}">
                      <a16:colId xmlns:a16="http://schemas.microsoft.com/office/drawing/2014/main" val="4089774880"/>
                    </a:ext>
                  </a:extLst>
                </a:gridCol>
                <a:gridCol w="1798320">
                  <a:extLst>
                    <a:ext uri="{9D8B030D-6E8A-4147-A177-3AD203B41FA5}">
                      <a16:colId xmlns:a16="http://schemas.microsoft.com/office/drawing/2014/main" val="3383901908"/>
                    </a:ext>
                  </a:extLst>
                </a:gridCol>
              </a:tblGrid>
              <a:tr h="200062">
                <a:tc>
                  <a:txBody>
                    <a:bodyPr/>
                    <a:lstStyle/>
                    <a:p>
                      <a:pPr algn="ctr">
                        <a:buNone/>
                      </a:pPr>
                      <a:endParaRPr lang="en-IN" sz="1600" dirty="0">
                        <a:latin typeface="Times New Roman" panose="02020603050405020304" pitchFamily="18" charset="0"/>
                        <a:cs typeface="Times New Roman" panose="02020603050405020304" pitchFamily="18" charset="0"/>
                      </a:endParaRPr>
                    </a:p>
                  </a:txBody>
                  <a:tcPr marL="50015" marR="50015" marT="25008" marB="25008" anchor="ctr">
                    <a:lnL>
                      <a:noFill/>
                    </a:lnL>
                    <a:lnR>
                      <a:noFill/>
                    </a:lnR>
                    <a:lnT>
                      <a:noFill/>
                    </a:lnT>
                    <a:lnB>
                      <a:noFill/>
                    </a:lnB>
                    <a:noFill/>
                  </a:tcPr>
                </a:tc>
                <a:tc>
                  <a:txBody>
                    <a:bodyPr/>
                    <a:lstStyle/>
                    <a:p>
                      <a:pPr algn="ctr">
                        <a:buNone/>
                      </a:pPr>
                      <a:endParaRPr lang="en-IN" sz="1600" dirty="0">
                        <a:latin typeface="Times New Roman" panose="02020603050405020304" pitchFamily="18" charset="0"/>
                        <a:cs typeface="Times New Roman" panose="02020603050405020304" pitchFamily="18" charset="0"/>
                      </a:endParaRPr>
                    </a:p>
                  </a:txBody>
                  <a:tcPr marL="50015" marR="50015" marT="25008" marB="25008" anchor="ctr">
                    <a:lnL>
                      <a:noFill/>
                    </a:lnL>
                    <a:lnR>
                      <a:noFill/>
                    </a:lnR>
                    <a:lnT>
                      <a:noFill/>
                    </a:lnT>
                    <a:lnB>
                      <a:noFill/>
                    </a:lnB>
                    <a:noFill/>
                  </a:tcPr>
                </a:tc>
                <a:tc>
                  <a:txBody>
                    <a:bodyPr/>
                    <a:lstStyle/>
                    <a:p>
                      <a:pPr algn="ctr">
                        <a:buNone/>
                      </a:pPr>
                      <a:endParaRPr lang="en-IN" sz="1600" dirty="0">
                        <a:latin typeface="Times New Roman" panose="02020603050405020304" pitchFamily="18" charset="0"/>
                        <a:cs typeface="Times New Roman" panose="02020603050405020304" pitchFamily="18" charset="0"/>
                      </a:endParaRPr>
                    </a:p>
                  </a:txBody>
                  <a:tcPr marL="50015" marR="50015" marT="25008" marB="25008" anchor="ctr">
                    <a:lnL>
                      <a:noFill/>
                    </a:lnL>
                    <a:lnR>
                      <a:noFill/>
                    </a:lnR>
                    <a:lnT>
                      <a:noFill/>
                    </a:lnT>
                    <a:lnB>
                      <a:noFill/>
                    </a:lnB>
                    <a:noFill/>
                  </a:tcPr>
                </a:tc>
                <a:tc>
                  <a:txBody>
                    <a:bodyPr/>
                    <a:lstStyle/>
                    <a:p>
                      <a:pPr algn="ctr">
                        <a:buNone/>
                      </a:pPr>
                      <a:endParaRPr lang="en-IN" sz="1600" dirty="0">
                        <a:latin typeface="Times New Roman" panose="02020603050405020304" pitchFamily="18" charset="0"/>
                        <a:cs typeface="Times New Roman" panose="02020603050405020304" pitchFamily="18" charset="0"/>
                      </a:endParaRPr>
                    </a:p>
                  </a:txBody>
                  <a:tcPr marL="50015" marR="50015" marT="25008" marB="25008" anchor="ctr">
                    <a:lnL>
                      <a:noFill/>
                    </a:lnL>
                    <a:lnR>
                      <a:noFill/>
                    </a:lnR>
                    <a:lnT>
                      <a:noFill/>
                    </a:lnT>
                    <a:lnB>
                      <a:noFill/>
                    </a:lnB>
                    <a:noFill/>
                  </a:tcPr>
                </a:tc>
                <a:tc>
                  <a:txBody>
                    <a:bodyPr/>
                    <a:lstStyle/>
                    <a:p>
                      <a:pPr algn="ctr">
                        <a:buNone/>
                      </a:pPr>
                      <a:endParaRPr lang="en-IN" sz="1600" dirty="0">
                        <a:latin typeface="Times New Roman" panose="02020603050405020304" pitchFamily="18" charset="0"/>
                        <a:cs typeface="Times New Roman" panose="02020603050405020304" pitchFamily="18" charset="0"/>
                      </a:endParaRPr>
                    </a:p>
                  </a:txBody>
                  <a:tcPr marL="50015" marR="50015" marT="25008" marB="25008" anchor="ctr">
                    <a:lnL>
                      <a:noFill/>
                    </a:lnL>
                    <a:lnR>
                      <a:noFill/>
                    </a:lnR>
                    <a:lnT>
                      <a:noFill/>
                    </a:lnT>
                    <a:lnB>
                      <a:noFill/>
                    </a:lnB>
                    <a:noFill/>
                  </a:tcPr>
                </a:tc>
                <a:extLst>
                  <a:ext uri="{0D108BD9-81ED-4DB2-BD59-A6C34878D82A}">
                    <a16:rowId xmlns:a16="http://schemas.microsoft.com/office/drawing/2014/main" val="1096867247"/>
                  </a:ext>
                </a:extLst>
              </a:tr>
              <a:tr h="950292">
                <a:tc>
                  <a:txBody>
                    <a:bodyPr/>
                    <a:lstStyle/>
                    <a:p>
                      <a:pPr>
                        <a:buNone/>
                      </a:pPr>
                      <a:endParaRPr lang="en-IN" sz="1600">
                        <a:latin typeface="Times New Roman" panose="02020603050405020304" pitchFamily="18" charset="0"/>
                        <a:cs typeface="Times New Roman" panose="02020603050405020304" pitchFamily="18" charset="0"/>
                      </a:endParaRPr>
                    </a:p>
                  </a:txBody>
                  <a:tcPr marL="50015" marR="50015" marT="25008" marB="25008" anchor="ctr">
                    <a:lnL>
                      <a:noFill/>
                    </a:lnL>
                    <a:lnR>
                      <a:noFill/>
                    </a:lnR>
                    <a:lnT>
                      <a:noFill/>
                    </a:lnT>
                    <a:lnB>
                      <a:noFill/>
                    </a:lnB>
                    <a:noFill/>
                  </a:tcPr>
                </a:tc>
                <a:tc>
                  <a:txBody>
                    <a:bodyPr/>
                    <a:lstStyle/>
                    <a:p>
                      <a:pPr>
                        <a:buNone/>
                      </a:pPr>
                      <a:endParaRPr lang="en-IN" sz="1600" dirty="0">
                        <a:latin typeface="Times New Roman" panose="02020603050405020304" pitchFamily="18" charset="0"/>
                        <a:cs typeface="Times New Roman" panose="02020603050405020304" pitchFamily="18" charset="0"/>
                      </a:endParaRPr>
                    </a:p>
                  </a:txBody>
                  <a:tcPr marL="50015" marR="50015" marT="25008" marB="25008" anchor="ctr">
                    <a:lnL>
                      <a:noFill/>
                    </a:lnL>
                    <a:lnR>
                      <a:noFill/>
                    </a:lnR>
                    <a:lnT>
                      <a:noFill/>
                    </a:lnT>
                    <a:lnB>
                      <a:noFill/>
                    </a:lnB>
                    <a:noFill/>
                  </a:tcPr>
                </a:tc>
                <a:tc>
                  <a:txBody>
                    <a:bodyPr/>
                    <a:lstStyle/>
                    <a:p>
                      <a:pPr>
                        <a:buNone/>
                      </a:pPr>
                      <a:endParaRPr lang="en-US" sz="1600" dirty="0">
                        <a:latin typeface="Times New Roman" panose="02020603050405020304" pitchFamily="18" charset="0"/>
                        <a:cs typeface="Times New Roman" panose="02020603050405020304" pitchFamily="18" charset="0"/>
                      </a:endParaRPr>
                    </a:p>
                  </a:txBody>
                  <a:tcPr marL="50015" marR="50015" marT="25008" marB="25008" anchor="ctr">
                    <a:lnL>
                      <a:noFill/>
                    </a:lnL>
                    <a:lnR>
                      <a:noFill/>
                    </a:lnR>
                    <a:lnT>
                      <a:noFill/>
                    </a:lnT>
                    <a:lnB>
                      <a:noFill/>
                    </a:lnB>
                    <a:noFill/>
                  </a:tcPr>
                </a:tc>
                <a:tc>
                  <a:txBody>
                    <a:bodyPr/>
                    <a:lstStyle/>
                    <a:p>
                      <a:pPr>
                        <a:buNone/>
                      </a:pPr>
                      <a:endParaRPr lang="en-US" sz="1600" dirty="0">
                        <a:latin typeface="Times New Roman" panose="02020603050405020304" pitchFamily="18" charset="0"/>
                        <a:cs typeface="Times New Roman" panose="02020603050405020304" pitchFamily="18" charset="0"/>
                      </a:endParaRPr>
                    </a:p>
                  </a:txBody>
                  <a:tcPr marL="50015" marR="50015" marT="25008" marB="25008" anchor="ctr">
                    <a:lnL>
                      <a:noFill/>
                    </a:lnL>
                    <a:lnR>
                      <a:noFill/>
                    </a:lnR>
                    <a:lnT>
                      <a:noFill/>
                    </a:lnT>
                    <a:lnB>
                      <a:noFill/>
                    </a:lnB>
                    <a:noFill/>
                  </a:tcPr>
                </a:tc>
                <a:tc>
                  <a:txBody>
                    <a:bodyPr/>
                    <a:lstStyle/>
                    <a:p>
                      <a:pPr>
                        <a:buNone/>
                      </a:pPr>
                      <a:endParaRPr lang="en-IN" sz="1600">
                        <a:latin typeface="Times New Roman" panose="02020603050405020304" pitchFamily="18" charset="0"/>
                        <a:cs typeface="Times New Roman" panose="02020603050405020304" pitchFamily="18" charset="0"/>
                      </a:endParaRPr>
                    </a:p>
                  </a:txBody>
                  <a:tcPr marL="50015" marR="50015" marT="25008" marB="25008" anchor="ctr">
                    <a:lnL>
                      <a:noFill/>
                    </a:lnL>
                    <a:lnR>
                      <a:noFill/>
                    </a:lnR>
                    <a:lnT>
                      <a:noFill/>
                    </a:lnT>
                    <a:lnB>
                      <a:noFill/>
                    </a:lnB>
                    <a:noFill/>
                  </a:tcPr>
                </a:tc>
                <a:extLst>
                  <a:ext uri="{0D108BD9-81ED-4DB2-BD59-A6C34878D82A}">
                    <a16:rowId xmlns:a16="http://schemas.microsoft.com/office/drawing/2014/main" val="665875464"/>
                  </a:ext>
                </a:extLst>
              </a:tr>
              <a:tr h="800246">
                <a:tc>
                  <a:txBody>
                    <a:bodyPr/>
                    <a:lstStyle/>
                    <a:p>
                      <a:pPr>
                        <a:buNone/>
                      </a:pPr>
                      <a:endParaRPr lang="en-IN" sz="1600">
                        <a:latin typeface="Times New Roman" panose="02020603050405020304" pitchFamily="18" charset="0"/>
                        <a:cs typeface="Times New Roman" panose="02020603050405020304" pitchFamily="18" charset="0"/>
                      </a:endParaRPr>
                    </a:p>
                  </a:txBody>
                  <a:tcPr marL="50015" marR="50015" marT="25008" marB="25008" anchor="ctr">
                    <a:lnL>
                      <a:noFill/>
                    </a:lnL>
                    <a:lnR>
                      <a:noFill/>
                    </a:lnR>
                    <a:lnT>
                      <a:noFill/>
                    </a:lnT>
                    <a:lnB>
                      <a:noFill/>
                    </a:lnB>
                    <a:noFill/>
                  </a:tcPr>
                </a:tc>
                <a:tc>
                  <a:txBody>
                    <a:bodyPr/>
                    <a:lstStyle/>
                    <a:p>
                      <a:pPr>
                        <a:buNone/>
                      </a:pPr>
                      <a:endParaRPr lang="en-IN" sz="1600">
                        <a:latin typeface="Times New Roman" panose="02020603050405020304" pitchFamily="18" charset="0"/>
                        <a:cs typeface="Times New Roman" panose="02020603050405020304" pitchFamily="18" charset="0"/>
                      </a:endParaRPr>
                    </a:p>
                  </a:txBody>
                  <a:tcPr marL="50015" marR="50015" marT="25008" marB="25008" anchor="ctr">
                    <a:lnL>
                      <a:noFill/>
                    </a:lnL>
                    <a:lnR>
                      <a:noFill/>
                    </a:lnR>
                    <a:lnT>
                      <a:noFill/>
                    </a:lnT>
                    <a:lnB>
                      <a:noFill/>
                    </a:lnB>
                    <a:noFill/>
                  </a:tcPr>
                </a:tc>
                <a:tc>
                  <a:txBody>
                    <a:bodyPr/>
                    <a:lstStyle/>
                    <a:p>
                      <a:pPr>
                        <a:buNone/>
                      </a:pPr>
                      <a:endParaRPr lang="en-US" sz="1600" dirty="0">
                        <a:latin typeface="Times New Roman" panose="02020603050405020304" pitchFamily="18" charset="0"/>
                        <a:cs typeface="Times New Roman" panose="02020603050405020304" pitchFamily="18" charset="0"/>
                      </a:endParaRPr>
                    </a:p>
                  </a:txBody>
                  <a:tcPr marL="50015" marR="50015" marT="25008" marB="25008" anchor="ctr">
                    <a:lnL>
                      <a:noFill/>
                    </a:lnL>
                    <a:lnR>
                      <a:noFill/>
                    </a:lnR>
                    <a:lnT>
                      <a:noFill/>
                    </a:lnT>
                    <a:lnB>
                      <a:noFill/>
                    </a:lnB>
                    <a:noFill/>
                  </a:tcPr>
                </a:tc>
                <a:tc>
                  <a:txBody>
                    <a:bodyPr/>
                    <a:lstStyle/>
                    <a:p>
                      <a:pPr>
                        <a:buNone/>
                      </a:pPr>
                      <a:endParaRPr lang="en-US" sz="1600" dirty="0">
                        <a:latin typeface="Times New Roman" panose="02020603050405020304" pitchFamily="18" charset="0"/>
                        <a:cs typeface="Times New Roman" panose="02020603050405020304" pitchFamily="18" charset="0"/>
                      </a:endParaRPr>
                    </a:p>
                  </a:txBody>
                  <a:tcPr marL="50015" marR="50015" marT="25008" marB="25008" anchor="ctr">
                    <a:lnL>
                      <a:noFill/>
                    </a:lnL>
                    <a:lnR>
                      <a:noFill/>
                    </a:lnR>
                    <a:lnT>
                      <a:noFill/>
                    </a:lnT>
                    <a:lnB>
                      <a:noFill/>
                    </a:lnB>
                    <a:noFill/>
                  </a:tcPr>
                </a:tc>
                <a:tc>
                  <a:txBody>
                    <a:bodyPr/>
                    <a:lstStyle/>
                    <a:p>
                      <a:pPr>
                        <a:buNone/>
                      </a:pPr>
                      <a:endParaRPr lang="en-IN" sz="1600" dirty="0">
                        <a:latin typeface="Times New Roman" panose="02020603050405020304" pitchFamily="18" charset="0"/>
                        <a:cs typeface="Times New Roman" panose="02020603050405020304" pitchFamily="18" charset="0"/>
                      </a:endParaRPr>
                    </a:p>
                  </a:txBody>
                  <a:tcPr marL="50015" marR="50015" marT="25008" marB="25008" anchor="ctr">
                    <a:lnL>
                      <a:noFill/>
                    </a:lnL>
                    <a:lnR>
                      <a:noFill/>
                    </a:lnR>
                    <a:lnT>
                      <a:noFill/>
                    </a:lnT>
                    <a:lnB>
                      <a:noFill/>
                    </a:lnB>
                    <a:noFill/>
                  </a:tcPr>
                </a:tc>
                <a:extLst>
                  <a:ext uri="{0D108BD9-81ED-4DB2-BD59-A6C34878D82A}">
                    <a16:rowId xmlns:a16="http://schemas.microsoft.com/office/drawing/2014/main" val="760536751"/>
                  </a:ext>
                </a:extLst>
              </a:tr>
              <a:tr h="800246">
                <a:tc>
                  <a:txBody>
                    <a:bodyPr/>
                    <a:lstStyle/>
                    <a:p>
                      <a:pPr>
                        <a:buNone/>
                      </a:pPr>
                      <a:endParaRPr lang="en-IN" sz="1600">
                        <a:latin typeface="Times New Roman" panose="02020603050405020304" pitchFamily="18" charset="0"/>
                        <a:cs typeface="Times New Roman" panose="02020603050405020304" pitchFamily="18" charset="0"/>
                      </a:endParaRPr>
                    </a:p>
                  </a:txBody>
                  <a:tcPr marL="50015" marR="50015" marT="25008" marB="25008" anchor="ctr">
                    <a:lnL>
                      <a:noFill/>
                    </a:lnL>
                    <a:lnR>
                      <a:noFill/>
                    </a:lnR>
                    <a:lnT>
                      <a:noFill/>
                    </a:lnT>
                    <a:lnB>
                      <a:noFill/>
                    </a:lnB>
                    <a:noFill/>
                  </a:tcPr>
                </a:tc>
                <a:tc>
                  <a:txBody>
                    <a:bodyPr/>
                    <a:lstStyle/>
                    <a:p>
                      <a:pPr>
                        <a:buNone/>
                      </a:pPr>
                      <a:endParaRPr lang="en-IN" sz="1600">
                        <a:latin typeface="Times New Roman" panose="02020603050405020304" pitchFamily="18" charset="0"/>
                        <a:cs typeface="Times New Roman" panose="02020603050405020304" pitchFamily="18" charset="0"/>
                      </a:endParaRPr>
                    </a:p>
                  </a:txBody>
                  <a:tcPr marL="50015" marR="50015" marT="25008" marB="25008" anchor="ctr">
                    <a:lnL>
                      <a:noFill/>
                    </a:lnL>
                    <a:lnR>
                      <a:noFill/>
                    </a:lnR>
                    <a:lnT>
                      <a:noFill/>
                    </a:lnT>
                    <a:lnB>
                      <a:noFill/>
                    </a:lnB>
                    <a:noFill/>
                  </a:tcPr>
                </a:tc>
                <a:tc>
                  <a:txBody>
                    <a:bodyPr/>
                    <a:lstStyle/>
                    <a:p>
                      <a:pPr>
                        <a:buNone/>
                      </a:pPr>
                      <a:endParaRPr lang="en-US" sz="1600" dirty="0">
                        <a:latin typeface="Times New Roman" panose="02020603050405020304" pitchFamily="18" charset="0"/>
                        <a:cs typeface="Times New Roman" panose="02020603050405020304" pitchFamily="18" charset="0"/>
                      </a:endParaRPr>
                    </a:p>
                  </a:txBody>
                  <a:tcPr marL="50015" marR="50015" marT="25008" marB="25008" anchor="ctr">
                    <a:lnL>
                      <a:noFill/>
                    </a:lnL>
                    <a:lnR>
                      <a:noFill/>
                    </a:lnR>
                    <a:lnT>
                      <a:noFill/>
                    </a:lnT>
                    <a:lnB>
                      <a:noFill/>
                    </a:lnB>
                    <a:noFill/>
                  </a:tcPr>
                </a:tc>
                <a:tc>
                  <a:txBody>
                    <a:bodyPr/>
                    <a:lstStyle/>
                    <a:p>
                      <a:pPr>
                        <a:buNone/>
                      </a:pPr>
                      <a:endParaRPr lang="en-US" sz="1600" dirty="0">
                        <a:latin typeface="Times New Roman" panose="02020603050405020304" pitchFamily="18" charset="0"/>
                        <a:cs typeface="Times New Roman" panose="02020603050405020304" pitchFamily="18" charset="0"/>
                      </a:endParaRPr>
                    </a:p>
                  </a:txBody>
                  <a:tcPr marL="50015" marR="50015" marT="25008" marB="25008" anchor="ctr">
                    <a:lnL>
                      <a:noFill/>
                    </a:lnL>
                    <a:lnR>
                      <a:noFill/>
                    </a:lnR>
                    <a:lnT>
                      <a:noFill/>
                    </a:lnT>
                    <a:lnB>
                      <a:noFill/>
                    </a:lnB>
                    <a:noFill/>
                  </a:tcPr>
                </a:tc>
                <a:tc>
                  <a:txBody>
                    <a:bodyPr/>
                    <a:lstStyle/>
                    <a:p>
                      <a:pPr>
                        <a:buNone/>
                      </a:pPr>
                      <a:endParaRPr lang="en-IN" sz="1600" dirty="0">
                        <a:latin typeface="Times New Roman" panose="02020603050405020304" pitchFamily="18" charset="0"/>
                        <a:cs typeface="Times New Roman" panose="02020603050405020304" pitchFamily="18" charset="0"/>
                      </a:endParaRPr>
                    </a:p>
                  </a:txBody>
                  <a:tcPr marL="50015" marR="50015" marT="25008" marB="25008" anchor="ctr">
                    <a:lnL>
                      <a:noFill/>
                    </a:lnL>
                    <a:lnR>
                      <a:noFill/>
                    </a:lnR>
                    <a:lnT>
                      <a:noFill/>
                    </a:lnT>
                    <a:lnB>
                      <a:noFill/>
                    </a:lnB>
                    <a:noFill/>
                  </a:tcPr>
                </a:tc>
                <a:extLst>
                  <a:ext uri="{0D108BD9-81ED-4DB2-BD59-A6C34878D82A}">
                    <a16:rowId xmlns:a16="http://schemas.microsoft.com/office/drawing/2014/main" val="1068029041"/>
                  </a:ext>
                </a:extLst>
              </a:tr>
              <a:tr h="650200">
                <a:tc>
                  <a:txBody>
                    <a:bodyPr/>
                    <a:lstStyle/>
                    <a:p>
                      <a:pPr>
                        <a:buNone/>
                      </a:pPr>
                      <a:endParaRPr lang="en-IN" sz="1600">
                        <a:latin typeface="Times New Roman" panose="02020603050405020304" pitchFamily="18" charset="0"/>
                        <a:cs typeface="Times New Roman" panose="02020603050405020304" pitchFamily="18" charset="0"/>
                      </a:endParaRPr>
                    </a:p>
                  </a:txBody>
                  <a:tcPr marL="50015" marR="50015" marT="25008" marB="25008" anchor="ctr">
                    <a:lnL>
                      <a:noFill/>
                    </a:lnL>
                    <a:lnR>
                      <a:noFill/>
                    </a:lnR>
                    <a:lnT>
                      <a:noFill/>
                    </a:lnT>
                    <a:lnB>
                      <a:noFill/>
                    </a:lnB>
                    <a:noFill/>
                  </a:tcPr>
                </a:tc>
                <a:tc>
                  <a:txBody>
                    <a:bodyPr/>
                    <a:lstStyle/>
                    <a:p>
                      <a:pPr>
                        <a:buNone/>
                      </a:pPr>
                      <a:endParaRPr lang="en-IN" sz="1600">
                        <a:latin typeface="Times New Roman" panose="02020603050405020304" pitchFamily="18" charset="0"/>
                        <a:cs typeface="Times New Roman" panose="02020603050405020304" pitchFamily="18" charset="0"/>
                      </a:endParaRPr>
                    </a:p>
                  </a:txBody>
                  <a:tcPr marL="50015" marR="50015" marT="25008" marB="25008" anchor="ctr">
                    <a:lnL>
                      <a:noFill/>
                    </a:lnL>
                    <a:lnR>
                      <a:noFill/>
                    </a:lnR>
                    <a:lnT>
                      <a:noFill/>
                    </a:lnT>
                    <a:lnB>
                      <a:noFill/>
                    </a:lnB>
                    <a:noFill/>
                  </a:tcPr>
                </a:tc>
                <a:tc>
                  <a:txBody>
                    <a:bodyPr/>
                    <a:lstStyle/>
                    <a:p>
                      <a:pPr>
                        <a:buNone/>
                      </a:pPr>
                      <a:endParaRPr lang="en-IN" sz="1600">
                        <a:latin typeface="Times New Roman" panose="02020603050405020304" pitchFamily="18" charset="0"/>
                        <a:cs typeface="Times New Roman" panose="02020603050405020304" pitchFamily="18" charset="0"/>
                      </a:endParaRPr>
                    </a:p>
                  </a:txBody>
                  <a:tcPr marL="50015" marR="50015" marT="25008" marB="25008" anchor="ctr">
                    <a:lnL>
                      <a:noFill/>
                    </a:lnL>
                    <a:lnR>
                      <a:noFill/>
                    </a:lnR>
                    <a:lnT>
                      <a:noFill/>
                    </a:lnT>
                    <a:lnB>
                      <a:noFill/>
                    </a:lnB>
                    <a:noFill/>
                  </a:tcPr>
                </a:tc>
                <a:tc>
                  <a:txBody>
                    <a:bodyPr/>
                    <a:lstStyle/>
                    <a:p>
                      <a:pPr>
                        <a:buNone/>
                      </a:pPr>
                      <a:endParaRPr lang="en-US" sz="1600" dirty="0">
                        <a:latin typeface="Times New Roman" panose="02020603050405020304" pitchFamily="18" charset="0"/>
                        <a:cs typeface="Times New Roman" panose="02020603050405020304" pitchFamily="18" charset="0"/>
                      </a:endParaRPr>
                    </a:p>
                  </a:txBody>
                  <a:tcPr marL="50015" marR="50015" marT="25008" marB="25008" anchor="ctr">
                    <a:lnL>
                      <a:noFill/>
                    </a:lnL>
                    <a:lnR>
                      <a:noFill/>
                    </a:lnR>
                    <a:lnT>
                      <a:noFill/>
                    </a:lnT>
                    <a:lnB>
                      <a:noFill/>
                    </a:lnB>
                    <a:noFill/>
                  </a:tcPr>
                </a:tc>
                <a:tc>
                  <a:txBody>
                    <a:bodyPr/>
                    <a:lstStyle/>
                    <a:p>
                      <a:pPr>
                        <a:buNone/>
                      </a:pPr>
                      <a:endParaRPr lang="en-IN" sz="1600" dirty="0">
                        <a:latin typeface="Times New Roman" panose="02020603050405020304" pitchFamily="18" charset="0"/>
                        <a:cs typeface="Times New Roman" panose="02020603050405020304" pitchFamily="18" charset="0"/>
                      </a:endParaRPr>
                    </a:p>
                  </a:txBody>
                  <a:tcPr marL="50015" marR="50015" marT="25008" marB="25008" anchor="ctr">
                    <a:lnL>
                      <a:noFill/>
                    </a:lnL>
                    <a:lnR>
                      <a:noFill/>
                    </a:lnR>
                    <a:lnT>
                      <a:noFill/>
                    </a:lnT>
                    <a:lnB>
                      <a:noFill/>
                    </a:lnB>
                    <a:noFill/>
                  </a:tcPr>
                </a:tc>
                <a:extLst>
                  <a:ext uri="{0D108BD9-81ED-4DB2-BD59-A6C34878D82A}">
                    <a16:rowId xmlns:a16="http://schemas.microsoft.com/office/drawing/2014/main" val="2473073531"/>
                  </a:ext>
                </a:extLst>
              </a:tr>
              <a:tr h="950292">
                <a:tc>
                  <a:txBody>
                    <a:bodyPr/>
                    <a:lstStyle/>
                    <a:p>
                      <a:pPr>
                        <a:buNone/>
                      </a:pPr>
                      <a:endParaRPr lang="en-IN" sz="1600">
                        <a:latin typeface="Times New Roman" panose="02020603050405020304" pitchFamily="18" charset="0"/>
                        <a:cs typeface="Times New Roman" panose="02020603050405020304" pitchFamily="18" charset="0"/>
                      </a:endParaRPr>
                    </a:p>
                  </a:txBody>
                  <a:tcPr marL="50015" marR="50015" marT="25008" marB="25008" anchor="ctr">
                    <a:lnL>
                      <a:noFill/>
                    </a:lnL>
                    <a:lnR>
                      <a:noFill/>
                    </a:lnR>
                    <a:lnT>
                      <a:noFill/>
                    </a:lnT>
                    <a:lnB>
                      <a:noFill/>
                    </a:lnB>
                    <a:noFill/>
                  </a:tcPr>
                </a:tc>
                <a:tc>
                  <a:txBody>
                    <a:bodyPr/>
                    <a:lstStyle/>
                    <a:p>
                      <a:pPr>
                        <a:buNone/>
                      </a:pPr>
                      <a:endParaRPr lang="en-IN" sz="1600">
                        <a:latin typeface="Times New Roman" panose="02020603050405020304" pitchFamily="18" charset="0"/>
                        <a:cs typeface="Times New Roman" panose="02020603050405020304" pitchFamily="18" charset="0"/>
                      </a:endParaRPr>
                    </a:p>
                  </a:txBody>
                  <a:tcPr marL="50015" marR="50015" marT="25008" marB="25008" anchor="ctr">
                    <a:lnL>
                      <a:noFill/>
                    </a:lnL>
                    <a:lnR>
                      <a:noFill/>
                    </a:lnR>
                    <a:lnT>
                      <a:noFill/>
                    </a:lnT>
                    <a:lnB>
                      <a:noFill/>
                    </a:lnB>
                    <a:noFill/>
                  </a:tcPr>
                </a:tc>
                <a:tc>
                  <a:txBody>
                    <a:bodyPr/>
                    <a:lstStyle/>
                    <a:p>
                      <a:pPr>
                        <a:buNone/>
                      </a:pPr>
                      <a:endParaRPr lang="en-US" sz="1600">
                        <a:latin typeface="Times New Roman" panose="02020603050405020304" pitchFamily="18" charset="0"/>
                        <a:cs typeface="Times New Roman" panose="02020603050405020304" pitchFamily="18" charset="0"/>
                      </a:endParaRPr>
                    </a:p>
                  </a:txBody>
                  <a:tcPr marL="50015" marR="50015" marT="25008" marB="25008" anchor="ctr">
                    <a:lnL>
                      <a:noFill/>
                    </a:lnL>
                    <a:lnR>
                      <a:noFill/>
                    </a:lnR>
                    <a:lnT>
                      <a:noFill/>
                    </a:lnT>
                    <a:lnB>
                      <a:noFill/>
                    </a:lnB>
                    <a:noFill/>
                  </a:tcPr>
                </a:tc>
                <a:tc>
                  <a:txBody>
                    <a:bodyPr/>
                    <a:lstStyle/>
                    <a:p>
                      <a:pPr>
                        <a:buNone/>
                      </a:pPr>
                      <a:endParaRPr lang="en-US" sz="1600" dirty="0">
                        <a:latin typeface="Times New Roman" panose="02020603050405020304" pitchFamily="18" charset="0"/>
                        <a:cs typeface="Times New Roman" panose="02020603050405020304" pitchFamily="18" charset="0"/>
                      </a:endParaRPr>
                    </a:p>
                  </a:txBody>
                  <a:tcPr marL="50015" marR="50015" marT="25008" marB="25008" anchor="ctr">
                    <a:lnL>
                      <a:noFill/>
                    </a:lnL>
                    <a:lnR>
                      <a:noFill/>
                    </a:lnR>
                    <a:lnT>
                      <a:noFill/>
                    </a:lnT>
                    <a:lnB>
                      <a:noFill/>
                    </a:lnB>
                    <a:noFill/>
                  </a:tcPr>
                </a:tc>
                <a:tc>
                  <a:txBody>
                    <a:bodyPr/>
                    <a:lstStyle/>
                    <a:p>
                      <a:pPr>
                        <a:buNone/>
                      </a:pPr>
                      <a:endParaRPr lang="en-IN" sz="1600" dirty="0">
                        <a:latin typeface="Times New Roman" panose="02020603050405020304" pitchFamily="18" charset="0"/>
                        <a:cs typeface="Times New Roman" panose="02020603050405020304" pitchFamily="18" charset="0"/>
                      </a:endParaRPr>
                    </a:p>
                  </a:txBody>
                  <a:tcPr marL="50015" marR="50015" marT="25008" marB="25008" anchor="ctr">
                    <a:lnL>
                      <a:noFill/>
                    </a:lnL>
                    <a:lnR>
                      <a:noFill/>
                    </a:lnR>
                    <a:lnT>
                      <a:noFill/>
                    </a:lnT>
                    <a:lnB>
                      <a:noFill/>
                    </a:lnB>
                    <a:noFill/>
                  </a:tcPr>
                </a:tc>
                <a:extLst>
                  <a:ext uri="{0D108BD9-81ED-4DB2-BD59-A6C34878D82A}">
                    <a16:rowId xmlns:a16="http://schemas.microsoft.com/office/drawing/2014/main" val="3948146408"/>
                  </a:ext>
                </a:extLst>
              </a:tr>
            </a:tbl>
          </a:graphicData>
        </a:graphic>
      </p:graphicFrame>
      <p:pic>
        <p:nvPicPr>
          <p:cNvPr id="6" name="Picture 5">
            <a:extLst>
              <a:ext uri="{FF2B5EF4-FFF2-40B4-BE49-F238E27FC236}">
                <a16:creationId xmlns:a16="http://schemas.microsoft.com/office/drawing/2014/main" id="{D1C5D248-B9E3-018C-51E3-B4DC874D04DF}"/>
              </a:ext>
            </a:extLst>
          </p:cNvPr>
          <p:cNvPicPr>
            <a:picLocks noChangeAspect="1"/>
          </p:cNvPicPr>
          <p:nvPr/>
        </p:nvPicPr>
        <p:blipFill>
          <a:blip r:embed="rId2"/>
          <a:stretch>
            <a:fillRect/>
          </a:stretch>
        </p:blipFill>
        <p:spPr>
          <a:xfrm>
            <a:off x="852051" y="1541198"/>
            <a:ext cx="10802858" cy="4744112"/>
          </a:xfrm>
          <a:prstGeom prst="rect">
            <a:avLst/>
          </a:prstGeom>
        </p:spPr>
      </p:pic>
    </p:spTree>
    <p:extLst>
      <p:ext uri="{BB962C8B-B14F-4D97-AF65-F5344CB8AC3E}">
        <p14:creationId xmlns:p14="http://schemas.microsoft.com/office/powerpoint/2010/main" val="2461921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30009-3B34-4E34-B5EE-F31860F3B111}"/>
              </a:ext>
            </a:extLst>
          </p:cNvPr>
          <p:cNvSpPr>
            <a:spLocks noGrp="1"/>
          </p:cNvSpPr>
          <p:nvPr>
            <p:ph type="title"/>
          </p:nvPr>
        </p:nvSpPr>
        <p:spPr>
          <a:xfrm>
            <a:off x="86360" y="0"/>
            <a:ext cx="10515600" cy="528955"/>
          </a:xfrm>
        </p:spPr>
        <p:txBody>
          <a:bodyPr>
            <a:normAutofit fontScale="90000"/>
          </a:bodyPr>
          <a:lstStyle/>
          <a:p>
            <a:r>
              <a:rPr lang="en-US" dirty="0">
                <a:solidFill>
                  <a:srgbClr val="00B050"/>
                </a:solidFill>
                <a:latin typeface="Times New Roman" panose="02020603050405020304" pitchFamily="18" charset="0"/>
                <a:cs typeface="Times New Roman" panose="02020603050405020304" pitchFamily="18" charset="0"/>
              </a:rPr>
              <a:t>Information Extraction </a:t>
            </a:r>
            <a:endParaRPr lang="en-IN" dirty="0">
              <a:solidFill>
                <a:srgbClr val="00B050"/>
              </a:solidFill>
            </a:endParaRPr>
          </a:p>
        </p:txBody>
      </p:sp>
      <p:sp>
        <p:nvSpPr>
          <p:cNvPr id="6" name="Content Placeholder 5">
            <a:extLst>
              <a:ext uri="{FF2B5EF4-FFF2-40B4-BE49-F238E27FC236}">
                <a16:creationId xmlns:a16="http://schemas.microsoft.com/office/drawing/2014/main" id="{EEBE8693-016C-1FF2-D1B9-A62B116BA79D}"/>
              </a:ext>
            </a:extLst>
          </p:cNvPr>
          <p:cNvSpPr>
            <a:spLocks noGrp="1"/>
          </p:cNvSpPr>
          <p:nvPr>
            <p:ph idx="1"/>
          </p:nvPr>
        </p:nvSpPr>
        <p:spPr/>
        <p:txBody>
          <a:bodyPr/>
          <a:lstStyle/>
          <a:p>
            <a:endParaRPr lang="en-IN"/>
          </a:p>
        </p:txBody>
      </p:sp>
      <p:pic>
        <p:nvPicPr>
          <p:cNvPr id="8" name="Picture 7">
            <a:extLst>
              <a:ext uri="{FF2B5EF4-FFF2-40B4-BE49-F238E27FC236}">
                <a16:creationId xmlns:a16="http://schemas.microsoft.com/office/drawing/2014/main" id="{ADD5E5FA-DD1A-00C5-D403-C107BC1CD421}"/>
              </a:ext>
            </a:extLst>
          </p:cNvPr>
          <p:cNvPicPr>
            <a:picLocks noChangeAspect="1"/>
          </p:cNvPicPr>
          <p:nvPr/>
        </p:nvPicPr>
        <p:blipFill>
          <a:blip r:embed="rId2"/>
          <a:stretch>
            <a:fillRect/>
          </a:stretch>
        </p:blipFill>
        <p:spPr>
          <a:xfrm>
            <a:off x="86361" y="681037"/>
            <a:ext cx="12019280" cy="6325822"/>
          </a:xfrm>
          <a:prstGeom prst="rect">
            <a:avLst/>
          </a:prstGeom>
        </p:spPr>
      </p:pic>
    </p:spTree>
    <p:extLst>
      <p:ext uri="{BB962C8B-B14F-4D97-AF65-F5344CB8AC3E}">
        <p14:creationId xmlns:p14="http://schemas.microsoft.com/office/powerpoint/2010/main" val="23470094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B5D68-7955-27BD-0991-77551F15CD22}"/>
              </a:ext>
            </a:extLst>
          </p:cNvPr>
          <p:cNvSpPr>
            <a:spLocks noGrp="1"/>
          </p:cNvSpPr>
          <p:nvPr>
            <p:ph type="title"/>
          </p:nvPr>
        </p:nvSpPr>
        <p:spPr/>
        <p:txBody>
          <a:bodyPr/>
          <a:lstStyle/>
          <a:p>
            <a:endParaRPr lang="en-IN" dirty="0"/>
          </a:p>
        </p:txBody>
      </p:sp>
      <p:pic>
        <p:nvPicPr>
          <p:cNvPr id="11" name="Content Placeholder 10">
            <a:extLst>
              <a:ext uri="{FF2B5EF4-FFF2-40B4-BE49-F238E27FC236}">
                <a16:creationId xmlns:a16="http://schemas.microsoft.com/office/drawing/2014/main" id="{34A2E995-B0D6-5A1F-5C67-9E7D460E50CF}"/>
              </a:ext>
            </a:extLst>
          </p:cNvPr>
          <p:cNvPicPr>
            <a:picLocks noGrp="1" noChangeAspect="1"/>
          </p:cNvPicPr>
          <p:nvPr>
            <p:ph idx="1"/>
          </p:nvPr>
        </p:nvPicPr>
        <p:blipFill>
          <a:blip r:embed="rId2"/>
          <a:stretch>
            <a:fillRect/>
          </a:stretch>
        </p:blipFill>
        <p:spPr>
          <a:xfrm>
            <a:off x="345440" y="71120"/>
            <a:ext cx="11470640" cy="6685280"/>
          </a:xfrm>
          <a:prstGeom prst="rect">
            <a:avLst/>
          </a:prstGeom>
        </p:spPr>
      </p:pic>
    </p:spTree>
    <p:extLst>
      <p:ext uri="{BB962C8B-B14F-4D97-AF65-F5344CB8AC3E}">
        <p14:creationId xmlns:p14="http://schemas.microsoft.com/office/powerpoint/2010/main" val="25093349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314D0-535A-F8DA-325E-6BC2FBACC45B}"/>
              </a:ext>
            </a:extLst>
          </p:cNvPr>
          <p:cNvSpPr>
            <a:spLocks noGrp="1"/>
          </p:cNvSpPr>
          <p:nvPr>
            <p:ph type="title"/>
          </p:nvPr>
        </p:nvSpPr>
        <p:spPr>
          <a:xfrm>
            <a:off x="157480" y="172402"/>
            <a:ext cx="10515600" cy="508635"/>
          </a:xfrm>
        </p:spPr>
        <p:txBody>
          <a:bodyPr>
            <a:normAutofit fontScale="90000"/>
          </a:bodyPr>
          <a:lstStyle/>
          <a:p>
            <a:r>
              <a:rPr lang="en-US" b="1" dirty="0">
                <a:solidFill>
                  <a:srgbClr val="00B050"/>
                </a:solidFill>
              </a:rPr>
              <a:t>Question &amp; Answering Prompt </a:t>
            </a:r>
            <a:endParaRPr lang="en-IN" b="1" dirty="0">
              <a:solidFill>
                <a:srgbClr val="00B050"/>
              </a:solidFill>
            </a:endParaRPr>
          </a:p>
        </p:txBody>
      </p:sp>
      <p:pic>
        <p:nvPicPr>
          <p:cNvPr id="5" name="Content Placeholder 4">
            <a:extLst>
              <a:ext uri="{FF2B5EF4-FFF2-40B4-BE49-F238E27FC236}">
                <a16:creationId xmlns:a16="http://schemas.microsoft.com/office/drawing/2014/main" id="{BF2CB88B-AC77-BB16-D188-BA846173A87A}"/>
              </a:ext>
            </a:extLst>
          </p:cNvPr>
          <p:cNvPicPr>
            <a:picLocks noGrp="1" noChangeAspect="1"/>
          </p:cNvPicPr>
          <p:nvPr>
            <p:ph idx="1"/>
          </p:nvPr>
        </p:nvPicPr>
        <p:blipFill>
          <a:blip r:embed="rId2"/>
          <a:stretch>
            <a:fillRect/>
          </a:stretch>
        </p:blipFill>
        <p:spPr>
          <a:xfrm>
            <a:off x="233681" y="799464"/>
            <a:ext cx="11684000" cy="5886134"/>
          </a:xfrm>
          <a:prstGeom prst="rect">
            <a:avLst/>
          </a:prstGeom>
        </p:spPr>
      </p:pic>
    </p:spTree>
    <p:extLst>
      <p:ext uri="{BB962C8B-B14F-4D97-AF65-F5344CB8AC3E}">
        <p14:creationId xmlns:p14="http://schemas.microsoft.com/office/powerpoint/2010/main" val="1830995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25865-3D13-F4DF-529C-180201003F57}"/>
              </a:ext>
            </a:extLst>
          </p:cNvPr>
          <p:cNvSpPr>
            <a:spLocks noGrp="1"/>
          </p:cNvSpPr>
          <p:nvPr>
            <p:ph type="title"/>
          </p:nvPr>
        </p:nvSpPr>
        <p:spPr>
          <a:xfrm>
            <a:off x="347864" y="415925"/>
            <a:ext cx="10515600" cy="721995"/>
          </a:xfrm>
        </p:spPr>
        <p:txBody>
          <a:bodyPr/>
          <a:lstStyle/>
          <a:p>
            <a:r>
              <a:rPr lang="en-IN" b="1" dirty="0">
                <a:solidFill>
                  <a:srgbClr val="00B050"/>
                </a:solidFill>
              </a:rPr>
              <a:t>Text Classification – Prompt Engineering</a:t>
            </a:r>
          </a:p>
        </p:txBody>
      </p:sp>
      <p:pic>
        <p:nvPicPr>
          <p:cNvPr id="5" name="Content Placeholder 4">
            <a:extLst>
              <a:ext uri="{FF2B5EF4-FFF2-40B4-BE49-F238E27FC236}">
                <a16:creationId xmlns:a16="http://schemas.microsoft.com/office/drawing/2014/main" id="{55F7B8A3-A356-F714-AA93-700FB5772BD9}"/>
              </a:ext>
            </a:extLst>
          </p:cNvPr>
          <p:cNvPicPr>
            <a:picLocks noGrp="1" noChangeAspect="1"/>
          </p:cNvPicPr>
          <p:nvPr>
            <p:ph idx="1"/>
          </p:nvPr>
        </p:nvPicPr>
        <p:blipFill>
          <a:blip r:embed="rId2"/>
          <a:stretch>
            <a:fillRect/>
          </a:stretch>
        </p:blipFill>
        <p:spPr>
          <a:xfrm>
            <a:off x="347864" y="1253330"/>
            <a:ext cx="11569816" cy="5401469"/>
          </a:xfrm>
          <a:prstGeom prst="rect">
            <a:avLst/>
          </a:prstGeom>
        </p:spPr>
      </p:pic>
    </p:spTree>
    <p:extLst>
      <p:ext uri="{BB962C8B-B14F-4D97-AF65-F5344CB8AC3E}">
        <p14:creationId xmlns:p14="http://schemas.microsoft.com/office/powerpoint/2010/main" val="40727726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178C5-9966-3038-C8C0-BA3A71768AF7}"/>
              </a:ext>
            </a:extLst>
          </p:cNvPr>
          <p:cNvSpPr>
            <a:spLocks noGrp="1"/>
          </p:cNvSpPr>
          <p:nvPr>
            <p:ph type="title"/>
          </p:nvPr>
        </p:nvSpPr>
        <p:spPr>
          <a:xfrm>
            <a:off x="838200" y="365125"/>
            <a:ext cx="10515600" cy="498475"/>
          </a:xfrm>
        </p:spPr>
        <p:txBody>
          <a:bodyPr>
            <a:normAutofit fontScale="90000"/>
          </a:bodyPr>
          <a:lstStyle/>
          <a:p>
            <a:r>
              <a:rPr lang="en-US" b="1" dirty="0">
                <a:solidFill>
                  <a:srgbClr val="00B050"/>
                </a:solidFill>
              </a:rPr>
              <a:t>Conversation</a:t>
            </a:r>
            <a:r>
              <a:rPr lang="en-US" b="1" dirty="0"/>
              <a:t> </a:t>
            </a:r>
            <a:endParaRPr lang="en-IN" b="1" dirty="0"/>
          </a:p>
        </p:txBody>
      </p:sp>
      <p:pic>
        <p:nvPicPr>
          <p:cNvPr id="5" name="Content Placeholder 4">
            <a:extLst>
              <a:ext uri="{FF2B5EF4-FFF2-40B4-BE49-F238E27FC236}">
                <a16:creationId xmlns:a16="http://schemas.microsoft.com/office/drawing/2014/main" id="{C4E98FE6-1DCC-5832-7888-8BAC8383C515}"/>
              </a:ext>
            </a:extLst>
          </p:cNvPr>
          <p:cNvPicPr>
            <a:picLocks noGrp="1" noChangeAspect="1"/>
          </p:cNvPicPr>
          <p:nvPr>
            <p:ph idx="1"/>
          </p:nvPr>
        </p:nvPicPr>
        <p:blipFill>
          <a:blip r:embed="rId2"/>
          <a:stretch>
            <a:fillRect/>
          </a:stretch>
        </p:blipFill>
        <p:spPr>
          <a:xfrm>
            <a:off x="838200" y="1154477"/>
            <a:ext cx="10515600" cy="5429203"/>
          </a:xfrm>
          <a:prstGeom prst="rect">
            <a:avLst/>
          </a:prstGeom>
        </p:spPr>
      </p:pic>
    </p:spTree>
    <p:extLst>
      <p:ext uri="{BB962C8B-B14F-4D97-AF65-F5344CB8AC3E}">
        <p14:creationId xmlns:p14="http://schemas.microsoft.com/office/powerpoint/2010/main" val="42466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BF42C-7406-9C96-4E5C-785C24CA7BA0}"/>
              </a:ext>
            </a:extLst>
          </p:cNvPr>
          <p:cNvSpPr>
            <a:spLocks noGrp="1"/>
          </p:cNvSpPr>
          <p:nvPr>
            <p:ph type="title"/>
          </p:nvPr>
        </p:nvSpPr>
        <p:spPr/>
        <p:txBody>
          <a:bodyPr/>
          <a:lstStyle/>
          <a:p>
            <a:r>
              <a:rPr lang="en-US" b="1" dirty="0">
                <a:solidFill>
                  <a:srgbClr val="00B050"/>
                </a:solidFill>
              </a:rPr>
              <a:t>Code Generation </a:t>
            </a:r>
            <a:endParaRPr lang="en-IN" b="1" dirty="0">
              <a:solidFill>
                <a:srgbClr val="00B050"/>
              </a:solidFill>
            </a:endParaRPr>
          </a:p>
        </p:txBody>
      </p:sp>
      <p:pic>
        <p:nvPicPr>
          <p:cNvPr id="5" name="Content Placeholder 4">
            <a:extLst>
              <a:ext uri="{FF2B5EF4-FFF2-40B4-BE49-F238E27FC236}">
                <a16:creationId xmlns:a16="http://schemas.microsoft.com/office/drawing/2014/main" id="{7F317303-08B4-FA9B-1ACD-7CCA35D70109}"/>
              </a:ext>
            </a:extLst>
          </p:cNvPr>
          <p:cNvPicPr>
            <a:picLocks noGrp="1" noChangeAspect="1"/>
          </p:cNvPicPr>
          <p:nvPr>
            <p:ph idx="1"/>
          </p:nvPr>
        </p:nvPicPr>
        <p:blipFill>
          <a:blip r:embed="rId2"/>
          <a:stretch>
            <a:fillRect/>
          </a:stretch>
        </p:blipFill>
        <p:spPr>
          <a:xfrm>
            <a:off x="838200" y="1442720"/>
            <a:ext cx="10515600" cy="5415280"/>
          </a:xfrm>
          <a:prstGeom prst="rect">
            <a:avLst/>
          </a:prstGeom>
        </p:spPr>
      </p:pic>
    </p:spTree>
    <p:extLst>
      <p:ext uri="{BB962C8B-B14F-4D97-AF65-F5344CB8AC3E}">
        <p14:creationId xmlns:p14="http://schemas.microsoft.com/office/powerpoint/2010/main" val="26457105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A2EDA-5907-9401-C76D-F002C95CF6BD}"/>
              </a:ext>
            </a:extLst>
          </p:cNvPr>
          <p:cNvSpPr>
            <a:spLocks noGrp="1"/>
          </p:cNvSpPr>
          <p:nvPr>
            <p:ph type="title"/>
          </p:nvPr>
        </p:nvSpPr>
        <p:spPr/>
        <p:txBody>
          <a:bodyPr/>
          <a:lstStyle/>
          <a:p>
            <a:r>
              <a:rPr lang="en-IN" b="1" dirty="0">
                <a:solidFill>
                  <a:srgbClr val="00B050"/>
                </a:solidFill>
              </a:rPr>
              <a:t>Reasoning </a:t>
            </a:r>
          </a:p>
        </p:txBody>
      </p:sp>
      <p:pic>
        <p:nvPicPr>
          <p:cNvPr id="5" name="Content Placeholder 4">
            <a:extLst>
              <a:ext uri="{FF2B5EF4-FFF2-40B4-BE49-F238E27FC236}">
                <a16:creationId xmlns:a16="http://schemas.microsoft.com/office/drawing/2014/main" id="{E343387C-C171-ED9B-FBD9-5E332A35D56C}"/>
              </a:ext>
            </a:extLst>
          </p:cNvPr>
          <p:cNvPicPr>
            <a:picLocks noGrp="1" noChangeAspect="1"/>
          </p:cNvPicPr>
          <p:nvPr>
            <p:ph idx="1"/>
          </p:nvPr>
        </p:nvPicPr>
        <p:blipFill>
          <a:blip r:embed="rId2"/>
          <a:stretch>
            <a:fillRect/>
          </a:stretch>
        </p:blipFill>
        <p:spPr>
          <a:xfrm>
            <a:off x="563880" y="1744824"/>
            <a:ext cx="10515600" cy="4869336"/>
          </a:xfrm>
          <a:prstGeom prst="rect">
            <a:avLst/>
          </a:prstGeom>
        </p:spPr>
      </p:pic>
    </p:spTree>
    <p:extLst>
      <p:ext uri="{BB962C8B-B14F-4D97-AF65-F5344CB8AC3E}">
        <p14:creationId xmlns:p14="http://schemas.microsoft.com/office/powerpoint/2010/main" val="15396644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1778B-C491-2712-7A58-6BB1B440EEEB}"/>
              </a:ext>
            </a:extLst>
          </p:cNvPr>
          <p:cNvSpPr>
            <a:spLocks noGrp="1"/>
          </p:cNvSpPr>
          <p:nvPr>
            <p:ph type="title"/>
          </p:nvPr>
        </p:nvSpPr>
        <p:spPr/>
        <p:txBody>
          <a:bodyPr>
            <a:normAutofit/>
          </a:bodyPr>
          <a:lstStyle/>
          <a:p>
            <a:r>
              <a:rPr lang="en-US" b="1" dirty="0">
                <a:solidFill>
                  <a:srgbClr val="00B050"/>
                </a:solidFill>
              </a:rPr>
              <a:t>One-Shot Prompt</a:t>
            </a:r>
            <a:endParaRPr lang="en-IN" b="1" dirty="0">
              <a:solidFill>
                <a:srgbClr val="00B050"/>
              </a:solidFill>
            </a:endParaRPr>
          </a:p>
        </p:txBody>
      </p:sp>
      <p:sp>
        <p:nvSpPr>
          <p:cNvPr id="3" name="Content Placeholder 2">
            <a:extLst>
              <a:ext uri="{FF2B5EF4-FFF2-40B4-BE49-F238E27FC236}">
                <a16:creationId xmlns:a16="http://schemas.microsoft.com/office/drawing/2014/main" id="{1A75A3FC-FEB5-F7EC-CAD8-7D14F51464DF}"/>
              </a:ext>
            </a:extLst>
          </p:cNvPr>
          <p:cNvSpPr>
            <a:spLocks noGrp="1"/>
          </p:cNvSpPr>
          <p:nvPr>
            <p:ph idx="1"/>
          </p:nvPr>
        </p:nvSpPr>
        <p:spPr/>
        <p:txBody>
          <a:bodyPr/>
          <a:lstStyle/>
          <a:p>
            <a:r>
              <a:rPr lang="en-US" b="1" dirty="0"/>
              <a:t>One-Shot Prompt</a:t>
            </a:r>
            <a:r>
              <a:rPr lang="en-US" dirty="0"/>
              <a:t>: A prompt that provides </a:t>
            </a:r>
            <a:r>
              <a:rPr lang="en-US" b="1" dirty="0"/>
              <a:t>exactly one example</a:t>
            </a:r>
            <a:r>
              <a:rPr lang="en-US" dirty="0"/>
              <a:t> before asking the model to perform a similar task.</a:t>
            </a:r>
          </a:p>
          <a:p>
            <a:r>
              <a:rPr lang="en-US" dirty="0"/>
              <a:t>Basic Structure of a One-Shot Prompt: A one-shot prompt has </a:t>
            </a:r>
            <a:r>
              <a:rPr lang="en-US" b="1" dirty="0"/>
              <a:t>three parts.</a:t>
            </a:r>
          </a:p>
          <a:p>
            <a:r>
              <a:rPr lang="en-US" dirty="0">
                <a:solidFill>
                  <a:srgbClr val="FF0000"/>
                </a:solidFill>
              </a:rPr>
              <a:t>Instruction / Task Description</a:t>
            </a:r>
          </a:p>
          <a:p>
            <a:r>
              <a:rPr lang="en-US" dirty="0">
                <a:solidFill>
                  <a:srgbClr val="FF0000"/>
                </a:solidFill>
              </a:rPr>
              <a:t>↓</a:t>
            </a:r>
          </a:p>
          <a:p>
            <a:r>
              <a:rPr lang="en-US" dirty="0">
                <a:solidFill>
                  <a:srgbClr val="FF0000"/>
                </a:solidFill>
              </a:rPr>
              <a:t>Single Example (Input → Output)</a:t>
            </a:r>
          </a:p>
          <a:p>
            <a:r>
              <a:rPr lang="en-US" dirty="0">
                <a:solidFill>
                  <a:srgbClr val="FF0000"/>
                </a:solidFill>
              </a:rPr>
              <a:t>↓</a:t>
            </a:r>
          </a:p>
          <a:p>
            <a:r>
              <a:rPr lang="en-US" dirty="0">
                <a:solidFill>
                  <a:srgbClr val="FF0000"/>
                </a:solidFill>
              </a:rPr>
              <a:t>New Input (for which output is required)</a:t>
            </a:r>
          </a:p>
          <a:p>
            <a:endParaRPr lang="en-IN" dirty="0"/>
          </a:p>
        </p:txBody>
      </p:sp>
    </p:spTree>
    <p:extLst>
      <p:ext uri="{BB962C8B-B14F-4D97-AF65-F5344CB8AC3E}">
        <p14:creationId xmlns:p14="http://schemas.microsoft.com/office/powerpoint/2010/main" val="5201470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900E8-32A9-1EBB-4CA5-84CAAC264A35}"/>
              </a:ext>
            </a:extLst>
          </p:cNvPr>
          <p:cNvSpPr>
            <a:spLocks noGrp="1"/>
          </p:cNvSpPr>
          <p:nvPr>
            <p:ph type="title"/>
          </p:nvPr>
        </p:nvSpPr>
        <p:spPr/>
        <p:txBody>
          <a:bodyPr/>
          <a:lstStyle/>
          <a:p>
            <a:r>
              <a:rPr lang="en-IN" b="1" dirty="0">
                <a:solidFill>
                  <a:srgbClr val="00B050"/>
                </a:solidFill>
              </a:rPr>
              <a:t>Generic Structure</a:t>
            </a:r>
          </a:p>
        </p:txBody>
      </p:sp>
      <p:sp>
        <p:nvSpPr>
          <p:cNvPr id="3" name="Content Placeholder 2">
            <a:extLst>
              <a:ext uri="{FF2B5EF4-FFF2-40B4-BE49-F238E27FC236}">
                <a16:creationId xmlns:a16="http://schemas.microsoft.com/office/drawing/2014/main" id="{9E4D88A1-4A06-8C51-AB1C-3C829BF9F293}"/>
              </a:ext>
            </a:extLst>
          </p:cNvPr>
          <p:cNvSpPr>
            <a:spLocks noGrp="1"/>
          </p:cNvSpPr>
          <p:nvPr>
            <p:ph idx="1"/>
          </p:nvPr>
        </p:nvSpPr>
        <p:spPr/>
        <p:txBody>
          <a:bodyPr/>
          <a:lstStyle/>
          <a:p>
            <a:r>
              <a:rPr lang="en-US" dirty="0"/>
              <a:t>Task: &lt;What the model should do&gt;</a:t>
            </a:r>
          </a:p>
          <a:p>
            <a:pPr marL="0" indent="0">
              <a:buNone/>
            </a:pPr>
            <a:r>
              <a:rPr lang="en-US" dirty="0"/>
              <a:t>Example:</a:t>
            </a:r>
          </a:p>
          <a:p>
            <a:r>
              <a:rPr lang="en-US" dirty="0"/>
              <a:t>Input: &lt;example input&gt;</a:t>
            </a:r>
          </a:p>
          <a:p>
            <a:r>
              <a:rPr lang="en-US" dirty="0"/>
              <a:t>Output: &lt;example output&gt;</a:t>
            </a:r>
          </a:p>
          <a:p>
            <a:pPr marL="0" indent="0">
              <a:buNone/>
            </a:pPr>
            <a:r>
              <a:rPr lang="en-US" dirty="0"/>
              <a:t>Now do this:</a:t>
            </a:r>
          </a:p>
          <a:p>
            <a:pPr marL="0" indent="0">
              <a:buNone/>
            </a:pPr>
            <a:r>
              <a:rPr lang="en-US" dirty="0"/>
              <a:t>Input: &lt;new input&gt;</a:t>
            </a:r>
          </a:p>
          <a:p>
            <a:pPr marL="0" indent="0">
              <a:buNone/>
            </a:pPr>
            <a:r>
              <a:rPr lang="en-US" dirty="0"/>
              <a:t>Output:</a:t>
            </a:r>
            <a:endParaRPr lang="en-IN" dirty="0"/>
          </a:p>
        </p:txBody>
      </p:sp>
    </p:spTree>
    <p:extLst>
      <p:ext uri="{BB962C8B-B14F-4D97-AF65-F5344CB8AC3E}">
        <p14:creationId xmlns:p14="http://schemas.microsoft.com/office/powerpoint/2010/main" val="1384430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0364-8540-29B8-376C-9BEF6F0713D7}"/>
              </a:ext>
            </a:extLst>
          </p:cNvPr>
          <p:cNvSpPr>
            <a:spLocks noGrp="1"/>
          </p:cNvSpPr>
          <p:nvPr>
            <p:ph type="title"/>
          </p:nvPr>
        </p:nvSpPr>
        <p:spPr/>
        <p:txBody>
          <a:bodyPr/>
          <a:lstStyle/>
          <a:p>
            <a:r>
              <a:rPr lang="en-US" b="1" dirty="0">
                <a:solidFill>
                  <a:srgbClr val="00B050"/>
                </a:solidFill>
              </a:rPr>
              <a:t>Type of Zero-Shot Prompt </a:t>
            </a:r>
            <a:endParaRPr lang="en-IN" b="1" dirty="0">
              <a:solidFill>
                <a:srgbClr val="00B050"/>
              </a:solidFill>
            </a:endParaRPr>
          </a:p>
        </p:txBody>
      </p:sp>
      <p:sp>
        <p:nvSpPr>
          <p:cNvPr id="3" name="Content Placeholder 2">
            <a:extLst>
              <a:ext uri="{FF2B5EF4-FFF2-40B4-BE49-F238E27FC236}">
                <a16:creationId xmlns:a16="http://schemas.microsoft.com/office/drawing/2014/main" id="{FBFA3321-4311-04DF-F329-B5FF3F374393}"/>
              </a:ext>
            </a:extLst>
          </p:cNvPr>
          <p:cNvSpPr>
            <a:spLocks noGrp="1"/>
          </p:cNvSpPr>
          <p:nvPr>
            <p:ph idx="1"/>
          </p:nvPr>
        </p:nvSpPr>
        <p:spPr/>
        <p:txBody>
          <a:bodyPr>
            <a:normAutofit fontScale="85000" lnSpcReduction="20000"/>
          </a:bodyPr>
          <a:lstStyle/>
          <a:p>
            <a:r>
              <a:rPr lang="en-US" b="1" dirty="0"/>
              <a:t>Zero-Shot Prompting</a:t>
            </a:r>
            <a:r>
              <a:rPr lang="en-US" dirty="0"/>
              <a:t> is a prompt engineering technique where </a:t>
            </a:r>
            <a:r>
              <a:rPr lang="en-US" b="1" dirty="0"/>
              <a:t>no examples are provided</a:t>
            </a:r>
            <a:r>
              <a:rPr lang="en-US" dirty="0"/>
              <a:t>. The AI performs the task </a:t>
            </a:r>
            <a:r>
              <a:rPr lang="en-US" b="1" dirty="0"/>
              <a:t>only based on the instruction</a:t>
            </a:r>
            <a:r>
              <a:rPr lang="en-US" dirty="0"/>
              <a:t> and its prior knowledge.</a:t>
            </a:r>
          </a:p>
          <a:p>
            <a:pPr marL="0" indent="0">
              <a:buNone/>
            </a:pPr>
            <a:r>
              <a:rPr lang="en-US" dirty="0"/>
              <a:t>Basic Structure of a Zero-Shot Prompt</a:t>
            </a:r>
          </a:p>
          <a:p>
            <a:pPr marL="0" indent="0">
              <a:buNone/>
            </a:pPr>
            <a:r>
              <a:rPr lang="en-US" dirty="0"/>
              <a:t>A zero-shot prompt has </a:t>
            </a:r>
            <a:r>
              <a:rPr lang="en-US" b="1" dirty="0"/>
              <a:t>only two parts</a:t>
            </a:r>
            <a:r>
              <a:rPr lang="en-US" dirty="0"/>
              <a:t>: </a:t>
            </a:r>
          </a:p>
          <a:p>
            <a:pPr marL="0" indent="0">
              <a:buNone/>
            </a:pPr>
            <a:r>
              <a:rPr lang="en-US" dirty="0">
                <a:solidFill>
                  <a:srgbClr val="FF0000"/>
                </a:solidFill>
              </a:rPr>
              <a:t>Instruction / Task Description</a:t>
            </a:r>
          </a:p>
          <a:p>
            <a:pPr marL="0" indent="0">
              <a:buNone/>
            </a:pPr>
            <a:r>
              <a:rPr lang="en-US" dirty="0">
                <a:solidFill>
                  <a:srgbClr val="FF0000"/>
                </a:solidFill>
              </a:rPr>
              <a:t>↓</a:t>
            </a:r>
          </a:p>
          <a:p>
            <a:pPr marL="0" indent="0">
              <a:buNone/>
            </a:pPr>
            <a:r>
              <a:rPr lang="en-US" dirty="0">
                <a:solidFill>
                  <a:srgbClr val="FF0000"/>
                </a:solidFill>
              </a:rPr>
              <a:t>Input</a:t>
            </a:r>
          </a:p>
          <a:p>
            <a:pPr marL="0" indent="0">
              <a:buNone/>
            </a:pPr>
            <a:r>
              <a:rPr lang="en-IN" dirty="0"/>
              <a:t>Generic Structure</a:t>
            </a:r>
          </a:p>
          <a:p>
            <a:pPr marL="0" indent="0">
              <a:buNone/>
            </a:pPr>
            <a:r>
              <a:rPr lang="en-US" dirty="0"/>
              <a:t>Task: &lt;What the model should do&gt;</a:t>
            </a:r>
          </a:p>
          <a:p>
            <a:pPr marL="0" indent="0">
              <a:buNone/>
            </a:pPr>
            <a:r>
              <a:rPr lang="en-US" dirty="0"/>
              <a:t>Input: &lt;User input&gt;</a:t>
            </a:r>
          </a:p>
          <a:p>
            <a:pPr marL="0" indent="0">
              <a:buNone/>
            </a:pPr>
            <a:r>
              <a:rPr lang="en-US" dirty="0"/>
              <a:t>Output:</a:t>
            </a:r>
          </a:p>
          <a:p>
            <a:pPr marL="0" indent="0">
              <a:buNone/>
            </a:pPr>
            <a:endParaRPr lang="en-IN" dirty="0"/>
          </a:p>
        </p:txBody>
      </p:sp>
    </p:spTree>
    <p:extLst>
      <p:ext uri="{BB962C8B-B14F-4D97-AF65-F5344CB8AC3E}">
        <p14:creationId xmlns:p14="http://schemas.microsoft.com/office/powerpoint/2010/main" val="398903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2C989-E133-9A28-06F4-6DFE5D49BDED}"/>
              </a:ext>
            </a:extLst>
          </p:cNvPr>
          <p:cNvSpPr>
            <a:spLocks noGrp="1"/>
          </p:cNvSpPr>
          <p:nvPr>
            <p:ph type="title"/>
          </p:nvPr>
        </p:nvSpPr>
        <p:spPr/>
        <p:txBody>
          <a:bodyPr/>
          <a:lstStyle/>
          <a:p>
            <a:r>
              <a:rPr lang="en-IN" b="1" dirty="0">
                <a:solidFill>
                  <a:srgbClr val="00B050"/>
                </a:solidFill>
              </a:rPr>
              <a:t>Types of Zero-Shot Prompts</a:t>
            </a:r>
            <a:br>
              <a:rPr lang="en-IN" b="1" dirty="0">
                <a:solidFill>
                  <a:srgbClr val="00B050"/>
                </a:solidFill>
              </a:rPr>
            </a:br>
            <a:r>
              <a:rPr lang="en-IN" b="1" dirty="0">
                <a:solidFill>
                  <a:srgbClr val="00B050"/>
                </a:solidFill>
              </a:rPr>
              <a:t>Zero-Shot for Text Classification</a:t>
            </a:r>
          </a:p>
        </p:txBody>
      </p:sp>
      <p:sp>
        <p:nvSpPr>
          <p:cNvPr id="3" name="Content Placeholder 2">
            <a:extLst>
              <a:ext uri="{FF2B5EF4-FFF2-40B4-BE49-F238E27FC236}">
                <a16:creationId xmlns:a16="http://schemas.microsoft.com/office/drawing/2014/main" id="{FF444971-1E98-756F-45A2-C4B1217FC655}"/>
              </a:ext>
            </a:extLst>
          </p:cNvPr>
          <p:cNvSpPr>
            <a:spLocks noGrp="1"/>
          </p:cNvSpPr>
          <p:nvPr>
            <p:ph idx="1"/>
          </p:nvPr>
        </p:nvSpPr>
        <p:spPr/>
        <p:txBody>
          <a:bodyPr/>
          <a:lstStyle/>
          <a:p>
            <a:pPr marL="0" indent="0">
              <a:buNone/>
            </a:pPr>
            <a:r>
              <a:rPr lang="en-IN" dirty="0">
                <a:solidFill>
                  <a:srgbClr val="FF0000"/>
                </a:solidFill>
              </a:rPr>
              <a:t>Structure</a:t>
            </a:r>
          </a:p>
          <a:p>
            <a:pPr marL="0" indent="0">
              <a:buNone/>
            </a:pPr>
            <a:r>
              <a:rPr lang="en-IN" dirty="0"/>
              <a:t>Instruction</a:t>
            </a:r>
          </a:p>
          <a:p>
            <a:r>
              <a:rPr lang="en-IN" dirty="0"/>
              <a:t>Text → ?</a:t>
            </a:r>
          </a:p>
          <a:p>
            <a:pPr marL="0" indent="0">
              <a:buNone/>
            </a:pPr>
            <a:r>
              <a:rPr lang="en-IN" dirty="0">
                <a:solidFill>
                  <a:srgbClr val="FF0000"/>
                </a:solidFill>
              </a:rPr>
              <a:t>Example</a:t>
            </a:r>
          </a:p>
          <a:p>
            <a:pPr marL="0" indent="0">
              <a:buNone/>
            </a:pPr>
            <a:r>
              <a:rPr lang="en-US" dirty="0"/>
              <a:t>Classify the sentiment as Positive or Negative.</a:t>
            </a:r>
          </a:p>
          <a:p>
            <a:pPr marL="0" indent="0">
              <a:buNone/>
            </a:pPr>
            <a:r>
              <a:rPr lang="en-US" dirty="0"/>
              <a:t>Text: "The product stopped working in two days."</a:t>
            </a:r>
          </a:p>
          <a:p>
            <a:pPr marL="0" indent="0">
              <a:buNone/>
            </a:pPr>
            <a:r>
              <a:rPr lang="en-US" dirty="0"/>
              <a:t>Sentiment:</a:t>
            </a:r>
            <a:endParaRPr lang="en-IN" dirty="0"/>
          </a:p>
        </p:txBody>
      </p:sp>
    </p:spTree>
    <p:extLst>
      <p:ext uri="{BB962C8B-B14F-4D97-AF65-F5344CB8AC3E}">
        <p14:creationId xmlns:p14="http://schemas.microsoft.com/office/powerpoint/2010/main" val="8825853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F506E-4946-588E-7568-1AEB979E290C}"/>
              </a:ext>
            </a:extLst>
          </p:cNvPr>
          <p:cNvSpPr>
            <a:spLocks noGrp="1"/>
          </p:cNvSpPr>
          <p:nvPr>
            <p:ph type="title"/>
          </p:nvPr>
        </p:nvSpPr>
        <p:spPr/>
        <p:txBody>
          <a:bodyPr/>
          <a:lstStyle/>
          <a:p>
            <a:r>
              <a:rPr lang="en-IN" b="1" dirty="0">
                <a:solidFill>
                  <a:srgbClr val="00B050"/>
                </a:solidFill>
              </a:rPr>
              <a:t>Zero-Shot for Information Extraction</a:t>
            </a:r>
          </a:p>
        </p:txBody>
      </p:sp>
      <p:sp>
        <p:nvSpPr>
          <p:cNvPr id="3" name="Content Placeholder 2">
            <a:extLst>
              <a:ext uri="{FF2B5EF4-FFF2-40B4-BE49-F238E27FC236}">
                <a16:creationId xmlns:a16="http://schemas.microsoft.com/office/drawing/2014/main" id="{665F3237-3DF0-5B82-34B4-F4652742D187}"/>
              </a:ext>
            </a:extLst>
          </p:cNvPr>
          <p:cNvSpPr>
            <a:spLocks noGrp="1"/>
          </p:cNvSpPr>
          <p:nvPr>
            <p:ph idx="1"/>
          </p:nvPr>
        </p:nvSpPr>
        <p:spPr/>
        <p:txBody>
          <a:bodyPr/>
          <a:lstStyle/>
          <a:p>
            <a:pPr marL="0" indent="0">
              <a:buNone/>
            </a:pPr>
            <a:r>
              <a:rPr lang="en-IN" dirty="0">
                <a:solidFill>
                  <a:srgbClr val="FF0000"/>
                </a:solidFill>
              </a:rPr>
              <a:t>Structure</a:t>
            </a:r>
          </a:p>
          <a:p>
            <a:pPr marL="0" indent="0">
              <a:buNone/>
            </a:pPr>
            <a:r>
              <a:rPr lang="en-IN" dirty="0"/>
              <a:t>Instruction</a:t>
            </a:r>
          </a:p>
          <a:p>
            <a:pPr marL="0" indent="0">
              <a:buNone/>
            </a:pPr>
            <a:r>
              <a:rPr lang="en-IN" dirty="0"/>
              <a:t>Sentence → extracted information</a:t>
            </a:r>
          </a:p>
          <a:p>
            <a:pPr marL="0" indent="0">
              <a:buNone/>
            </a:pPr>
            <a:r>
              <a:rPr lang="en-IN" dirty="0">
                <a:solidFill>
                  <a:srgbClr val="FF0000"/>
                </a:solidFill>
              </a:rPr>
              <a:t>Example</a:t>
            </a:r>
          </a:p>
          <a:p>
            <a:pPr marL="0" indent="0">
              <a:buNone/>
            </a:pPr>
            <a:r>
              <a:rPr lang="en-US" dirty="0"/>
              <a:t>Extract the person's name and age.</a:t>
            </a:r>
          </a:p>
          <a:p>
            <a:pPr marL="0" indent="0">
              <a:buNone/>
            </a:pPr>
            <a:r>
              <a:rPr lang="en-US" dirty="0"/>
              <a:t>Sentence: "Kiran is 25 years old."</a:t>
            </a:r>
          </a:p>
          <a:p>
            <a:pPr marL="0" indent="0">
              <a:buNone/>
            </a:pPr>
            <a:r>
              <a:rPr lang="en-US" dirty="0"/>
              <a:t>Output:</a:t>
            </a:r>
            <a:endParaRPr lang="en-IN" dirty="0"/>
          </a:p>
        </p:txBody>
      </p:sp>
    </p:spTree>
    <p:extLst>
      <p:ext uri="{BB962C8B-B14F-4D97-AF65-F5344CB8AC3E}">
        <p14:creationId xmlns:p14="http://schemas.microsoft.com/office/powerpoint/2010/main" val="15622961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49030-E83C-D490-424D-196A495E974D}"/>
              </a:ext>
            </a:extLst>
          </p:cNvPr>
          <p:cNvSpPr>
            <a:spLocks noGrp="1"/>
          </p:cNvSpPr>
          <p:nvPr>
            <p:ph type="title"/>
          </p:nvPr>
        </p:nvSpPr>
        <p:spPr/>
        <p:txBody>
          <a:bodyPr/>
          <a:lstStyle/>
          <a:p>
            <a:r>
              <a:rPr lang="en-IN" b="1" dirty="0">
                <a:solidFill>
                  <a:srgbClr val="00B050"/>
                </a:solidFill>
              </a:rPr>
              <a:t>Zero-Shot for Question Answering</a:t>
            </a:r>
          </a:p>
        </p:txBody>
      </p:sp>
      <p:sp>
        <p:nvSpPr>
          <p:cNvPr id="3" name="Content Placeholder 2">
            <a:extLst>
              <a:ext uri="{FF2B5EF4-FFF2-40B4-BE49-F238E27FC236}">
                <a16:creationId xmlns:a16="http://schemas.microsoft.com/office/drawing/2014/main" id="{C2EC9B0E-123A-4F22-9F09-375D3A5F32E8}"/>
              </a:ext>
            </a:extLst>
          </p:cNvPr>
          <p:cNvSpPr>
            <a:spLocks noGrp="1"/>
          </p:cNvSpPr>
          <p:nvPr>
            <p:ph idx="1"/>
          </p:nvPr>
        </p:nvSpPr>
        <p:spPr/>
        <p:txBody>
          <a:bodyPr/>
          <a:lstStyle/>
          <a:p>
            <a:pPr marL="0" indent="0">
              <a:buNone/>
            </a:pPr>
            <a:r>
              <a:rPr lang="en-IN" dirty="0">
                <a:solidFill>
                  <a:srgbClr val="FF0000"/>
                </a:solidFill>
              </a:rPr>
              <a:t>Structure</a:t>
            </a:r>
          </a:p>
          <a:p>
            <a:pPr marL="0" indent="0">
              <a:buNone/>
            </a:pPr>
            <a:r>
              <a:rPr lang="en-IN" dirty="0">
                <a:solidFill>
                  <a:schemeClr val="tx2">
                    <a:lumMod val="50000"/>
                  </a:schemeClr>
                </a:solidFill>
              </a:rPr>
              <a:t>Instruction</a:t>
            </a:r>
          </a:p>
          <a:p>
            <a:pPr marL="0" indent="0">
              <a:buNone/>
            </a:pPr>
            <a:r>
              <a:rPr lang="en-IN" dirty="0">
                <a:solidFill>
                  <a:schemeClr val="tx2">
                    <a:lumMod val="50000"/>
                  </a:schemeClr>
                </a:solidFill>
              </a:rPr>
              <a:t>Question → Answer</a:t>
            </a:r>
          </a:p>
          <a:p>
            <a:pPr marL="0" indent="0">
              <a:buNone/>
            </a:pPr>
            <a:r>
              <a:rPr lang="en-IN" dirty="0">
                <a:solidFill>
                  <a:srgbClr val="00B050"/>
                </a:solidFill>
              </a:rPr>
              <a:t>Example</a:t>
            </a:r>
          </a:p>
          <a:p>
            <a:pPr marL="0" indent="0">
              <a:buNone/>
            </a:pPr>
            <a:r>
              <a:rPr lang="en-US" dirty="0">
                <a:solidFill>
                  <a:srgbClr val="00B050"/>
                </a:solidFill>
              </a:rPr>
              <a:t>Answer the question.</a:t>
            </a:r>
          </a:p>
          <a:p>
            <a:pPr marL="0" indent="0">
              <a:buNone/>
            </a:pPr>
            <a:r>
              <a:rPr lang="en-US" dirty="0">
                <a:solidFill>
                  <a:srgbClr val="00B050"/>
                </a:solidFill>
              </a:rPr>
              <a:t>What is the capital of Australia?</a:t>
            </a:r>
            <a:endParaRPr lang="en-IN" dirty="0">
              <a:solidFill>
                <a:srgbClr val="00B050"/>
              </a:solidFill>
            </a:endParaRPr>
          </a:p>
        </p:txBody>
      </p:sp>
    </p:spTree>
    <p:extLst>
      <p:ext uri="{BB962C8B-B14F-4D97-AF65-F5344CB8AC3E}">
        <p14:creationId xmlns:p14="http://schemas.microsoft.com/office/powerpoint/2010/main" val="25076381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366B1-056F-A1CD-8347-10E21965F686}"/>
              </a:ext>
            </a:extLst>
          </p:cNvPr>
          <p:cNvSpPr>
            <a:spLocks noGrp="1"/>
          </p:cNvSpPr>
          <p:nvPr>
            <p:ph type="title"/>
          </p:nvPr>
        </p:nvSpPr>
        <p:spPr/>
        <p:txBody>
          <a:bodyPr/>
          <a:lstStyle/>
          <a:p>
            <a:r>
              <a:rPr lang="en-IN" b="1" dirty="0">
                <a:solidFill>
                  <a:srgbClr val="00B050"/>
                </a:solidFill>
              </a:rPr>
              <a:t>Zero-Shot for Text Summarization</a:t>
            </a:r>
          </a:p>
        </p:txBody>
      </p:sp>
      <p:sp>
        <p:nvSpPr>
          <p:cNvPr id="3" name="Content Placeholder 2">
            <a:extLst>
              <a:ext uri="{FF2B5EF4-FFF2-40B4-BE49-F238E27FC236}">
                <a16:creationId xmlns:a16="http://schemas.microsoft.com/office/drawing/2014/main" id="{C86549F5-5C69-B869-858F-E263DB0B66FE}"/>
              </a:ext>
            </a:extLst>
          </p:cNvPr>
          <p:cNvSpPr>
            <a:spLocks noGrp="1"/>
          </p:cNvSpPr>
          <p:nvPr>
            <p:ph idx="1"/>
          </p:nvPr>
        </p:nvSpPr>
        <p:spPr/>
        <p:txBody>
          <a:bodyPr>
            <a:normAutofit/>
          </a:bodyPr>
          <a:lstStyle/>
          <a:p>
            <a:pPr marL="0" indent="0">
              <a:buNone/>
            </a:pPr>
            <a:r>
              <a:rPr lang="en-IN" dirty="0">
                <a:solidFill>
                  <a:srgbClr val="FF0000"/>
                </a:solidFill>
              </a:rPr>
              <a:t>Structure</a:t>
            </a:r>
          </a:p>
          <a:p>
            <a:pPr marL="0" indent="0">
              <a:buNone/>
            </a:pPr>
            <a:r>
              <a:rPr lang="en-IN" dirty="0"/>
              <a:t>Instruction</a:t>
            </a:r>
          </a:p>
          <a:p>
            <a:pPr marL="0" indent="0">
              <a:buNone/>
            </a:pPr>
            <a:r>
              <a:rPr lang="en-IN" dirty="0"/>
              <a:t>Text → Summary</a:t>
            </a:r>
          </a:p>
          <a:p>
            <a:pPr marL="0" indent="0">
              <a:buNone/>
            </a:pPr>
            <a:r>
              <a:rPr lang="en-IN" dirty="0">
                <a:solidFill>
                  <a:srgbClr val="FF0000"/>
                </a:solidFill>
              </a:rPr>
              <a:t>Example</a:t>
            </a:r>
          </a:p>
          <a:p>
            <a:pPr marL="0" indent="0">
              <a:buNone/>
            </a:pPr>
            <a:r>
              <a:rPr lang="en-US" dirty="0">
                <a:solidFill>
                  <a:srgbClr val="FF0000"/>
                </a:solidFill>
              </a:rPr>
              <a:t>Summarize the following text in one sentence.</a:t>
            </a:r>
          </a:p>
          <a:p>
            <a:pPr marL="0" indent="0">
              <a:buNone/>
            </a:pPr>
            <a:r>
              <a:rPr lang="en-US" dirty="0">
                <a:solidFill>
                  <a:srgbClr val="FF0000"/>
                </a:solidFill>
              </a:rPr>
              <a:t>Text: "Web analytics involves measuring, collecting, analyzing, and reporting web data to understand user behavior."</a:t>
            </a:r>
          </a:p>
          <a:p>
            <a:pPr marL="0" indent="0">
              <a:buNone/>
            </a:pPr>
            <a:r>
              <a:rPr lang="en-US" dirty="0">
                <a:solidFill>
                  <a:srgbClr val="FF0000"/>
                </a:solidFill>
              </a:rPr>
              <a:t>Summary:</a:t>
            </a:r>
            <a:endParaRPr lang="en-IN" dirty="0">
              <a:solidFill>
                <a:srgbClr val="FF0000"/>
              </a:solidFill>
            </a:endParaRPr>
          </a:p>
        </p:txBody>
      </p:sp>
    </p:spTree>
    <p:extLst>
      <p:ext uri="{BB962C8B-B14F-4D97-AF65-F5344CB8AC3E}">
        <p14:creationId xmlns:p14="http://schemas.microsoft.com/office/powerpoint/2010/main" val="29870530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350ED-2EC3-5103-3C21-1173C3ED50EF}"/>
              </a:ext>
            </a:extLst>
          </p:cNvPr>
          <p:cNvSpPr>
            <a:spLocks noGrp="1"/>
          </p:cNvSpPr>
          <p:nvPr>
            <p:ph type="title"/>
          </p:nvPr>
        </p:nvSpPr>
        <p:spPr/>
        <p:txBody>
          <a:bodyPr/>
          <a:lstStyle/>
          <a:p>
            <a:r>
              <a:rPr lang="en-IN" b="1" dirty="0">
                <a:solidFill>
                  <a:srgbClr val="00B050"/>
                </a:solidFill>
              </a:rPr>
              <a:t>Zero-Shot for Code Generation</a:t>
            </a:r>
          </a:p>
        </p:txBody>
      </p:sp>
      <p:sp>
        <p:nvSpPr>
          <p:cNvPr id="3" name="Content Placeholder 2">
            <a:extLst>
              <a:ext uri="{FF2B5EF4-FFF2-40B4-BE49-F238E27FC236}">
                <a16:creationId xmlns:a16="http://schemas.microsoft.com/office/drawing/2014/main" id="{1CF14938-EA51-5F37-A878-376817255841}"/>
              </a:ext>
            </a:extLst>
          </p:cNvPr>
          <p:cNvSpPr>
            <a:spLocks noGrp="1"/>
          </p:cNvSpPr>
          <p:nvPr>
            <p:ph idx="1"/>
          </p:nvPr>
        </p:nvSpPr>
        <p:spPr/>
        <p:txBody>
          <a:bodyPr/>
          <a:lstStyle/>
          <a:p>
            <a:r>
              <a:rPr lang="en-IN" dirty="0">
                <a:solidFill>
                  <a:srgbClr val="FF0000"/>
                </a:solidFill>
              </a:rPr>
              <a:t>Structure</a:t>
            </a:r>
          </a:p>
          <a:p>
            <a:pPr marL="0" indent="0">
              <a:buNone/>
            </a:pPr>
            <a:r>
              <a:rPr lang="en-IN" dirty="0"/>
              <a:t>Instruction</a:t>
            </a:r>
          </a:p>
          <a:p>
            <a:pPr marL="0" indent="0">
              <a:buNone/>
            </a:pPr>
            <a:r>
              <a:rPr lang="en-IN" dirty="0"/>
              <a:t>Problem → Code</a:t>
            </a:r>
          </a:p>
          <a:p>
            <a:pPr marL="0" indent="0">
              <a:buNone/>
            </a:pPr>
            <a:r>
              <a:rPr lang="en-IN" dirty="0">
                <a:solidFill>
                  <a:srgbClr val="FF0000"/>
                </a:solidFill>
              </a:rPr>
              <a:t>Example</a:t>
            </a:r>
            <a:r>
              <a:rPr lang="en-IN" dirty="0"/>
              <a:t> </a:t>
            </a:r>
          </a:p>
          <a:p>
            <a:pPr marL="0" indent="0">
              <a:buNone/>
            </a:pPr>
            <a:r>
              <a:rPr lang="en-US" dirty="0"/>
              <a:t>Write a Python program to find the largest of three numbers.</a:t>
            </a:r>
            <a:endParaRPr lang="en-IN" dirty="0"/>
          </a:p>
        </p:txBody>
      </p:sp>
    </p:spTree>
    <p:extLst>
      <p:ext uri="{BB962C8B-B14F-4D97-AF65-F5344CB8AC3E}">
        <p14:creationId xmlns:p14="http://schemas.microsoft.com/office/powerpoint/2010/main" val="30597341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BF78A-7C62-CAF0-4CFD-6C86023DC26D}"/>
              </a:ext>
            </a:extLst>
          </p:cNvPr>
          <p:cNvSpPr>
            <a:spLocks noGrp="1"/>
          </p:cNvSpPr>
          <p:nvPr>
            <p:ph type="title"/>
          </p:nvPr>
        </p:nvSpPr>
        <p:spPr/>
        <p:txBody>
          <a:bodyPr/>
          <a:lstStyle/>
          <a:p>
            <a:r>
              <a:rPr lang="en-US" b="1" dirty="0">
                <a:solidFill>
                  <a:srgbClr val="00B050"/>
                </a:solidFill>
              </a:rPr>
              <a:t>Types of One-Shot Prompts (with Examples)</a:t>
            </a:r>
            <a:endParaRPr lang="en-IN" b="1" dirty="0">
              <a:solidFill>
                <a:srgbClr val="00B050"/>
              </a:solidFill>
            </a:endParaRPr>
          </a:p>
        </p:txBody>
      </p:sp>
      <p:sp>
        <p:nvSpPr>
          <p:cNvPr id="3" name="Content Placeholder 2">
            <a:extLst>
              <a:ext uri="{FF2B5EF4-FFF2-40B4-BE49-F238E27FC236}">
                <a16:creationId xmlns:a16="http://schemas.microsoft.com/office/drawing/2014/main" id="{DD14F1A9-469E-9043-4288-F56BB12364D2}"/>
              </a:ext>
            </a:extLst>
          </p:cNvPr>
          <p:cNvSpPr>
            <a:spLocks noGrp="1"/>
          </p:cNvSpPr>
          <p:nvPr>
            <p:ph idx="1"/>
          </p:nvPr>
        </p:nvSpPr>
        <p:spPr/>
        <p:txBody>
          <a:bodyPr>
            <a:normAutofit fontScale="77500" lnSpcReduction="20000"/>
          </a:bodyPr>
          <a:lstStyle/>
          <a:p>
            <a:r>
              <a:rPr lang="en-IN" dirty="0"/>
              <a:t>One-Shot for </a:t>
            </a:r>
            <a:r>
              <a:rPr lang="en-IN" b="1" dirty="0"/>
              <a:t>Text Classification</a:t>
            </a:r>
          </a:p>
          <a:p>
            <a:pPr marL="0" indent="0">
              <a:buNone/>
            </a:pPr>
            <a:r>
              <a:rPr lang="en-IN" dirty="0">
                <a:solidFill>
                  <a:srgbClr val="FF0000"/>
                </a:solidFill>
              </a:rPr>
              <a:t>Structure</a:t>
            </a:r>
          </a:p>
          <a:p>
            <a:pPr marL="0" indent="0">
              <a:buNone/>
            </a:pPr>
            <a:r>
              <a:rPr lang="en-US" b="1" dirty="0"/>
              <a:t>Instruction</a:t>
            </a:r>
          </a:p>
          <a:p>
            <a:pPr marL="0" indent="0">
              <a:buNone/>
            </a:pPr>
            <a:r>
              <a:rPr lang="en-US" b="1" dirty="0"/>
              <a:t>Example (text → label)</a:t>
            </a:r>
          </a:p>
          <a:p>
            <a:pPr marL="0" indent="0">
              <a:buNone/>
            </a:pPr>
            <a:r>
              <a:rPr lang="en-US" b="1" dirty="0"/>
              <a:t>New text → ?</a:t>
            </a:r>
          </a:p>
          <a:p>
            <a:pPr marL="0" indent="0">
              <a:buNone/>
            </a:pPr>
            <a:r>
              <a:rPr lang="en-US" b="1" dirty="0">
                <a:solidFill>
                  <a:srgbClr val="FF0000"/>
                </a:solidFill>
              </a:rPr>
              <a:t>Example</a:t>
            </a:r>
            <a:r>
              <a:rPr lang="en-US" b="1" dirty="0"/>
              <a:t> </a:t>
            </a:r>
          </a:p>
          <a:p>
            <a:pPr marL="0" indent="0">
              <a:buNone/>
            </a:pPr>
            <a:r>
              <a:rPr lang="en-US" b="1" dirty="0"/>
              <a:t>Classify the sentiment of the text as Positive or Negative.</a:t>
            </a:r>
          </a:p>
          <a:p>
            <a:pPr marL="0" indent="0">
              <a:buNone/>
            </a:pPr>
            <a:r>
              <a:rPr lang="en-US" b="1" dirty="0"/>
              <a:t>Example:</a:t>
            </a:r>
          </a:p>
          <a:p>
            <a:pPr marL="0" indent="0">
              <a:buNone/>
            </a:pPr>
            <a:r>
              <a:rPr lang="en-US" b="1" dirty="0"/>
              <a:t>Text: "The movie was amazing!"</a:t>
            </a:r>
          </a:p>
          <a:p>
            <a:pPr marL="0" indent="0">
              <a:buNone/>
            </a:pPr>
            <a:r>
              <a:rPr lang="en-US" b="1" dirty="0"/>
              <a:t>Sentiment: Positive</a:t>
            </a:r>
          </a:p>
          <a:p>
            <a:pPr marL="0" indent="0">
              <a:buNone/>
            </a:pPr>
            <a:r>
              <a:rPr lang="en-US" b="1" dirty="0"/>
              <a:t>Text: "The service was very slow."</a:t>
            </a:r>
          </a:p>
          <a:p>
            <a:pPr marL="0" indent="0">
              <a:buNone/>
            </a:pPr>
            <a:r>
              <a:rPr lang="en-US" b="1" dirty="0"/>
              <a:t>Sentiment:</a:t>
            </a:r>
            <a:endParaRPr lang="en-IN" b="1" dirty="0"/>
          </a:p>
        </p:txBody>
      </p:sp>
    </p:spTree>
    <p:extLst>
      <p:ext uri="{BB962C8B-B14F-4D97-AF65-F5344CB8AC3E}">
        <p14:creationId xmlns:p14="http://schemas.microsoft.com/office/powerpoint/2010/main" val="6638574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37CF1-E465-532B-86E3-4C60B88A63EC}"/>
              </a:ext>
            </a:extLst>
          </p:cNvPr>
          <p:cNvSpPr>
            <a:spLocks noGrp="1"/>
          </p:cNvSpPr>
          <p:nvPr>
            <p:ph type="title"/>
          </p:nvPr>
        </p:nvSpPr>
        <p:spPr/>
        <p:txBody>
          <a:bodyPr/>
          <a:lstStyle/>
          <a:p>
            <a:r>
              <a:rPr lang="en-IN" b="1" dirty="0">
                <a:solidFill>
                  <a:srgbClr val="00B050"/>
                </a:solidFill>
              </a:rPr>
              <a:t>One-Shot for Information Extraction</a:t>
            </a:r>
          </a:p>
        </p:txBody>
      </p:sp>
      <p:sp>
        <p:nvSpPr>
          <p:cNvPr id="3" name="Content Placeholder 2">
            <a:extLst>
              <a:ext uri="{FF2B5EF4-FFF2-40B4-BE49-F238E27FC236}">
                <a16:creationId xmlns:a16="http://schemas.microsoft.com/office/drawing/2014/main" id="{805DB3F8-9E04-141D-2EBA-0829504E73BE}"/>
              </a:ext>
            </a:extLst>
          </p:cNvPr>
          <p:cNvSpPr>
            <a:spLocks noGrp="1"/>
          </p:cNvSpPr>
          <p:nvPr>
            <p:ph idx="1"/>
          </p:nvPr>
        </p:nvSpPr>
        <p:spPr/>
        <p:txBody>
          <a:bodyPr numCol="2"/>
          <a:lstStyle/>
          <a:p>
            <a:pPr marL="0" indent="0">
              <a:buNone/>
            </a:pPr>
            <a:r>
              <a:rPr lang="en-IN" dirty="0">
                <a:solidFill>
                  <a:srgbClr val="FF0000"/>
                </a:solidFill>
              </a:rPr>
              <a:t>Structure</a:t>
            </a:r>
            <a:endParaRPr lang="en-US" dirty="0">
              <a:solidFill>
                <a:srgbClr val="FF0000"/>
              </a:solidFill>
            </a:endParaRPr>
          </a:p>
          <a:p>
            <a:r>
              <a:rPr lang="en-US" dirty="0"/>
              <a:t>Instruction</a:t>
            </a:r>
          </a:p>
          <a:p>
            <a:r>
              <a:rPr lang="en-US" dirty="0"/>
              <a:t>Example (text → extracted info)</a:t>
            </a:r>
          </a:p>
          <a:p>
            <a:r>
              <a:rPr lang="en-US" dirty="0"/>
              <a:t>New text → ?</a:t>
            </a:r>
          </a:p>
          <a:p>
            <a:pPr marL="0" indent="0">
              <a:buNone/>
            </a:pPr>
            <a:r>
              <a:rPr lang="en-IN" dirty="0">
                <a:solidFill>
                  <a:srgbClr val="FF0000"/>
                </a:solidFill>
              </a:rPr>
              <a:t>Example</a:t>
            </a:r>
          </a:p>
          <a:p>
            <a:pPr marL="0" indent="0">
              <a:buNone/>
            </a:pPr>
            <a:r>
              <a:rPr lang="en-US" dirty="0"/>
              <a:t>Extract the person's name and age.</a:t>
            </a:r>
          </a:p>
          <a:p>
            <a:pPr marL="0" indent="0">
              <a:buNone/>
            </a:pPr>
            <a:r>
              <a:rPr lang="en-US" dirty="0"/>
              <a:t>Example:</a:t>
            </a:r>
          </a:p>
          <a:p>
            <a:pPr marL="0" indent="0">
              <a:buNone/>
            </a:pPr>
            <a:r>
              <a:rPr lang="en-US" dirty="0"/>
              <a:t>Sentence: "Ravi is 21 years old."</a:t>
            </a:r>
          </a:p>
          <a:p>
            <a:pPr marL="0" indent="0">
              <a:buNone/>
            </a:pPr>
            <a:r>
              <a:rPr lang="en-US" dirty="0"/>
              <a:t>Output: Name: Ravi, Age: 21</a:t>
            </a:r>
          </a:p>
          <a:p>
            <a:pPr marL="0" indent="0">
              <a:buNone/>
            </a:pPr>
            <a:r>
              <a:rPr lang="en-US" dirty="0"/>
              <a:t>Sentence: "Anita is 30 years old."</a:t>
            </a:r>
          </a:p>
          <a:p>
            <a:pPr marL="0" indent="0">
              <a:buNone/>
            </a:pPr>
            <a:r>
              <a:rPr lang="en-US" dirty="0"/>
              <a:t>Output:</a:t>
            </a:r>
            <a:endParaRPr lang="en-IN" dirty="0"/>
          </a:p>
        </p:txBody>
      </p:sp>
    </p:spTree>
    <p:extLst>
      <p:ext uri="{BB962C8B-B14F-4D97-AF65-F5344CB8AC3E}">
        <p14:creationId xmlns:p14="http://schemas.microsoft.com/office/powerpoint/2010/main" val="35260067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422A0-7E82-D1A6-70B8-FC543CFF8256}"/>
              </a:ext>
            </a:extLst>
          </p:cNvPr>
          <p:cNvSpPr>
            <a:spLocks noGrp="1"/>
          </p:cNvSpPr>
          <p:nvPr>
            <p:ph type="title"/>
          </p:nvPr>
        </p:nvSpPr>
        <p:spPr/>
        <p:txBody>
          <a:bodyPr/>
          <a:lstStyle/>
          <a:p>
            <a:r>
              <a:rPr lang="en-IN" b="1" dirty="0">
                <a:solidFill>
                  <a:srgbClr val="00B050"/>
                </a:solidFill>
              </a:rPr>
              <a:t>One-Shot for Question Answering</a:t>
            </a:r>
          </a:p>
        </p:txBody>
      </p:sp>
      <p:sp>
        <p:nvSpPr>
          <p:cNvPr id="3" name="Content Placeholder 2">
            <a:extLst>
              <a:ext uri="{FF2B5EF4-FFF2-40B4-BE49-F238E27FC236}">
                <a16:creationId xmlns:a16="http://schemas.microsoft.com/office/drawing/2014/main" id="{40533488-772A-40A8-8D43-6349B82E79AA}"/>
              </a:ext>
            </a:extLst>
          </p:cNvPr>
          <p:cNvSpPr>
            <a:spLocks noGrp="1"/>
          </p:cNvSpPr>
          <p:nvPr>
            <p:ph idx="1"/>
          </p:nvPr>
        </p:nvSpPr>
        <p:spPr>
          <a:xfrm>
            <a:off x="838200" y="1825624"/>
            <a:ext cx="10515600" cy="4768215"/>
          </a:xfrm>
        </p:spPr>
        <p:txBody>
          <a:bodyPr numCol="2"/>
          <a:lstStyle/>
          <a:p>
            <a:pPr marL="0" indent="0">
              <a:buNone/>
            </a:pPr>
            <a:r>
              <a:rPr lang="en-IN" dirty="0">
                <a:solidFill>
                  <a:srgbClr val="FF0000"/>
                </a:solidFill>
              </a:rPr>
              <a:t>Structure</a:t>
            </a:r>
          </a:p>
          <a:p>
            <a:pPr marL="0" indent="0">
              <a:buNone/>
            </a:pPr>
            <a:r>
              <a:rPr lang="en-IN" dirty="0"/>
              <a:t>Instruction</a:t>
            </a:r>
          </a:p>
          <a:p>
            <a:pPr marL="0" indent="0">
              <a:buNone/>
            </a:pPr>
            <a:r>
              <a:rPr lang="en-IN" dirty="0"/>
              <a:t>Example (question → answer)</a:t>
            </a:r>
          </a:p>
          <a:p>
            <a:pPr marL="0" indent="0">
              <a:buNone/>
            </a:pPr>
            <a:r>
              <a:rPr lang="en-IN" dirty="0"/>
              <a:t>New question → ?</a:t>
            </a:r>
          </a:p>
          <a:p>
            <a:pPr marL="0" indent="0">
              <a:buNone/>
            </a:pPr>
            <a:r>
              <a:rPr lang="en-IN" dirty="0">
                <a:solidFill>
                  <a:srgbClr val="FF0000"/>
                </a:solidFill>
              </a:rPr>
              <a:t>Example</a:t>
            </a:r>
          </a:p>
          <a:p>
            <a:pPr marL="0" indent="0">
              <a:buNone/>
            </a:pPr>
            <a:r>
              <a:rPr lang="en-IN" dirty="0"/>
              <a:t>Answer the following questions.</a:t>
            </a:r>
          </a:p>
          <a:p>
            <a:pPr marL="0" indent="0">
              <a:buNone/>
            </a:pPr>
            <a:r>
              <a:rPr lang="en-US" dirty="0"/>
              <a:t>Example:</a:t>
            </a:r>
          </a:p>
          <a:p>
            <a:pPr marL="0" indent="0">
              <a:buNone/>
            </a:pPr>
            <a:r>
              <a:rPr lang="en-US" dirty="0"/>
              <a:t>Question: </a:t>
            </a:r>
          </a:p>
          <a:p>
            <a:pPr marL="0" indent="0">
              <a:buNone/>
            </a:pPr>
            <a:r>
              <a:rPr lang="en-US" dirty="0"/>
              <a:t>What is the capital of France?</a:t>
            </a:r>
          </a:p>
          <a:p>
            <a:pPr marL="0" indent="0">
              <a:buNone/>
            </a:pPr>
            <a:r>
              <a:rPr lang="en-US" dirty="0"/>
              <a:t>Answer: Paris</a:t>
            </a:r>
          </a:p>
          <a:p>
            <a:pPr marL="0" indent="0">
              <a:buNone/>
            </a:pPr>
            <a:r>
              <a:rPr lang="en-US" dirty="0"/>
              <a:t>Question: What is the capital of Japan?</a:t>
            </a:r>
          </a:p>
          <a:p>
            <a:pPr marL="0" indent="0">
              <a:buNone/>
            </a:pPr>
            <a:r>
              <a:rPr lang="en-US" dirty="0"/>
              <a:t>Answer:</a:t>
            </a:r>
            <a:endParaRPr lang="en-IN" dirty="0"/>
          </a:p>
        </p:txBody>
      </p:sp>
    </p:spTree>
    <p:extLst>
      <p:ext uri="{BB962C8B-B14F-4D97-AF65-F5344CB8AC3E}">
        <p14:creationId xmlns:p14="http://schemas.microsoft.com/office/powerpoint/2010/main" val="33586292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3B5FB-493B-DBED-352F-4C17A902E7A5}"/>
              </a:ext>
            </a:extLst>
          </p:cNvPr>
          <p:cNvSpPr>
            <a:spLocks noGrp="1"/>
          </p:cNvSpPr>
          <p:nvPr>
            <p:ph type="title"/>
          </p:nvPr>
        </p:nvSpPr>
        <p:spPr/>
        <p:txBody>
          <a:bodyPr/>
          <a:lstStyle/>
          <a:p>
            <a:r>
              <a:rPr lang="en-IN" b="1" dirty="0">
                <a:solidFill>
                  <a:srgbClr val="00B050"/>
                </a:solidFill>
              </a:rPr>
              <a:t>One-Shot for Code Generation</a:t>
            </a:r>
          </a:p>
        </p:txBody>
      </p:sp>
      <p:sp>
        <p:nvSpPr>
          <p:cNvPr id="3" name="Content Placeholder 2">
            <a:extLst>
              <a:ext uri="{FF2B5EF4-FFF2-40B4-BE49-F238E27FC236}">
                <a16:creationId xmlns:a16="http://schemas.microsoft.com/office/drawing/2014/main" id="{606D18C1-6C6D-9FA0-F8F1-C4E3CC61D055}"/>
              </a:ext>
            </a:extLst>
          </p:cNvPr>
          <p:cNvSpPr>
            <a:spLocks noGrp="1"/>
          </p:cNvSpPr>
          <p:nvPr>
            <p:ph idx="1"/>
          </p:nvPr>
        </p:nvSpPr>
        <p:spPr/>
        <p:txBody>
          <a:bodyPr numCol="2"/>
          <a:lstStyle/>
          <a:p>
            <a:pPr marL="0" indent="0">
              <a:buNone/>
            </a:pPr>
            <a:r>
              <a:rPr lang="en-IN" dirty="0">
                <a:solidFill>
                  <a:srgbClr val="FF0000"/>
                </a:solidFill>
              </a:rPr>
              <a:t>Structure</a:t>
            </a:r>
          </a:p>
          <a:p>
            <a:pPr marL="0" indent="0">
              <a:buNone/>
            </a:pPr>
            <a:r>
              <a:rPr lang="en-IN" dirty="0"/>
              <a:t>Instruction</a:t>
            </a:r>
          </a:p>
          <a:p>
            <a:pPr marL="0" indent="0">
              <a:buNone/>
            </a:pPr>
            <a:r>
              <a:rPr lang="en-IN" dirty="0"/>
              <a:t>Example (problem → code)</a:t>
            </a:r>
          </a:p>
          <a:p>
            <a:pPr marL="0" indent="0">
              <a:buNone/>
            </a:pPr>
            <a:r>
              <a:rPr lang="en-IN" dirty="0"/>
              <a:t>New problem → ?</a:t>
            </a:r>
          </a:p>
          <a:p>
            <a:pPr marL="0" indent="0">
              <a:buNone/>
            </a:pPr>
            <a:r>
              <a:rPr lang="en-IN" dirty="0">
                <a:solidFill>
                  <a:srgbClr val="FF0000"/>
                </a:solidFill>
              </a:rPr>
              <a:t>Example</a:t>
            </a:r>
          </a:p>
          <a:p>
            <a:pPr marL="0" indent="0">
              <a:buNone/>
            </a:pPr>
            <a:r>
              <a:rPr lang="en-US" dirty="0">
                <a:solidFill>
                  <a:srgbClr val="00B050"/>
                </a:solidFill>
              </a:rPr>
              <a:t>Write a Python function to add two numbers.</a:t>
            </a:r>
          </a:p>
          <a:p>
            <a:pPr marL="0" indent="0">
              <a:buNone/>
            </a:pPr>
            <a:r>
              <a:rPr lang="en-US" dirty="0"/>
              <a:t>Example:</a:t>
            </a:r>
          </a:p>
          <a:p>
            <a:pPr marL="0" indent="0">
              <a:buNone/>
            </a:pPr>
            <a:r>
              <a:rPr lang="en-US" dirty="0"/>
              <a:t>Input: add(2, 3)</a:t>
            </a:r>
          </a:p>
          <a:p>
            <a:pPr marL="0" indent="0">
              <a:buNone/>
            </a:pPr>
            <a:r>
              <a:rPr lang="en-US" dirty="0"/>
              <a:t>Output:</a:t>
            </a:r>
          </a:p>
          <a:p>
            <a:pPr marL="0" indent="0">
              <a:buNone/>
            </a:pPr>
            <a:r>
              <a:rPr lang="en-US" dirty="0"/>
              <a:t>def add(a, b):</a:t>
            </a:r>
          </a:p>
          <a:p>
            <a:pPr marL="0" indent="0">
              <a:buNone/>
            </a:pPr>
            <a:r>
              <a:rPr lang="en-US" dirty="0"/>
              <a:t>    return a + b</a:t>
            </a:r>
          </a:p>
          <a:p>
            <a:pPr marL="0" indent="0">
              <a:buNone/>
            </a:pPr>
            <a:endParaRPr lang="en-US" dirty="0"/>
          </a:p>
          <a:p>
            <a:pPr marL="0" indent="0">
              <a:buNone/>
            </a:pPr>
            <a:r>
              <a:rPr lang="en-US" dirty="0"/>
              <a:t>Input: subtract(5, 2)</a:t>
            </a:r>
          </a:p>
          <a:p>
            <a:pPr marL="0" indent="0">
              <a:buNone/>
            </a:pPr>
            <a:r>
              <a:rPr lang="en-US" dirty="0"/>
              <a:t>Output:</a:t>
            </a:r>
            <a:endParaRPr lang="en-IN" dirty="0"/>
          </a:p>
        </p:txBody>
      </p:sp>
    </p:spTree>
    <p:extLst>
      <p:ext uri="{BB962C8B-B14F-4D97-AF65-F5344CB8AC3E}">
        <p14:creationId xmlns:p14="http://schemas.microsoft.com/office/powerpoint/2010/main" val="38022255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E76C9-EB73-18FE-F66D-13CE5315A068}"/>
              </a:ext>
            </a:extLst>
          </p:cNvPr>
          <p:cNvSpPr>
            <a:spLocks noGrp="1"/>
          </p:cNvSpPr>
          <p:nvPr>
            <p:ph type="title"/>
          </p:nvPr>
        </p:nvSpPr>
        <p:spPr/>
        <p:txBody>
          <a:bodyPr/>
          <a:lstStyle/>
          <a:p>
            <a:r>
              <a:rPr lang="en-IN" b="1" dirty="0">
                <a:solidFill>
                  <a:srgbClr val="00B050"/>
                </a:solidFill>
              </a:rPr>
              <a:t>One-Shot for Text Summarization</a:t>
            </a:r>
          </a:p>
        </p:txBody>
      </p:sp>
      <p:sp>
        <p:nvSpPr>
          <p:cNvPr id="3" name="Content Placeholder 2">
            <a:extLst>
              <a:ext uri="{FF2B5EF4-FFF2-40B4-BE49-F238E27FC236}">
                <a16:creationId xmlns:a16="http://schemas.microsoft.com/office/drawing/2014/main" id="{34364895-40B9-74B5-AD2F-D0067D9142C2}"/>
              </a:ext>
            </a:extLst>
          </p:cNvPr>
          <p:cNvSpPr>
            <a:spLocks noGrp="1"/>
          </p:cNvSpPr>
          <p:nvPr>
            <p:ph idx="1"/>
          </p:nvPr>
        </p:nvSpPr>
        <p:spPr/>
        <p:txBody>
          <a:bodyPr>
            <a:normAutofit fontScale="70000" lnSpcReduction="20000"/>
          </a:bodyPr>
          <a:lstStyle/>
          <a:p>
            <a:pPr marL="0" indent="0">
              <a:buNone/>
            </a:pPr>
            <a:r>
              <a:rPr lang="en-IN" dirty="0">
                <a:solidFill>
                  <a:srgbClr val="FF0000"/>
                </a:solidFill>
              </a:rPr>
              <a:t>Structure</a:t>
            </a:r>
          </a:p>
          <a:p>
            <a:pPr marL="0" indent="0">
              <a:buNone/>
            </a:pPr>
            <a:r>
              <a:rPr lang="en-US" dirty="0">
                <a:solidFill>
                  <a:schemeClr val="bg2">
                    <a:lumMod val="10000"/>
                  </a:schemeClr>
                </a:solidFill>
              </a:rPr>
              <a:t>Instruction</a:t>
            </a:r>
          </a:p>
          <a:p>
            <a:pPr marL="0" indent="0">
              <a:buNone/>
            </a:pPr>
            <a:r>
              <a:rPr lang="en-US" dirty="0">
                <a:solidFill>
                  <a:schemeClr val="bg2">
                    <a:lumMod val="10000"/>
                  </a:schemeClr>
                </a:solidFill>
              </a:rPr>
              <a:t>Example (text → summary)</a:t>
            </a:r>
          </a:p>
          <a:p>
            <a:pPr marL="0" indent="0">
              <a:buNone/>
            </a:pPr>
            <a:r>
              <a:rPr lang="en-US" dirty="0">
                <a:solidFill>
                  <a:schemeClr val="bg2">
                    <a:lumMod val="10000"/>
                  </a:schemeClr>
                </a:solidFill>
              </a:rPr>
              <a:t>New text → ?</a:t>
            </a:r>
          </a:p>
          <a:p>
            <a:pPr marL="0" indent="0">
              <a:buNone/>
            </a:pPr>
            <a:r>
              <a:rPr lang="en-IN" dirty="0">
                <a:solidFill>
                  <a:srgbClr val="FF0000"/>
                </a:solidFill>
              </a:rPr>
              <a:t>Example</a:t>
            </a:r>
          </a:p>
          <a:p>
            <a:pPr marL="0" indent="0">
              <a:buNone/>
            </a:pPr>
            <a:r>
              <a:rPr lang="en-US" dirty="0">
                <a:solidFill>
                  <a:schemeClr val="bg2">
                    <a:lumMod val="10000"/>
                  </a:schemeClr>
                </a:solidFill>
              </a:rPr>
              <a:t>Summarize the text in one sentence.</a:t>
            </a:r>
          </a:p>
          <a:p>
            <a:pPr marL="0" indent="0">
              <a:buNone/>
            </a:pPr>
            <a:r>
              <a:rPr lang="en-IN" dirty="0">
                <a:solidFill>
                  <a:srgbClr val="FF0000"/>
                </a:solidFill>
              </a:rPr>
              <a:t>Example</a:t>
            </a:r>
            <a:r>
              <a:rPr lang="en-IN" dirty="0">
                <a:solidFill>
                  <a:schemeClr val="bg2">
                    <a:lumMod val="10000"/>
                  </a:schemeClr>
                </a:solidFill>
              </a:rPr>
              <a:t>:</a:t>
            </a:r>
          </a:p>
          <a:p>
            <a:pPr marL="0" indent="0">
              <a:buNone/>
            </a:pPr>
            <a:r>
              <a:rPr lang="en-IN" dirty="0">
                <a:solidFill>
                  <a:schemeClr val="bg2">
                    <a:lumMod val="10000"/>
                  </a:schemeClr>
                </a:solidFill>
              </a:rPr>
              <a:t>Text: "Python is a popular programming language used for web development, data science, and AI."</a:t>
            </a:r>
          </a:p>
          <a:p>
            <a:pPr marL="0" indent="0">
              <a:buNone/>
            </a:pPr>
            <a:r>
              <a:rPr lang="en-IN" dirty="0">
                <a:solidFill>
                  <a:schemeClr val="bg2">
                    <a:lumMod val="10000"/>
                  </a:schemeClr>
                </a:solidFill>
              </a:rPr>
              <a:t>Summary: Python is widely used for web, data science, and AI.</a:t>
            </a:r>
          </a:p>
          <a:p>
            <a:pPr marL="0" indent="0">
              <a:buNone/>
            </a:pPr>
            <a:endParaRPr lang="en-IN" dirty="0">
              <a:solidFill>
                <a:schemeClr val="bg2">
                  <a:lumMod val="10000"/>
                </a:schemeClr>
              </a:solidFill>
            </a:endParaRPr>
          </a:p>
          <a:p>
            <a:pPr marL="0" indent="0">
              <a:buNone/>
            </a:pPr>
            <a:r>
              <a:rPr lang="en-IN" dirty="0">
                <a:solidFill>
                  <a:schemeClr val="bg2">
                    <a:lumMod val="10000"/>
                  </a:schemeClr>
                </a:solidFill>
              </a:rPr>
              <a:t>Text: "Social media analytics studies user behavior on platforms like Facebook and Twitter."</a:t>
            </a:r>
          </a:p>
          <a:p>
            <a:pPr marL="0" indent="0">
              <a:buNone/>
            </a:pPr>
            <a:r>
              <a:rPr lang="en-IN" dirty="0">
                <a:solidFill>
                  <a:schemeClr val="bg2">
                    <a:lumMod val="10000"/>
                  </a:schemeClr>
                </a:solidFill>
              </a:rPr>
              <a:t>Summary:</a:t>
            </a:r>
          </a:p>
        </p:txBody>
      </p:sp>
    </p:spTree>
    <p:extLst>
      <p:ext uri="{BB962C8B-B14F-4D97-AF65-F5344CB8AC3E}">
        <p14:creationId xmlns:p14="http://schemas.microsoft.com/office/powerpoint/2010/main" val="27367559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87D8F-B9C3-ECD1-1FAD-9B6EFE4EC091}"/>
              </a:ext>
            </a:extLst>
          </p:cNvPr>
          <p:cNvSpPr>
            <a:spLocks noGrp="1"/>
          </p:cNvSpPr>
          <p:nvPr>
            <p:ph type="title"/>
          </p:nvPr>
        </p:nvSpPr>
        <p:spPr/>
        <p:txBody>
          <a:bodyPr>
            <a:normAutofit/>
          </a:bodyPr>
          <a:lstStyle/>
          <a:p>
            <a:r>
              <a:rPr lang="en-IN" sz="2400" dirty="0"/>
              <a:t>Few-Shot Prompting: </a:t>
            </a:r>
            <a:r>
              <a:rPr lang="en-US" sz="2400" b="1" dirty="0"/>
              <a:t>Few-Shot Prompting</a:t>
            </a:r>
            <a:r>
              <a:rPr lang="en-US" sz="2400" dirty="0"/>
              <a:t> is a prompt engineering technique where </a:t>
            </a:r>
            <a:r>
              <a:rPr lang="en-US" sz="2400" b="1" dirty="0"/>
              <a:t>two or more examples</a:t>
            </a:r>
            <a:r>
              <a:rPr lang="en-US" sz="2400" dirty="0"/>
              <a:t> are provided to the AI before asking it to solve a new task.</a:t>
            </a:r>
            <a:endParaRPr lang="en-IN" sz="2400" dirty="0"/>
          </a:p>
        </p:txBody>
      </p:sp>
      <p:sp>
        <p:nvSpPr>
          <p:cNvPr id="3" name="Content Placeholder 2">
            <a:extLst>
              <a:ext uri="{FF2B5EF4-FFF2-40B4-BE49-F238E27FC236}">
                <a16:creationId xmlns:a16="http://schemas.microsoft.com/office/drawing/2014/main" id="{7C1BB4F4-E72E-013D-5B50-EC6AEB7740FB}"/>
              </a:ext>
            </a:extLst>
          </p:cNvPr>
          <p:cNvSpPr>
            <a:spLocks noGrp="1"/>
          </p:cNvSpPr>
          <p:nvPr>
            <p:ph idx="1"/>
          </p:nvPr>
        </p:nvSpPr>
        <p:spPr/>
        <p:txBody>
          <a:bodyPr numCol="2">
            <a:normAutofit fontScale="92500"/>
          </a:bodyPr>
          <a:lstStyle/>
          <a:p>
            <a:r>
              <a:rPr lang="en-US" dirty="0"/>
              <a:t>Basic Structure of a Few-Shot Prompt</a:t>
            </a:r>
          </a:p>
          <a:p>
            <a:r>
              <a:rPr lang="en-US" dirty="0"/>
              <a:t>Instruction / Task Description</a:t>
            </a:r>
          </a:p>
          <a:p>
            <a:r>
              <a:rPr lang="en-US" dirty="0"/>
              <a:t>↓</a:t>
            </a:r>
          </a:p>
          <a:p>
            <a:r>
              <a:rPr lang="en-US" dirty="0"/>
              <a:t>Multiple Examples (Input → Output)</a:t>
            </a:r>
          </a:p>
          <a:p>
            <a:r>
              <a:rPr lang="en-US" dirty="0"/>
              <a:t>↓</a:t>
            </a:r>
          </a:p>
          <a:p>
            <a:r>
              <a:rPr lang="en-US" dirty="0"/>
              <a:t>New Input (for prediction)</a:t>
            </a:r>
          </a:p>
          <a:p>
            <a:r>
              <a:rPr lang="en-IN" dirty="0"/>
              <a:t>Generic Structure</a:t>
            </a:r>
          </a:p>
          <a:p>
            <a:r>
              <a:rPr lang="en-US" dirty="0"/>
              <a:t>Task: &lt;What the model should do&gt;</a:t>
            </a:r>
          </a:p>
          <a:p>
            <a:r>
              <a:rPr lang="en-US" dirty="0"/>
              <a:t>Example 1:</a:t>
            </a:r>
          </a:p>
          <a:p>
            <a:r>
              <a:rPr lang="en-US" dirty="0"/>
              <a:t>Input: ...</a:t>
            </a:r>
          </a:p>
          <a:p>
            <a:r>
              <a:rPr lang="en-US" dirty="0"/>
              <a:t>Output: ...</a:t>
            </a:r>
          </a:p>
          <a:p>
            <a:r>
              <a:rPr lang="en-US" dirty="0"/>
              <a:t>Example 2:</a:t>
            </a:r>
          </a:p>
          <a:p>
            <a:r>
              <a:rPr lang="en-US" dirty="0"/>
              <a:t>Input: ...</a:t>
            </a:r>
          </a:p>
          <a:p>
            <a:r>
              <a:rPr lang="en-US" dirty="0"/>
              <a:t>Output: ...</a:t>
            </a:r>
          </a:p>
          <a:p>
            <a:r>
              <a:rPr lang="en-US" dirty="0"/>
              <a:t>Now do this:</a:t>
            </a:r>
          </a:p>
          <a:p>
            <a:r>
              <a:rPr lang="en-US" dirty="0"/>
              <a:t>Input: ...</a:t>
            </a:r>
          </a:p>
          <a:p>
            <a:r>
              <a:rPr lang="en-US" dirty="0"/>
              <a:t>Output:</a:t>
            </a:r>
            <a:endParaRPr lang="en-IN" dirty="0"/>
          </a:p>
        </p:txBody>
      </p:sp>
    </p:spTree>
    <p:extLst>
      <p:ext uri="{BB962C8B-B14F-4D97-AF65-F5344CB8AC3E}">
        <p14:creationId xmlns:p14="http://schemas.microsoft.com/office/powerpoint/2010/main" val="42904212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B0F65-E20F-65F7-D500-32F8494DFD85}"/>
              </a:ext>
            </a:extLst>
          </p:cNvPr>
          <p:cNvSpPr>
            <a:spLocks noGrp="1"/>
          </p:cNvSpPr>
          <p:nvPr>
            <p:ph type="title"/>
          </p:nvPr>
        </p:nvSpPr>
        <p:spPr/>
        <p:txBody>
          <a:bodyPr/>
          <a:lstStyle/>
          <a:p>
            <a:r>
              <a:rPr lang="en-IN" b="1" dirty="0">
                <a:solidFill>
                  <a:srgbClr val="00B050"/>
                </a:solidFill>
              </a:rPr>
              <a:t>Few-Shot for Text Classification</a:t>
            </a:r>
          </a:p>
        </p:txBody>
      </p:sp>
      <p:sp>
        <p:nvSpPr>
          <p:cNvPr id="3" name="Content Placeholder 2">
            <a:extLst>
              <a:ext uri="{FF2B5EF4-FFF2-40B4-BE49-F238E27FC236}">
                <a16:creationId xmlns:a16="http://schemas.microsoft.com/office/drawing/2014/main" id="{F3BD4C90-3FD7-8CFB-5BDE-75583172DEAC}"/>
              </a:ext>
            </a:extLst>
          </p:cNvPr>
          <p:cNvSpPr>
            <a:spLocks noGrp="1"/>
          </p:cNvSpPr>
          <p:nvPr>
            <p:ph idx="1"/>
          </p:nvPr>
        </p:nvSpPr>
        <p:spPr/>
        <p:txBody>
          <a:bodyPr>
            <a:normAutofit fontScale="85000" lnSpcReduction="20000"/>
          </a:bodyPr>
          <a:lstStyle/>
          <a:p>
            <a:r>
              <a:rPr lang="en-US" dirty="0"/>
              <a:t>Classify the sentiment as Positive or Negative.</a:t>
            </a:r>
          </a:p>
          <a:p>
            <a:r>
              <a:rPr lang="en-US" dirty="0"/>
              <a:t>Example 1:</a:t>
            </a:r>
          </a:p>
          <a:p>
            <a:r>
              <a:rPr lang="en-US" dirty="0"/>
              <a:t>Text: "The movie was fantastic!"</a:t>
            </a:r>
          </a:p>
          <a:p>
            <a:r>
              <a:rPr lang="en-US" dirty="0"/>
              <a:t>Sentiment: Positive</a:t>
            </a:r>
          </a:p>
          <a:p>
            <a:endParaRPr lang="en-US" dirty="0"/>
          </a:p>
          <a:p>
            <a:r>
              <a:rPr lang="en-US" dirty="0"/>
              <a:t>Example 2:</a:t>
            </a:r>
          </a:p>
          <a:p>
            <a:r>
              <a:rPr lang="en-US" dirty="0"/>
              <a:t>Text: "I wasted my money on this product."</a:t>
            </a:r>
          </a:p>
          <a:p>
            <a:r>
              <a:rPr lang="en-US" dirty="0"/>
              <a:t>Sentiment: Negative</a:t>
            </a:r>
          </a:p>
          <a:p>
            <a:endParaRPr lang="en-US" dirty="0"/>
          </a:p>
          <a:p>
            <a:r>
              <a:rPr lang="en-US" dirty="0"/>
              <a:t>Text: "The customer support was helpful."</a:t>
            </a:r>
          </a:p>
          <a:p>
            <a:r>
              <a:rPr lang="en-US" dirty="0"/>
              <a:t>Sentiment:</a:t>
            </a:r>
            <a:endParaRPr lang="en-IN" dirty="0"/>
          </a:p>
        </p:txBody>
      </p:sp>
    </p:spTree>
    <p:extLst>
      <p:ext uri="{BB962C8B-B14F-4D97-AF65-F5344CB8AC3E}">
        <p14:creationId xmlns:p14="http://schemas.microsoft.com/office/powerpoint/2010/main" val="38719643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E6127-5394-1C18-44C9-67EFA17DCC20}"/>
              </a:ext>
            </a:extLst>
          </p:cNvPr>
          <p:cNvSpPr>
            <a:spLocks noGrp="1"/>
          </p:cNvSpPr>
          <p:nvPr>
            <p:ph type="title"/>
          </p:nvPr>
        </p:nvSpPr>
        <p:spPr/>
        <p:txBody>
          <a:bodyPr/>
          <a:lstStyle/>
          <a:p>
            <a:r>
              <a:rPr lang="en-IN" b="1" dirty="0">
                <a:solidFill>
                  <a:srgbClr val="00B050"/>
                </a:solidFill>
              </a:rPr>
              <a:t>Few-Shot for Information Extraction</a:t>
            </a:r>
          </a:p>
        </p:txBody>
      </p:sp>
      <p:sp>
        <p:nvSpPr>
          <p:cNvPr id="3" name="Content Placeholder 2">
            <a:extLst>
              <a:ext uri="{FF2B5EF4-FFF2-40B4-BE49-F238E27FC236}">
                <a16:creationId xmlns:a16="http://schemas.microsoft.com/office/drawing/2014/main" id="{F28BFF3A-42AA-F1C1-B770-90F0C457B025}"/>
              </a:ext>
            </a:extLst>
          </p:cNvPr>
          <p:cNvSpPr>
            <a:spLocks noGrp="1"/>
          </p:cNvSpPr>
          <p:nvPr>
            <p:ph idx="1"/>
          </p:nvPr>
        </p:nvSpPr>
        <p:spPr/>
        <p:txBody>
          <a:bodyPr>
            <a:normAutofit fontScale="77500" lnSpcReduction="20000"/>
          </a:bodyPr>
          <a:lstStyle/>
          <a:p>
            <a:r>
              <a:rPr lang="en-US" dirty="0"/>
              <a:t>Extract Name and Age.</a:t>
            </a:r>
          </a:p>
          <a:p>
            <a:endParaRPr lang="en-US" dirty="0"/>
          </a:p>
          <a:p>
            <a:r>
              <a:rPr lang="en-US" dirty="0"/>
              <a:t>Example 1:</a:t>
            </a:r>
          </a:p>
          <a:p>
            <a:r>
              <a:rPr lang="en-US" dirty="0"/>
              <a:t>Sentence: "Rahul is 22 years old."</a:t>
            </a:r>
          </a:p>
          <a:p>
            <a:r>
              <a:rPr lang="en-US" dirty="0"/>
              <a:t>Output: Name: Rahul, Age: 22</a:t>
            </a:r>
          </a:p>
          <a:p>
            <a:endParaRPr lang="en-US" dirty="0"/>
          </a:p>
          <a:p>
            <a:r>
              <a:rPr lang="en-US" dirty="0"/>
              <a:t>Example 2:</a:t>
            </a:r>
          </a:p>
          <a:p>
            <a:r>
              <a:rPr lang="en-US" dirty="0"/>
              <a:t>Sentence: "Meena is 29 years old."</a:t>
            </a:r>
          </a:p>
          <a:p>
            <a:r>
              <a:rPr lang="en-US" dirty="0"/>
              <a:t>Output: Name: Meena, Age: 29</a:t>
            </a:r>
          </a:p>
          <a:p>
            <a:endParaRPr lang="en-US" dirty="0"/>
          </a:p>
          <a:p>
            <a:r>
              <a:rPr lang="en-US" dirty="0"/>
              <a:t>Sentence: "Suresh is 35 years old."</a:t>
            </a:r>
          </a:p>
          <a:p>
            <a:r>
              <a:rPr lang="en-US" dirty="0"/>
              <a:t>Output:</a:t>
            </a:r>
            <a:endParaRPr lang="en-IN" dirty="0"/>
          </a:p>
        </p:txBody>
      </p:sp>
    </p:spTree>
    <p:extLst>
      <p:ext uri="{BB962C8B-B14F-4D97-AF65-F5344CB8AC3E}">
        <p14:creationId xmlns:p14="http://schemas.microsoft.com/office/powerpoint/2010/main" val="21953034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2DB3C-4C79-C37D-61A9-426481CE0DAB}"/>
              </a:ext>
            </a:extLst>
          </p:cNvPr>
          <p:cNvSpPr>
            <a:spLocks noGrp="1"/>
          </p:cNvSpPr>
          <p:nvPr>
            <p:ph type="title"/>
          </p:nvPr>
        </p:nvSpPr>
        <p:spPr/>
        <p:txBody>
          <a:bodyPr/>
          <a:lstStyle/>
          <a:p>
            <a:r>
              <a:rPr lang="en-IN" b="1" dirty="0">
                <a:solidFill>
                  <a:srgbClr val="00B050"/>
                </a:solidFill>
              </a:rPr>
              <a:t>Few-Shot for Question Answering</a:t>
            </a:r>
          </a:p>
        </p:txBody>
      </p:sp>
      <p:sp>
        <p:nvSpPr>
          <p:cNvPr id="3" name="Content Placeholder 2">
            <a:extLst>
              <a:ext uri="{FF2B5EF4-FFF2-40B4-BE49-F238E27FC236}">
                <a16:creationId xmlns:a16="http://schemas.microsoft.com/office/drawing/2014/main" id="{9861A2E8-D9F2-2B5D-E080-D04C804D941C}"/>
              </a:ext>
            </a:extLst>
          </p:cNvPr>
          <p:cNvSpPr>
            <a:spLocks noGrp="1"/>
          </p:cNvSpPr>
          <p:nvPr>
            <p:ph idx="1"/>
          </p:nvPr>
        </p:nvSpPr>
        <p:spPr/>
        <p:txBody>
          <a:bodyPr>
            <a:normAutofit fontScale="77500" lnSpcReduction="20000"/>
          </a:bodyPr>
          <a:lstStyle/>
          <a:p>
            <a:r>
              <a:rPr lang="en-US" dirty="0"/>
              <a:t>Answer the questions.</a:t>
            </a:r>
          </a:p>
          <a:p>
            <a:endParaRPr lang="en-US" dirty="0"/>
          </a:p>
          <a:p>
            <a:r>
              <a:rPr lang="en-US" dirty="0"/>
              <a:t>Example 1:</a:t>
            </a:r>
          </a:p>
          <a:p>
            <a:r>
              <a:rPr lang="en-US" dirty="0"/>
              <a:t>Q: What is the capital of India?</a:t>
            </a:r>
          </a:p>
          <a:p>
            <a:r>
              <a:rPr lang="en-US" dirty="0"/>
              <a:t>A: New Delhi</a:t>
            </a:r>
          </a:p>
          <a:p>
            <a:endParaRPr lang="en-US" dirty="0"/>
          </a:p>
          <a:p>
            <a:r>
              <a:rPr lang="en-US" dirty="0"/>
              <a:t>Example 2:</a:t>
            </a:r>
          </a:p>
          <a:p>
            <a:r>
              <a:rPr lang="en-US" dirty="0"/>
              <a:t>Q: What is the capital of Canada?</a:t>
            </a:r>
          </a:p>
          <a:p>
            <a:r>
              <a:rPr lang="en-US" dirty="0"/>
              <a:t>A: Ottawa</a:t>
            </a:r>
          </a:p>
          <a:p>
            <a:endParaRPr lang="en-US" dirty="0"/>
          </a:p>
          <a:p>
            <a:r>
              <a:rPr lang="en-US" dirty="0"/>
              <a:t>Q: What is the capital of Germany?</a:t>
            </a:r>
          </a:p>
          <a:p>
            <a:r>
              <a:rPr lang="en-US" dirty="0"/>
              <a:t>A:</a:t>
            </a:r>
            <a:endParaRPr lang="en-IN" dirty="0"/>
          </a:p>
        </p:txBody>
      </p:sp>
    </p:spTree>
    <p:extLst>
      <p:ext uri="{BB962C8B-B14F-4D97-AF65-F5344CB8AC3E}">
        <p14:creationId xmlns:p14="http://schemas.microsoft.com/office/powerpoint/2010/main" val="31078372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8E163-3A52-B7D4-8C39-34CF2D90D56C}"/>
              </a:ext>
            </a:extLst>
          </p:cNvPr>
          <p:cNvSpPr>
            <a:spLocks noGrp="1"/>
          </p:cNvSpPr>
          <p:nvPr>
            <p:ph type="title"/>
          </p:nvPr>
        </p:nvSpPr>
        <p:spPr/>
        <p:txBody>
          <a:bodyPr/>
          <a:lstStyle/>
          <a:p>
            <a:r>
              <a:rPr lang="en-IN" b="1" dirty="0">
                <a:solidFill>
                  <a:srgbClr val="00B050"/>
                </a:solidFill>
              </a:rPr>
              <a:t>Few-Shot for Code Generation</a:t>
            </a:r>
          </a:p>
        </p:txBody>
      </p:sp>
      <p:sp>
        <p:nvSpPr>
          <p:cNvPr id="3" name="Content Placeholder 2">
            <a:extLst>
              <a:ext uri="{FF2B5EF4-FFF2-40B4-BE49-F238E27FC236}">
                <a16:creationId xmlns:a16="http://schemas.microsoft.com/office/drawing/2014/main" id="{E6BA022D-BD43-E2A3-CEF7-49DAED345E4E}"/>
              </a:ext>
            </a:extLst>
          </p:cNvPr>
          <p:cNvSpPr>
            <a:spLocks noGrp="1"/>
          </p:cNvSpPr>
          <p:nvPr>
            <p:ph idx="1"/>
          </p:nvPr>
        </p:nvSpPr>
        <p:spPr/>
        <p:txBody>
          <a:bodyPr numCol="2">
            <a:normAutofit lnSpcReduction="10000"/>
          </a:bodyPr>
          <a:lstStyle/>
          <a:p>
            <a:r>
              <a:rPr lang="en-US" dirty="0"/>
              <a:t>Write Python functions.</a:t>
            </a:r>
          </a:p>
          <a:p>
            <a:endParaRPr lang="en-US" dirty="0"/>
          </a:p>
          <a:p>
            <a:r>
              <a:rPr lang="en-US" dirty="0"/>
              <a:t>Example 1:</a:t>
            </a:r>
          </a:p>
          <a:p>
            <a:r>
              <a:rPr lang="en-US" dirty="0"/>
              <a:t>Input: add(2, 3)</a:t>
            </a:r>
          </a:p>
          <a:p>
            <a:r>
              <a:rPr lang="en-US" dirty="0"/>
              <a:t>Output:</a:t>
            </a:r>
          </a:p>
          <a:p>
            <a:r>
              <a:rPr lang="en-US" dirty="0"/>
              <a:t>def add(a, b):</a:t>
            </a:r>
          </a:p>
          <a:p>
            <a:r>
              <a:rPr lang="en-US" dirty="0"/>
              <a:t>    return a + b</a:t>
            </a:r>
          </a:p>
          <a:p>
            <a:endParaRPr lang="en-US" dirty="0"/>
          </a:p>
          <a:p>
            <a:r>
              <a:rPr lang="en-US" dirty="0"/>
              <a:t>Example 2:</a:t>
            </a:r>
          </a:p>
          <a:p>
            <a:r>
              <a:rPr lang="en-US" dirty="0"/>
              <a:t>Input: multiply(4, 5)</a:t>
            </a:r>
          </a:p>
          <a:p>
            <a:r>
              <a:rPr lang="en-US" dirty="0"/>
              <a:t>Output:</a:t>
            </a:r>
          </a:p>
          <a:p>
            <a:r>
              <a:rPr lang="en-US" dirty="0"/>
              <a:t>def multiply(a, b):</a:t>
            </a:r>
          </a:p>
          <a:p>
            <a:r>
              <a:rPr lang="en-US" dirty="0"/>
              <a:t>    return a * b</a:t>
            </a:r>
          </a:p>
          <a:p>
            <a:endParaRPr lang="en-US" dirty="0"/>
          </a:p>
          <a:p>
            <a:r>
              <a:rPr lang="en-US" dirty="0"/>
              <a:t>Input: subtract(10, 4)</a:t>
            </a:r>
          </a:p>
          <a:p>
            <a:r>
              <a:rPr lang="en-US" dirty="0"/>
              <a:t>Output:</a:t>
            </a:r>
          </a:p>
          <a:p>
            <a:endParaRPr lang="en-IN" dirty="0"/>
          </a:p>
        </p:txBody>
      </p:sp>
    </p:spTree>
    <p:extLst>
      <p:ext uri="{BB962C8B-B14F-4D97-AF65-F5344CB8AC3E}">
        <p14:creationId xmlns:p14="http://schemas.microsoft.com/office/powerpoint/2010/main" val="40394786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8D752-71EB-F68A-07DA-95C383FBF5BB}"/>
              </a:ext>
            </a:extLst>
          </p:cNvPr>
          <p:cNvSpPr>
            <a:spLocks noGrp="1"/>
          </p:cNvSpPr>
          <p:nvPr>
            <p:ph type="title"/>
          </p:nvPr>
        </p:nvSpPr>
        <p:spPr/>
        <p:txBody>
          <a:bodyPr/>
          <a:lstStyle/>
          <a:p>
            <a:r>
              <a:rPr lang="en-IN" b="1" dirty="0">
                <a:solidFill>
                  <a:srgbClr val="00B050"/>
                </a:solidFill>
              </a:rPr>
              <a:t>Few-Shot for Text Summarization</a:t>
            </a:r>
          </a:p>
        </p:txBody>
      </p:sp>
      <p:sp>
        <p:nvSpPr>
          <p:cNvPr id="3" name="Content Placeholder 2">
            <a:extLst>
              <a:ext uri="{FF2B5EF4-FFF2-40B4-BE49-F238E27FC236}">
                <a16:creationId xmlns:a16="http://schemas.microsoft.com/office/drawing/2014/main" id="{F0F239FA-54D7-A537-3F24-BE89A8AE815A}"/>
              </a:ext>
            </a:extLst>
          </p:cNvPr>
          <p:cNvSpPr>
            <a:spLocks noGrp="1"/>
          </p:cNvSpPr>
          <p:nvPr>
            <p:ph idx="1"/>
          </p:nvPr>
        </p:nvSpPr>
        <p:spPr/>
        <p:txBody>
          <a:bodyPr>
            <a:normAutofit fontScale="77500" lnSpcReduction="20000"/>
          </a:bodyPr>
          <a:lstStyle/>
          <a:p>
            <a:r>
              <a:rPr lang="en-IN" dirty="0"/>
              <a:t>Summarize in one sentence.</a:t>
            </a:r>
          </a:p>
          <a:p>
            <a:endParaRPr lang="en-IN" dirty="0"/>
          </a:p>
          <a:p>
            <a:r>
              <a:rPr lang="en-IN" dirty="0"/>
              <a:t>Example 1:</a:t>
            </a:r>
          </a:p>
          <a:p>
            <a:r>
              <a:rPr lang="en-IN" dirty="0"/>
              <a:t>Text: "Python is used in web development, AI, and data science."</a:t>
            </a:r>
          </a:p>
          <a:p>
            <a:r>
              <a:rPr lang="en-IN" dirty="0"/>
              <a:t>Summary: Python is widely used in web, AI, and data science.</a:t>
            </a:r>
          </a:p>
          <a:p>
            <a:endParaRPr lang="en-IN" dirty="0"/>
          </a:p>
          <a:p>
            <a:r>
              <a:rPr lang="en-IN" dirty="0"/>
              <a:t>Example 2:</a:t>
            </a:r>
          </a:p>
          <a:p>
            <a:r>
              <a:rPr lang="en-IN" dirty="0"/>
              <a:t>Text: "Social media analytics </a:t>
            </a:r>
            <a:r>
              <a:rPr lang="en-IN" dirty="0" err="1"/>
              <a:t>analyzes</a:t>
            </a:r>
            <a:r>
              <a:rPr lang="en-IN" dirty="0"/>
              <a:t> user interactions on platforms."</a:t>
            </a:r>
          </a:p>
          <a:p>
            <a:r>
              <a:rPr lang="en-IN" dirty="0"/>
              <a:t>Summary: Social media analytics studies user interactions.</a:t>
            </a:r>
          </a:p>
          <a:p>
            <a:endParaRPr lang="en-IN" dirty="0"/>
          </a:p>
          <a:p>
            <a:r>
              <a:rPr lang="en-IN" dirty="0"/>
              <a:t>Text: "SEO helps websites improve visibility in search engines."</a:t>
            </a:r>
          </a:p>
          <a:p>
            <a:r>
              <a:rPr lang="en-IN" dirty="0"/>
              <a:t>Summary:</a:t>
            </a:r>
          </a:p>
        </p:txBody>
      </p:sp>
    </p:spTree>
    <p:extLst>
      <p:ext uri="{BB962C8B-B14F-4D97-AF65-F5344CB8AC3E}">
        <p14:creationId xmlns:p14="http://schemas.microsoft.com/office/powerpoint/2010/main" val="40414852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8BE67-F731-35C3-5C9D-D1D769D6EB39}"/>
              </a:ext>
            </a:extLst>
          </p:cNvPr>
          <p:cNvSpPr>
            <a:spLocks noGrp="1"/>
          </p:cNvSpPr>
          <p:nvPr>
            <p:ph type="title"/>
          </p:nvPr>
        </p:nvSpPr>
        <p:spPr/>
        <p:txBody>
          <a:bodyPr>
            <a:normAutofit/>
          </a:bodyPr>
          <a:lstStyle/>
          <a:p>
            <a:r>
              <a:rPr lang="en-US" sz="2000" b="1" dirty="0"/>
              <a:t>Chain of Thought prompting</a:t>
            </a:r>
            <a:r>
              <a:rPr lang="en-US" sz="2000" dirty="0"/>
              <a:t> is a technique where the model is encouraged to </a:t>
            </a:r>
            <a:r>
              <a:rPr lang="en-US" sz="2000" b="1" dirty="0"/>
              <a:t>show intermediate reasoning steps</a:t>
            </a:r>
            <a:r>
              <a:rPr lang="en-US" sz="2000" dirty="0"/>
              <a:t> before giving the final answer.</a:t>
            </a:r>
            <a:endParaRPr lang="en-IN" sz="2000" dirty="0"/>
          </a:p>
        </p:txBody>
      </p:sp>
      <p:sp>
        <p:nvSpPr>
          <p:cNvPr id="3" name="Content Placeholder 2">
            <a:extLst>
              <a:ext uri="{FF2B5EF4-FFF2-40B4-BE49-F238E27FC236}">
                <a16:creationId xmlns:a16="http://schemas.microsoft.com/office/drawing/2014/main" id="{03FC5806-D386-8583-56AF-6629060E25E6}"/>
              </a:ext>
            </a:extLst>
          </p:cNvPr>
          <p:cNvSpPr>
            <a:spLocks noGrp="1"/>
          </p:cNvSpPr>
          <p:nvPr>
            <p:ph idx="1"/>
          </p:nvPr>
        </p:nvSpPr>
        <p:spPr/>
        <p:txBody>
          <a:bodyPr>
            <a:normAutofit fontScale="62500" lnSpcReduction="20000"/>
          </a:bodyPr>
          <a:lstStyle/>
          <a:p>
            <a:r>
              <a:rPr lang="en-US" dirty="0"/>
              <a:t>Basic Structure of a Chain-of-Thought Prompt</a:t>
            </a:r>
          </a:p>
          <a:p>
            <a:r>
              <a:rPr lang="en-US" dirty="0"/>
              <a:t>Instruction (ask for reasoning)</a:t>
            </a:r>
          </a:p>
          <a:p>
            <a:r>
              <a:rPr lang="en-US" dirty="0"/>
              <a:t>↓</a:t>
            </a:r>
          </a:p>
          <a:p>
            <a:r>
              <a:rPr lang="en-US" dirty="0"/>
              <a:t>Problem</a:t>
            </a:r>
          </a:p>
          <a:p>
            <a:r>
              <a:rPr lang="en-US" dirty="0"/>
              <a:t>↓</a:t>
            </a:r>
          </a:p>
          <a:p>
            <a:r>
              <a:rPr lang="en-US" dirty="0"/>
              <a:t>Step-by-step reasoning</a:t>
            </a:r>
          </a:p>
          <a:p>
            <a:r>
              <a:rPr lang="en-US" dirty="0"/>
              <a:t>↓</a:t>
            </a:r>
          </a:p>
          <a:p>
            <a:r>
              <a:rPr lang="en-US" dirty="0"/>
              <a:t>Final answer</a:t>
            </a:r>
          </a:p>
          <a:p>
            <a:r>
              <a:rPr lang="en-IN" b="1" dirty="0"/>
              <a:t>Generic Prompt Format</a:t>
            </a:r>
          </a:p>
          <a:p>
            <a:r>
              <a:rPr lang="en-US" dirty="0"/>
              <a:t>Solve the problem step by step and give the final answer.</a:t>
            </a:r>
          </a:p>
          <a:p>
            <a:endParaRPr lang="en-US" dirty="0"/>
          </a:p>
          <a:p>
            <a:r>
              <a:rPr lang="en-US" dirty="0"/>
              <a:t>Question: &lt;problem&gt;</a:t>
            </a:r>
          </a:p>
          <a:p>
            <a:r>
              <a:rPr lang="en-US" dirty="0"/>
              <a:t>Answer:</a:t>
            </a:r>
            <a:endParaRPr lang="en-IN" dirty="0"/>
          </a:p>
          <a:p>
            <a:endParaRPr lang="en-IN" dirty="0"/>
          </a:p>
        </p:txBody>
      </p:sp>
    </p:spTree>
    <p:extLst>
      <p:ext uri="{BB962C8B-B14F-4D97-AF65-F5344CB8AC3E}">
        <p14:creationId xmlns:p14="http://schemas.microsoft.com/office/powerpoint/2010/main" val="9975744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981B7-1788-0011-9B7F-0436C131470C}"/>
              </a:ext>
            </a:extLst>
          </p:cNvPr>
          <p:cNvSpPr>
            <a:spLocks noGrp="1"/>
          </p:cNvSpPr>
          <p:nvPr>
            <p:ph type="title"/>
          </p:nvPr>
        </p:nvSpPr>
        <p:spPr/>
        <p:txBody>
          <a:bodyPr/>
          <a:lstStyle/>
          <a:p>
            <a:r>
              <a:rPr lang="en-IN" b="1" dirty="0">
                <a:solidFill>
                  <a:srgbClr val="00B050"/>
                </a:solidFill>
              </a:rPr>
              <a:t>Numerical / Math Reasoning Example</a:t>
            </a:r>
          </a:p>
        </p:txBody>
      </p:sp>
      <p:sp>
        <p:nvSpPr>
          <p:cNvPr id="3" name="Content Placeholder 2">
            <a:extLst>
              <a:ext uri="{FF2B5EF4-FFF2-40B4-BE49-F238E27FC236}">
                <a16:creationId xmlns:a16="http://schemas.microsoft.com/office/drawing/2014/main" id="{727F73D6-9D21-BE4C-63A3-F08F37EE8827}"/>
              </a:ext>
            </a:extLst>
          </p:cNvPr>
          <p:cNvSpPr>
            <a:spLocks noGrp="1"/>
          </p:cNvSpPr>
          <p:nvPr>
            <p:ph idx="1"/>
          </p:nvPr>
        </p:nvSpPr>
        <p:spPr/>
        <p:txBody>
          <a:bodyPr/>
          <a:lstStyle/>
          <a:p>
            <a:r>
              <a:rPr lang="en-US" dirty="0"/>
              <a:t>Solve step by step.</a:t>
            </a:r>
          </a:p>
          <a:p>
            <a:r>
              <a:rPr lang="en-US" dirty="0"/>
              <a:t>Question: If a pen costs ₹10, how much do 7 pens cost?</a:t>
            </a:r>
          </a:p>
          <a:p>
            <a:r>
              <a:rPr lang="en-US" dirty="0"/>
              <a:t>One pen costs ₹10.</a:t>
            </a:r>
          </a:p>
          <a:p>
            <a:r>
              <a:rPr lang="en-US" dirty="0"/>
              <a:t>Number of pens = 7.</a:t>
            </a:r>
          </a:p>
          <a:p>
            <a:r>
              <a:rPr lang="en-US" dirty="0"/>
              <a:t>Total cost = 10 × 7 = 70.</a:t>
            </a:r>
            <a:endParaRPr lang="en-IN" dirty="0"/>
          </a:p>
        </p:txBody>
      </p:sp>
    </p:spTree>
    <p:extLst>
      <p:ext uri="{BB962C8B-B14F-4D97-AF65-F5344CB8AC3E}">
        <p14:creationId xmlns:p14="http://schemas.microsoft.com/office/powerpoint/2010/main" val="1556206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BB741-F117-EC33-ADCE-A598049E3ADB}"/>
              </a:ext>
            </a:extLst>
          </p:cNvPr>
          <p:cNvSpPr>
            <a:spLocks noGrp="1"/>
          </p:cNvSpPr>
          <p:nvPr>
            <p:ph type="title"/>
          </p:nvPr>
        </p:nvSpPr>
        <p:spPr/>
        <p:txBody>
          <a:bodyPr/>
          <a:lstStyle/>
          <a:p>
            <a:r>
              <a:rPr lang="en-IN" b="1" dirty="0">
                <a:solidFill>
                  <a:srgbClr val="00B050"/>
                </a:solidFill>
              </a:rPr>
              <a:t>Logical Reasoning Example</a:t>
            </a:r>
          </a:p>
        </p:txBody>
      </p:sp>
      <p:sp>
        <p:nvSpPr>
          <p:cNvPr id="3" name="Content Placeholder 2">
            <a:extLst>
              <a:ext uri="{FF2B5EF4-FFF2-40B4-BE49-F238E27FC236}">
                <a16:creationId xmlns:a16="http://schemas.microsoft.com/office/drawing/2014/main" id="{8CFF8409-1F78-E6BD-E5CD-C70AF3D4D0CF}"/>
              </a:ext>
            </a:extLst>
          </p:cNvPr>
          <p:cNvSpPr>
            <a:spLocks noGrp="1"/>
          </p:cNvSpPr>
          <p:nvPr>
            <p:ph idx="1"/>
          </p:nvPr>
        </p:nvSpPr>
        <p:spPr/>
        <p:txBody>
          <a:bodyPr>
            <a:normAutofit lnSpcReduction="10000"/>
          </a:bodyPr>
          <a:lstStyle/>
          <a:p>
            <a:r>
              <a:rPr lang="en-US" dirty="0"/>
              <a:t>Think step by step.</a:t>
            </a:r>
          </a:p>
          <a:p>
            <a:r>
              <a:rPr lang="en-US" dirty="0"/>
              <a:t>Question: Ravi is older than Suresh. Suresh is older than Anil.</a:t>
            </a:r>
          </a:p>
          <a:p>
            <a:r>
              <a:rPr lang="en-US" dirty="0"/>
              <a:t>Who is the oldest?</a:t>
            </a:r>
          </a:p>
          <a:p>
            <a:pPr marL="0" indent="0">
              <a:buNone/>
            </a:pPr>
            <a:r>
              <a:rPr lang="en-US" dirty="0">
                <a:solidFill>
                  <a:srgbClr val="FF0000"/>
                </a:solidFill>
              </a:rPr>
              <a:t>Chain of Thought </a:t>
            </a:r>
          </a:p>
          <a:p>
            <a:r>
              <a:rPr lang="en-US" dirty="0"/>
              <a:t>Ravi &gt; Suresh.</a:t>
            </a:r>
          </a:p>
          <a:p>
            <a:r>
              <a:rPr lang="en-US" dirty="0"/>
              <a:t>Suresh &gt; Anil.</a:t>
            </a:r>
          </a:p>
          <a:p>
            <a:r>
              <a:rPr lang="en-US" dirty="0"/>
              <a:t>So Ravi is older than both.</a:t>
            </a:r>
          </a:p>
          <a:p>
            <a:pPr marL="0" indent="0">
              <a:buNone/>
            </a:pPr>
            <a:r>
              <a:rPr lang="en-IN" dirty="0">
                <a:solidFill>
                  <a:srgbClr val="FF0000"/>
                </a:solidFill>
              </a:rPr>
              <a:t>Output</a:t>
            </a:r>
          </a:p>
          <a:p>
            <a:r>
              <a:rPr lang="en-IN" dirty="0"/>
              <a:t>Ravi</a:t>
            </a:r>
          </a:p>
        </p:txBody>
      </p:sp>
    </p:spTree>
    <p:extLst>
      <p:ext uri="{BB962C8B-B14F-4D97-AF65-F5344CB8AC3E}">
        <p14:creationId xmlns:p14="http://schemas.microsoft.com/office/powerpoint/2010/main" val="505880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63EAD-BA66-C1C0-73E8-D4D07BA65B45}"/>
              </a:ext>
            </a:extLst>
          </p:cNvPr>
          <p:cNvSpPr>
            <a:spLocks noGrp="1"/>
          </p:cNvSpPr>
          <p:nvPr>
            <p:ph type="title"/>
          </p:nvPr>
        </p:nvSpPr>
        <p:spPr/>
        <p:txBody>
          <a:bodyPr/>
          <a:lstStyle/>
          <a:p>
            <a:r>
              <a:rPr lang="en-IN" b="1" dirty="0">
                <a:solidFill>
                  <a:srgbClr val="00B050"/>
                </a:solidFill>
              </a:rPr>
              <a:t>Word Problem Example</a:t>
            </a:r>
          </a:p>
        </p:txBody>
      </p:sp>
      <p:sp>
        <p:nvSpPr>
          <p:cNvPr id="3" name="Content Placeholder 2">
            <a:extLst>
              <a:ext uri="{FF2B5EF4-FFF2-40B4-BE49-F238E27FC236}">
                <a16:creationId xmlns:a16="http://schemas.microsoft.com/office/drawing/2014/main" id="{C3299AC7-2B63-34FD-6AC5-87565FE719C5}"/>
              </a:ext>
            </a:extLst>
          </p:cNvPr>
          <p:cNvSpPr>
            <a:spLocks noGrp="1"/>
          </p:cNvSpPr>
          <p:nvPr>
            <p:ph idx="1"/>
          </p:nvPr>
        </p:nvSpPr>
        <p:spPr/>
        <p:txBody>
          <a:bodyPr>
            <a:normAutofit lnSpcReduction="10000"/>
          </a:bodyPr>
          <a:lstStyle/>
          <a:p>
            <a:r>
              <a:rPr lang="en-IN" dirty="0">
                <a:solidFill>
                  <a:srgbClr val="FF0000"/>
                </a:solidFill>
              </a:rPr>
              <a:t>Prompt</a:t>
            </a:r>
          </a:p>
          <a:p>
            <a:pPr marL="0" indent="0">
              <a:buNone/>
            </a:pPr>
            <a:r>
              <a:rPr lang="en-US" dirty="0"/>
              <a:t>Solve step by step.</a:t>
            </a:r>
          </a:p>
          <a:p>
            <a:pPr marL="0" indent="0">
              <a:buNone/>
            </a:pPr>
            <a:r>
              <a:rPr lang="en-US" dirty="0"/>
              <a:t>Question: A class has 20 boys and 15 girls. How many students are there in total?</a:t>
            </a:r>
          </a:p>
          <a:p>
            <a:pPr marL="0" indent="0">
              <a:buNone/>
            </a:pPr>
            <a:r>
              <a:rPr lang="en-IN" b="1" dirty="0">
                <a:solidFill>
                  <a:srgbClr val="FF0000"/>
                </a:solidFill>
              </a:rPr>
              <a:t>Chain of Thought</a:t>
            </a:r>
          </a:p>
          <a:p>
            <a:pPr marL="0" indent="0">
              <a:buNone/>
            </a:pPr>
            <a:r>
              <a:rPr lang="en-US" dirty="0"/>
              <a:t>Number of boys = 20.</a:t>
            </a:r>
          </a:p>
          <a:p>
            <a:pPr marL="0" indent="0">
              <a:buNone/>
            </a:pPr>
            <a:r>
              <a:rPr lang="en-US" dirty="0"/>
              <a:t>Number of girls = 15.</a:t>
            </a:r>
          </a:p>
          <a:p>
            <a:pPr marL="0" indent="0">
              <a:buNone/>
            </a:pPr>
            <a:r>
              <a:rPr lang="en-US" dirty="0"/>
              <a:t>Total students = 20 + 15 = 35.</a:t>
            </a:r>
          </a:p>
          <a:p>
            <a:pPr marL="0" indent="0">
              <a:buNone/>
            </a:pPr>
            <a:r>
              <a:rPr lang="en-IN" dirty="0"/>
              <a:t>Output: 35 students</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33025380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56C0D-DEAC-83C2-DAAA-55B0C683AB4F}"/>
              </a:ext>
            </a:extLst>
          </p:cNvPr>
          <p:cNvSpPr>
            <a:spLocks noGrp="1"/>
          </p:cNvSpPr>
          <p:nvPr>
            <p:ph type="title"/>
          </p:nvPr>
        </p:nvSpPr>
        <p:spPr/>
        <p:txBody>
          <a:bodyPr/>
          <a:lstStyle/>
          <a:p>
            <a:r>
              <a:rPr lang="en-IN" b="1" dirty="0">
                <a:solidFill>
                  <a:srgbClr val="00B050"/>
                </a:solidFill>
              </a:rPr>
              <a:t>Programming Logic Example</a:t>
            </a:r>
          </a:p>
        </p:txBody>
      </p:sp>
      <p:sp>
        <p:nvSpPr>
          <p:cNvPr id="3" name="Content Placeholder 2">
            <a:extLst>
              <a:ext uri="{FF2B5EF4-FFF2-40B4-BE49-F238E27FC236}">
                <a16:creationId xmlns:a16="http://schemas.microsoft.com/office/drawing/2014/main" id="{CC7BABEE-3243-78BF-EF25-93AD4184C4A3}"/>
              </a:ext>
            </a:extLst>
          </p:cNvPr>
          <p:cNvSpPr>
            <a:spLocks noGrp="1"/>
          </p:cNvSpPr>
          <p:nvPr>
            <p:ph idx="1"/>
          </p:nvPr>
        </p:nvSpPr>
        <p:spPr/>
        <p:txBody>
          <a:bodyPr>
            <a:normAutofit fontScale="92500" lnSpcReduction="20000"/>
          </a:bodyPr>
          <a:lstStyle/>
          <a:p>
            <a:r>
              <a:rPr lang="en-IN" dirty="0">
                <a:solidFill>
                  <a:srgbClr val="FF0000"/>
                </a:solidFill>
              </a:rPr>
              <a:t>Prompt</a:t>
            </a:r>
          </a:p>
          <a:p>
            <a:r>
              <a:rPr lang="en-US" dirty="0"/>
              <a:t>Explain step by step.</a:t>
            </a:r>
          </a:p>
          <a:p>
            <a:r>
              <a:rPr lang="en-US" dirty="0"/>
              <a:t>Question: What will be the output of the following?</a:t>
            </a:r>
          </a:p>
          <a:p>
            <a:r>
              <a:rPr lang="en-US" dirty="0"/>
              <a:t>a = 5</a:t>
            </a:r>
          </a:p>
          <a:p>
            <a:r>
              <a:rPr lang="en-US" dirty="0"/>
              <a:t>b = 3</a:t>
            </a:r>
          </a:p>
          <a:p>
            <a:r>
              <a:rPr lang="en-US" dirty="0"/>
              <a:t>print(a * b + 2)</a:t>
            </a:r>
          </a:p>
          <a:p>
            <a:r>
              <a:rPr lang="en-IN" dirty="0">
                <a:solidFill>
                  <a:srgbClr val="FF0000"/>
                </a:solidFill>
              </a:rPr>
              <a:t>Chain of Thought</a:t>
            </a:r>
          </a:p>
          <a:p>
            <a:r>
              <a:rPr lang="en-US" dirty="0"/>
              <a:t>a = 5 and b = 3.</a:t>
            </a:r>
          </a:p>
          <a:p>
            <a:r>
              <a:rPr lang="en-US" dirty="0"/>
              <a:t>First multiplication: 5 × 3 = 15.</a:t>
            </a:r>
          </a:p>
          <a:p>
            <a:r>
              <a:rPr lang="en-US" dirty="0"/>
              <a:t>Then add 2: 15 + 2 = 17.</a:t>
            </a:r>
          </a:p>
          <a:p>
            <a:endParaRPr lang="en-IN" dirty="0"/>
          </a:p>
          <a:p>
            <a:endParaRPr lang="en-IN" dirty="0"/>
          </a:p>
        </p:txBody>
      </p:sp>
    </p:spTree>
    <p:extLst>
      <p:ext uri="{BB962C8B-B14F-4D97-AF65-F5344CB8AC3E}">
        <p14:creationId xmlns:p14="http://schemas.microsoft.com/office/powerpoint/2010/main" val="24266161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76B58-D1A4-F5B5-01FD-69F40D5561B9}"/>
              </a:ext>
            </a:extLst>
          </p:cNvPr>
          <p:cNvSpPr>
            <a:spLocks noGrp="1"/>
          </p:cNvSpPr>
          <p:nvPr>
            <p:ph type="title"/>
          </p:nvPr>
        </p:nvSpPr>
        <p:spPr/>
        <p:txBody>
          <a:bodyPr/>
          <a:lstStyle/>
          <a:p>
            <a:r>
              <a:rPr lang="en-IN" b="1" dirty="0">
                <a:solidFill>
                  <a:srgbClr val="00B050"/>
                </a:solidFill>
              </a:rPr>
              <a:t>Real-Life Reasoning Example</a:t>
            </a:r>
          </a:p>
        </p:txBody>
      </p:sp>
      <p:sp>
        <p:nvSpPr>
          <p:cNvPr id="3" name="Content Placeholder 2">
            <a:extLst>
              <a:ext uri="{FF2B5EF4-FFF2-40B4-BE49-F238E27FC236}">
                <a16:creationId xmlns:a16="http://schemas.microsoft.com/office/drawing/2014/main" id="{69F95016-C873-6EF2-75FB-C0A0F1E6B547}"/>
              </a:ext>
            </a:extLst>
          </p:cNvPr>
          <p:cNvSpPr>
            <a:spLocks noGrp="1"/>
          </p:cNvSpPr>
          <p:nvPr>
            <p:ph idx="1"/>
          </p:nvPr>
        </p:nvSpPr>
        <p:spPr/>
        <p:txBody>
          <a:bodyPr>
            <a:normAutofit lnSpcReduction="10000"/>
          </a:bodyPr>
          <a:lstStyle/>
          <a:p>
            <a:r>
              <a:rPr lang="en-US" dirty="0"/>
              <a:t>Answer with reasoning.</a:t>
            </a:r>
          </a:p>
          <a:p>
            <a:r>
              <a:rPr lang="en-US" dirty="0"/>
              <a:t>Question: If today is Monday, what day will it be after 3 days?</a:t>
            </a:r>
          </a:p>
          <a:p>
            <a:endParaRPr lang="en-US" dirty="0"/>
          </a:p>
          <a:p>
            <a:r>
              <a:rPr lang="en-US" dirty="0"/>
              <a:t>Today is Monday.</a:t>
            </a:r>
          </a:p>
          <a:p>
            <a:r>
              <a:rPr lang="en-US" dirty="0"/>
              <a:t>After 1 day → Tuesday.</a:t>
            </a:r>
          </a:p>
          <a:p>
            <a:r>
              <a:rPr lang="en-US" dirty="0"/>
              <a:t>After 2 days → Wednesday.</a:t>
            </a:r>
          </a:p>
          <a:p>
            <a:r>
              <a:rPr lang="en-US" dirty="0"/>
              <a:t>After 3 days → Thursday.</a:t>
            </a:r>
          </a:p>
          <a:p>
            <a:endParaRPr lang="en-US" dirty="0"/>
          </a:p>
          <a:p>
            <a:r>
              <a:rPr lang="en-IN" dirty="0"/>
              <a:t>Thursday</a:t>
            </a:r>
          </a:p>
        </p:txBody>
      </p:sp>
    </p:spTree>
    <p:extLst>
      <p:ext uri="{BB962C8B-B14F-4D97-AF65-F5344CB8AC3E}">
        <p14:creationId xmlns:p14="http://schemas.microsoft.com/office/powerpoint/2010/main" val="21097807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89103-7986-9EB3-29BA-2017D1C9BA9E}"/>
              </a:ext>
            </a:extLst>
          </p:cNvPr>
          <p:cNvSpPr>
            <a:spLocks noGrp="1"/>
          </p:cNvSpPr>
          <p:nvPr>
            <p:ph type="title"/>
          </p:nvPr>
        </p:nvSpPr>
        <p:spPr/>
        <p:txBody>
          <a:bodyPr>
            <a:normAutofit/>
          </a:bodyPr>
          <a:lstStyle/>
          <a:p>
            <a:r>
              <a:rPr lang="en-IN" sz="2000" dirty="0"/>
              <a:t>Instruction Based Prompts:</a:t>
            </a:r>
            <a:r>
              <a:rPr lang="en-US" sz="2000" b="1" dirty="0"/>
              <a:t>Instruction-Based Prompting</a:t>
            </a:r>
            <a:r>
              <a:rPr lang="en-US" sz="2000" dirty="0"/>
              <a:t> is a prompting technique where the user gives </a:t>
            </a:r>
            <a:r>
              <a:rPr lang="en-US" sz="2000" b="1" dirty="0"/>
              <a:t>clear, direct instructions</a:t>
            </a:r>
            <a:r>
              <a:rPr lang="en-US" sz="2000" dirty="0"/>
              <a:t> telling the AI </a:t>
            </a:r>
            <a:r>
              <a:rPr lang="en-US" sz="2000" b="1" dirty="0"/>
              <a:t>what task to perform</a:t>
            </a:r>
            <a:r>
              <a:rPr lang="en-US" sz="2000" dirty="0"/>
              <a:t>, </a:t>
            </a:r>
            <a:r>
              <a:rPr lang="en-US" sz="2000" b="1" dirty="0"/>
              <a:t>how to perform it</a:t>
            </a:r>
            <a:r>
              <a:rPr lang="en-US" sz="2000" dirty="0"/>
              <a:t>, and sometimes </a:t>
            </a:r>
            <a:r>
              <a:rPr lang="en-US" sz="2000" b="1" dirty="0"/>
              <a:t>in what format</a:t>
            </a:r>
            <a:r>
              <a:rPr lang="en-US" sz="2000" dirty="0"/>
              <a:t>.</a:t>
            </a:r>
            <a:endParaRPr lang="en-IN" sz="2000" dirty="0"/>
          </a:p>
        </p:txBody>
      </p:sp>
      <p:sp>
        <p:nvSpPr>
          <p:cNvPr id="3" name="Content Placeholder 2">
            <a:extLst>
              <a:ext uri="{FF2B5EF4-FFF2-40B4-BE49-F238E27FC236}">
                <a16:creationId xmlns:a16="http://schemas.microsoft.com/office/drawing/2014/main" id="{03638473-15B8-0514-E4FB-07A92979523E}"/>
              </a:ext>
            </a:extLst>
          </p:cNvPr>
          <p:cNvSpPr>
            <a:spLocks noGrp="1"/>
          </p:cNvSpPr>
          <p:nvPr>
            <p:ph idx="1"/>
          </p:nvPr>
        </p:nvSpPr>
        <p:spPr/>
        <p:txBody>
          <a:bodyPr>
            <a:normAutofit fontScale="85000" lnSpcReduction="20000"/>
          </a:bodyPr>
          <a:lstStyle/>
          <a:p>
            <a:r>
              <a:rPr lang="en-US" dirty="0"/>
              <a:t>Basic Structure of an Instruction-Based Prompt</a:t>
            </a:r>
          </a:p>
          <a:p>
            <a:r>
              <a:rPr lang="en-US" dirty="0"/>
              <a:t>Instruction (task to perform)</a:t>
            </a:r>
          </a:p>
          <a:p>
            <a:r>
              <a:rPr lang="en-US" dirty="0"/>
              <a:t>↓</a:t>
            </a:r>
          </a:p>
          <a:p>
            <a:r>
              <a:rPr lang="en-US" dirty="0"/>
              <a:t>Constraints / Rules (optional)</a:t>
            </a:r>
          </a:p>
          <a:p>
            <a:r>
              <a:rPr lang="en-US" dirty="0"/>
              <a:t>↓</a:t>
            </a:r>
          </a:p>
          <a:p>
            <a:r>
              <a:rPr lang="en-US" dirty="0"/>
              <a:t>Input</a:t>
            </a:r>
          </a:p>
          <a:p>
            <a:r>
              <a:rPr lang="en-IN" dirty="0"/>
              <a:t>Generic Format</a:t>
            </a:r>
          </a:p>
          <a:p>
            <a:r>
              <a:rPr lang="en-US" dirty="0"/>
              <a:t>Instruction: &lt;What to do&gt;</a:t>
            </a:r>
          </a:p>
          <a:p>
            <a:r>
              <a:rPr lang="en-US" dirty="0"/>
              <a:t>Constraints (optional): &lt;How to do it&gt;</a:t>
            </a:r>
          </a:p>
          <a:p>
            <a:r>
              <a:rPr lang="en-US" dirty="0"/>
              <a:t>Input: &lt;Data&gt;</a:t>
            </a:r>
          </a:p>
          <a:p>
            <a:r>
              <a:rPr lang="en-US" dirty="0"/>
              <a:t>Output:</a:t>
            </a:r>
            <a:endParaRPr lang="en-IN" dirty="0"/>
          </a:p>
        </p:txBody>
      </p:sp>
    </p:spTree>
    <p:extLst>
      <p:ext uri="{BB962C8B-B14F-4D97-AF65-F5344CB8AC3E}">
        <p14:creationId xmlns:p14="http://schemas.microsoft.com/office/powerpoint/2010/main" val="12684646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0EB53F-0520-1D38-774D-A19D1CA4C504}"/>
              </a:ext>
            </a:extLst>
          </p:cNvPr>
          <p:cNvSpPr>
            <a:spLocks noGrp="1"/>
          </p:cNvSpPr>
          <p:nvPr>
            <p:ph idx="1"/>
          </p:nvPr>
        </p:nvSpPr>
        <p:spPr>
          <a:xfrm>
            <a:off x="563880" y="403224"/>
            <a:ext cx="10515600" cy="6099175"/>
          </a:xfrm>
        </p:spPr>
        <p:txBody>
          <a:bodyPr>
            <a:normAutofit/>
          </a:bodyPr>
          <a:lstStyle/>
          <a:p>
            <a:r>
              <a:rPr lang="en-IN" dirty="0">
                <a:solidFill>
                  <a:srgbClr val="00B050"/>
                </a:solidFill>
              </a:rPr>
              <a:t>Instruction-Based </a:t>
            </a:r>
            <a:r>
              <a:rPr lang="en-IN" b="1" dirty="0">
                <a:solidFill>
                  <a:srgbClr val="00B050"/>
                </a:solidFill>
              </a:rPr>
              <a:t>Text Classification</a:t>
            </a:r>
            <a:endParaRPr lang="en-US" dirty="0">
              <a:solidFill>
                <a:srgbClr val="00B050"/>
              </a:solidFill>
            </a:endParaRPr>
          </a:p>
          <a:p>
            <a:r>
              <a:rPr lang="en-US" dirty="0"/>
              <a:t>Classify the following text as Positive or Negative.</a:t>
            </a:r>
          </a:p>
          <a:p>
            <a:r>
              <a:rPr lang="en-US" dirty="0"/>
              <a:t>Text: "The online course was very useful.“</a:t>
            </a:r>
          </a:p>
          <a:p>
            <a:pPr marL="0" indent="0">
              <a:buNone/>
            </a:pPr>
            <a:endParaRPr lang="en-US" dirty="0"/>
          </a:p>
          <a:p>
            <a:pPr marL="0" indent="0">
              <a:buNone/>
            </a:pPr>
            <a:r>
              <a:rPr lang="en-IN" dirty="0">
                <a:solidFill>
                  <a:srgbClr val="00B050"/>
                </a:solidFill>
              </a:rPr>
              <a:t>Instruction-Based </a:t>
            </a:r>
            <a:r>
              <a:rPr lang="en-IN" b="1" dirty="0">
                <a:solidFill>
                  <a:srgbClr val="00B050"/>
                </a:solidFill>
              </a:rPr>
              <a:t>Information Extraction</a:t>
            </a:r>
          </a:p>
          <a:p>
            <a:pPr marL="0" indent="0">
              <a:buNone/>
            </a:pPr>
            <a:r>
              <a:rPr lang="en-US" dirty="0"/>
              <a:t>Extract the name and phone number from the sentence.</a:t>
            </a:r>
          </a:p>
          <a:p>
            <a:pPr marL="0" indent="0">
              <a:buNone/>
            </a:pPr>
            <a:r>
              <a:rPr lang="en-US" dirty="0"/>
              <a:t>Sentence: "Sita can be contacted at 9876543210.“</a:t>
            </a:r>
          </a:p>
          <a:p>
            <a:pPr marL="0" indent="0">
              <a:buNone/>
            </a:pPr>
            <a:endParaRPr lang="en-US" dirty="0"/>
          </a:p>
          <a:p>
            <a:pPr marL="0" indent="0">
              <a:buNone/>
            </a:pPr>
            <a:r>
              <a:rPr lang="en-IN" dirty="0">
                <a:solidFill>
                  <a:srgbClr val="00B050"/>
                </a:solidFill>
              </a:rPr>
              <a:t>Instruction-Based </a:t>
            </a:r>
            <a:r>
              <a:rPr lang="en-IN" b="1" dirty="0">
                <a:solidFill>
                  <a:srgbClr val="00B050"/>
                </a:solidFill>
              </a:rPr>
              <a:t>Text Summarization</a:t>
            </a:r>
          </a:p>
          <a:p>
            <a:pPr marL="0" indent="0">
              <a:buNone/>
            </a:pPr>
            <a:r>
              <a:rPr lang="en-US" dirty="0">
                <a:solidFill>
                  <a:schemeClr val="tx1">
                    <a:lumMod val="95000"/>
                    <a:lumOff val="5000"/>
                  </a:schemeClr>
                </a:solidFill>
              </a:rPr>
              <a:t>Summarize the following paragraph in one sentence.</a:t>
            </a:r>
          </a:p>
          <a:p>
            <a:pPr marL="0" indent="0">
              <a:buNone/>
            </a:pPr>
            <a:r>
              <a:rPr lang="en-US" dirty="0">
                <a:solidFill>
                  <a:schemeClr val="tx1">
                    <a:lumMod val="95000"/>
                    <a:lumOff val="5000"/>
                  </a:schemeClr>
                </a:solidFill>
              </a:rPr>
              <a:t>Paragraph: Web analytics involves analyzing website data to understand user behavior.</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IN" dirty="0"/>
          </a:p>
        </p:txBody>
      </p:sp>
    </p:spTree>
    <p:extLst>
      <p:ext uri="{BB962C8B-B14F-4D97-AF65-F5344CB8AC3E}">
        <p14:creationId xmlns:p14="http://schemas.microsoft.com/office/powerpoint/2010/main" val="28099190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E54ABB-0DB0-A6C2-4F78-99B058C7C440}"/>
              </a:ext>
            </a:extLst>
          </p:cNvPr>
          <p:cNvSpPr>
            <a:spLocks noGrp="1"/>
          </p:cNvSpPr>
          <p:nvPr>
            <p:ph idx="1"/>
          </p:nvPr>
        </p:nvSpPr>
        <p:spPr>
          <a:xfrm>
            <a:off x="838200" y="555625"/>
            <a:ext cx="10515600" cy="4351338"/>
          </a:xfrm>
        </p:spPr>
        <p:txBody>
          <a:bodyPr>
            <a:normAutofit/>
          </a:bodyPr>
          <a:lstStyle/>
          <a:p>
            <a:r>
              <a:rPr lang="en-IN" dirty="0">
                <a:solidFill>
                  <a:srgbClr val="00B050"/>
                </a:solidFill>
              </a:rPr>
              <a:t>Instruction-Based </a:t>
            </a:r>
            <a:r>
              <a:rPr lang="en-IN" b="1" dirty="0">
                <a:solidFill>
                  <a:srgbClr val="00B050"/>
                </a:solidFill>
              </a:rPr>
              <a:t>Question Answering</a:t>
            </a:r>
          </a:p>
          <a:p>
            <a:r>
              <a:rPr lang="en-US" dirty="0"/>
              <a:t>Answer the question in one word.</a:t>
            </a:r>
          </a:p>
          <a:p>
            <a:r>
              <a:rPr lang="en-US" dirty="0"/>
              <a:t>Question: What is the capital of Germany?</a:t>
            </a:r>
          </a:p>
          <a:p>
            <a:r>
              <a:rPr lang="en-IN" dirty="0">
                <a:solidFill>
                  <a:srgbClr val="00B050"/>
                </a:solidFill>
              </a:rPr>
              <a:t>Instruction-Based </a:t>
            </a:r>
            <a:r>
              <a:rPr lang="en-IN" b="1" dirty="0">
                <a:solidFill>
                  <a:srgbClr val="00B050"/>
                </a:solidFill>
              </a:rPr>
              <a:t>Code Generation</a:t>
            </a:r>
          </a:p>
          <a:p>
            <a:r>
              <a:rPr lang="en-US" dirty="0"/>
              <a:t>Write a Python program to check whether a number is even or odd.</a:t>
            </a:r>
          </a:p>
          <a:p>
            <a:r>
              <a:rPr lang="en-IN" dirty="0">
                <a:solidFill>
                  <a:srgbClr val="00B050"/>
                </a:solidFill>
              </a:rPr>
              <a:t>Instruction-Based </a:t>
            </a:r>
            <a:r>
              <a:rPr lang="en-IN" b="1" dirty="0">
                <a:solidFill>
                  <a:srgbClr val="00B050"/>
                </a:solidFill>
              </a:rPr>
              <a:t>Reasoning Task</a:t>
            </a:r>
          </a:p>
          <a:p>
            <a:r>
              <a:rPr lang="en-US" dirty="0"/>
              <a:t>Solve the problem step by step.</a:t>
            </a:r>
          </a:p>
          <a:p>
            <a:r>
              <a:rPr lang="en-US" dirty="0"/>
              <a:t>Question: If a book costs ₹50, how much do 6 books cost?</a:t>
            </a:r>
            <a:endParaRPr lang="en-IN" dirty="0"/>
          </a:p>
        </p:txBody>
      </p:sp>
    </p:spTree>
    <p:extLst>
      <p:ext uri="{BB962C8B-B14F-4D97-AF65-F5344CB8AC3E}">
        <p14:creationId xmlns:p14="http://schemas.microsoft.com/office/powerpoint/2010/main" val="24956766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B114C-21A2-5662-C3A4-DEF4834204D2}"/>
              </a:ext>
            </a:extLst>
          </p:cNvPr>
          <p:cNvSpPr>
            <a:spLocks noGrp="1"/>
          </p:cNvSpPr>
          <p:nvPr>
            <p:ph type="title"/>
          </p:nvPr>
        </p:nvSpPr>
        <p:spPr/>
        <p:txBody>
          <a:bodyPr/>
          <a:lstStyle/>
          <a:p>
            <a:pPr algn="ctr"/>
            <a:r>
              <a:rPr lang="en-IN" b="1" dirty="0">
                <a:solidFill>
                  <a:srgbClr val="00B050"/>
                </a:solidFill>
              </a:rPr>
              <a:t>Role-Based Prompt Engineering</a:t>
            </a:r>
          </a:p>
        </p:txBody>
      </p:sp>
      <p:sp>
        <p:nvSpPr>
          <p:cNvPr id="3" name="Content Placeholder 2">
            <a:extLst>
              <a:ext uri="{FF2B5EF4-FFF2-40B4-BE49-F238E27FC236}">
                <a16:creationId xmlns:a16="http://schemas.microsoft.com/office/drawing/2014/main" id="{5B408DCA-9815-BEC5-C9F2-A2CC62B9C32E}"/>
              </a:ext>
            </a:extLst>
          </p:cNvPr>
          <p:cNvSpPr>
            <a:spLocks noGrp="1"/>
          </p:cNvSpPr>
          <p:nvPr>
            <p:ph idx="1"/>
          </p:nvPr>
        </p:nvSpPr>
        <p:spPr/>
        <p:txBody>
          <a:bodyPr/>
          <a:lstStyle/>
          <a:p>
            <a:r>
              <a:rPr lang="en-US" b="1" dirty="0"/>
              <a:t>Role-Based Prompt Engineering</a:t>
            </a:r>
            <a:r>
              <a:rPr lang="en-US" dirty="0"/>
              <a:t> is a technique where you assign a </a:t>
            </a:r>
            <a:r>
              <a:rPr lang="en-US" b="1" dirty="0"/>
              <a:t>specific role or persona</a:t>
            </a:r>
            <a:r>
              <a:rPr lang="en-US" dirty="0"/>
              <a:t> to the AI (e.g., teacher, interviewer, developer, doctor) so that the responses match the </a:t>
            </a:r>
            <a:r>
              <a:rPr lang="en-US" b="1" dirty="0"/>
              <a:t>expertise, tone, perspective, and responsibility</a:t>
            </a:r>
            <a:r>
              <a:rPr lang="en-US" dirty="0"/>
              <a:t> of that role.</a:t>
            </a:r>
          </a:p>
          <a:p>
            <a:r>
              <a:rPr lang="en-US" b="1" dirty="0">
                <a:solidFill>
                  <a:srgbClr val="FF0000"/>
                </a:solidFill>
              </a:rPr>
              <a:t>General Structure of a Role-Based Prompt</a:t>
            </a:r>
          </a:p>
          <a:p>
            <a:r>
              <a:rPr lang="en-US" dirty="0"/>
              <a:t>Act as a [ROLE].</a:t>
            </a:r>
          </a:p>
          <a:p>
            <a:r>
              <a:rPr lang="en-US" dirty="0"/>
              <a:t>Your task is to [OBJECTIVE].</a:t>
            </a:r>
          </a:p>
          <a:p>
            <a:r>
              <a:rPr lang="en-US" dirty="0"/>
              <a:t>Consider [CONSTRAINTS / AUDIENCE / FORMAT].</a:t>
            </a:r>
          </a:p>
          <a:p>
            <a:r>
              <a:rPr lang="en-US" dirty="0"/>
              <a:t>Provide the output in [FORMAT].</a:t>
            </a:r>
            <a:endParaRPr lang="en-IN" dirty="0"/>
          </a:p>
        </p:txBody>
      </p:sp>
    </p:spTree>
    <p:extLst>
      <p:ext uri="{BB962C8B-B14F-4D97-AF65-F5344CB8AC3E}">
        <p14:creationId xmlns:p14="http://schemas.microsoft.com/office/powerpoint/2010/main" val="30970851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55536-F12B-40C3-5B42-868123D1CFDB}"/>
              </a:ext>
            </a:extLst>
          </p:cNvPr>
          <p:cNvSpPr>
            <a:spLocks noGrp="1"/>
          </p:cNvSpPr>
          <p:nvPr>
            <p:ph type="title"/>
          </p:nvPr>
        </p:nvSpPr>
        <p:spPr/>
        <p:txBody>
          <a:bodyPr/>
          <a:lstStyle/>
          <a:p>
            <a:r>
              <a:rPr lang="en-IN" b="1" dirty="0">
                <a:solidFill>
                  <a:srgbClr val="FF0000"/>
                </a:solidFill>
              </a:rPr>
              <a:t>Simple Example</a:t>
            </a:r>
          </a:p>
        </p:txBody>
      </p:sp>
      <p:sp>
        <p:nvSpPr>
          <p:cNvPr id="3" name="Content Placeholder 2">
            <a:extLst>
              <a:ext uri="{FF2B5EF4-FFF2-40B4-BE49-F238E27FC236}">
                <a16:creationId xmlns:a16="http://schemas.microsoft.com/office/drawing/2014/main" id="{F4AD5B0A-51A6-DFF3-AEE3-87C99E335C18}"/>
              </a:ext>
            </a:extLst>
          </p:cNvPr>
          <p:cNvSpPr>
            <a:spLocks noGrp="1"/>
          </p:cNvSpPr>
          <p:nvPr>
            <p:ph idx="1"/>
          </p:nvPr>
        </p:nvSpPr>
        <p:spPr/>
        <p:txBody>
          <a:bodyPr/>
          <a:lstStyle/>
          <a:p>
            <a:r>
              <a:rPr lang="en-US" dirty="0"/>
              <a:t>Act as a computer science teacher.</a:t>
            </a:r>
          </a:p>
          <a:p>
            <a:r>
              <a:rPr lang="en-US" dirty="0"/>
              <a:t>Explain polymorphism to first-year students using a simple real-life example.</a:t>
            </a:r>
          </a:p>
          <a:p>
            <a:pPr marL="0" indent="0">
              <a:buNone/>
            </a:pPr>
            <a:r>
              <a:rPr lang="en-IN" dirty="0"/>
              <a:t>Role → </a:t>
            </a:r>
            <a:r>
              <a:rPr lang="en-IN" i="1" dirty="0"/>
              <a:t>computer science teacher</a:t>
            </a:r>
            <a:endParaRPr lang="en-IN" dirty="0"/>
          </a:p>
          <a:p>
            <a:pPr marL="0" indent="0">
              <a:buNone/>
            </a:pPr>
            <a:r>
              <a:rPr lang="en-IN" dirty="0"/>
              <a:t>Audience → </a:t>
            </a:r>
            <a:r>
              <a:rPr lang="en-IN" i="1" dirty="0"/>
              <a:t>first-year students</a:t>
            </a:r>
            <a:endParaRPr lang="en-IN" dirty="0"/>
          </a:p>
          <a:p>
            <a:pPr marL="0" indent="0">
              <a:buNone/>
            </a:pPr>
            <a:r>
              <a:rPr lang="en-IN" dirty="0"/>
              <a:t>Style → </a:t>
            </a:r>
            <a:r>
              <a:rPr lang="en-IN" i="1" dirty="0"/>
              <a:t>simple explanation</a:t>
            </a:r>
            <a:endParaRPr lang="en-IN" dirty="0"/>
          </a:p>
          <a:p>
            <a:pPr marL="0" indent="0">
              <a:buNone/>
            </a:pPr>
            <a:r>
              <a:rPr lang="en-IN" dirty="0"/>
              <a:t> </a:t>
            </a:r>
          </a:p>
        </p:txBody>
      </p:sp>
    </p:spTree>
    <p:extLst>
      <p:ext uri="{BB962C8B-B14F-4D97-AF65-F5344CB8AC3E}">
        <p14:creationId xmlns:p14="http://schemas.microsoft.com/office/powerpoint/2010/main" val="9202097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9A12E-D4E0-DD57-D98F-AB39C122FAE8}"/>
              </a:ext>
            </a:extLst>
          </p:cNvPr>
          <p:cNvSpPr>
            <a:spLocks noGrp="1"/>
          </p:cNvSpPr>
          <p:nvPr>
            <p:ph type="title"/>
          </p:nvPr>
        </p:nvSpPr>
        <p:spPr/>
        <p:txBody>
          <a:bodyPr/>
          <a:lstStyle/>
          <a:p>
            <a:r>
              <a:rPr lang="en-IN" b="1" dirty="0">
                <a:solidFill>
                  <a:srgbClr val="FF0000"/>
                </a:solidFill>
              </a:rPr>
              <a:t>Academic / Teaching Examples</a:t>
            </a:r>
          </a:p>
        </p:txBody>
      </p:sp>
      <p:sp>
        <p:nvSpPr>
          <p:cNvPr id="3" name="Content Placeholder 2">
            <a:extLst>
              <a:ext uri="{FF2B5EF4-FFF2-40B4-BE49-F238E27FC236}">
                <a16:creationId xmlns:a16="http://schemas.microsoft.com/office/drawing/2014/main" id="{E4D839C9-3D03-3425-8E48-E9705BE357E9}"/>
              </a:ext>
            </a:extLst>
          </p:cNvPr>
          <p:cNvSpPr>
            <a:spLocks noGrp="1"/>
          </p:cNvSpPr>
          <p:nvPr>
            <p:ph idx="1"/>
          </p:nvPr>
        </p:nvSpPr>
        <p:spPr/>
        <p:txBody>
          <a:bodyPr>
            <a:normAutofit fontScale="92500"/>
          </a:bodyPr>
          <a:lstStyle/>
          <a:p>
            <a:pPr marL="0" indent="0">
              <a:buNone/>
            </a:pPr>
            <a:r>
              <a:rPr lang="en-IN" b="1" dirty="0"/>
              <a:t>Teacher Role</a:t>
            </a:r>
          </a:p>
          <a:p>
            <a:r>
              <a:rPr lang="en-US" dirty="0"/>
              <a:t>Act as a university professor.</a:t>
            </a:r>
          </a:p>
          <a:p>
            <a:r>
              <a:rPr lang="en-US" dirty="0"/>
              <a:t>Prepare 5 MCQs on abstraction and polymorphism for internal assessment.</a:t>
            </a:r>
          </a:p>
          <a:p>
            <a:pPr marL="0" indent="0">
              <a:buNone/>
            </a:pPr>
            <a:r>
              <a:rPr lang="en-IN" b="1" dirty="0"/>
              <a:t>Examiner Role</a:t>
            </a:r>
          </a:p>
          <a:p>
            <a:r>
              <a:rPr lang="en-US" dirty="0"/>
              <a:t>Act as an exam setter.</a:t>
            </a:r>
          </a:p>
          <a:p>
            <a:r>
              <a:rPr lang="en-US" dirty="0"/>
              <a:t>Frame long-answer questions on abstract classes and method overriding.</a:t>
            </a:r>
          </a:p>
          <a:p>
            <a:pPr marL="0" indent="0">
              <a:buNone/>
            </a:pPr>
            <a:r>
              <a:rPr lang="en-IN" b="1" dirty="0"/>
              <a:t>Student Role</a:t>
            </a:r>
          </a:p>
          <a:p>
            <a:r>
              <a:rPr lang="en-US" dirty="0"/>
              <a:t>Act as a student preparing for exams.</a:t>
            </a:r>
          </a:p>
          <a:p>
            <a:r>
              <a:rPr lang="en-US" dirty="0"/>
              <a:t>Summarize abstraction vs encapsulation in short notes.</a:t>
            </a:r>
            <a:endParaRPr lang="en-IN" dirty="0"/>
          </a:p>
        </p:txBody>
      </p:sp>
    </p:spTree>
    <p:extLst>
      <p:ext uri="{BB962C8B-B14F-4D97-AF65-F5344CB8AC3E}">
        <p14:creationId xmlns:p14="http://schemas.microsoft.com/office/powerpoint/2010/main" val="32656576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7D11E-30D6-FD46-209F-C66DFBEBDEF3}"/>
              </a:ext>
            </a:extLst>
          </p:cNvPr>
          <p:cNvSpPr>
            <a:spLocks noGrp="1"/>
          </p:cNvSpPr>
          <p:nvPr>
            <p:ph type="title"/>
          </p:nvPr>
        </p:nvSpPr>
        <p:spPr/>
        <p:txBody>
          <a:bodyPr/>
          <a:lstStyle/>
          <a:p>
            <a:r>
              <a:rPr lang="en-IN" b="1" dirty="0">
                <a:solidFill>
                  <a:srgbClr val="FF0000"/>
                </a:solidFill>
              </a:rPr>
              <a:t>Industry-Oriented Examples</a:t>
            </a:r>
          </a:p>
        </p:txBody>
      </p:sp>
      <p:sp>
        <p:nvSpPr>
          <p:cNvPr id="3" name="Content Placeholder 2">
            <a:extLst>
              <a:ext uri="{FF2B5EF4-FFF2-40B4-BE49-F238E27FC236}">
                <a16:creationId xmlns:a16="http://schemas.microsoft.com/office/drawing/2014/main" id="{BBFA8707-C74C-E40F-F9E1-A5425CE2D449}"/>
              </a:ext>
            </a:extLst>
          </p:cNvPr>
          <p:cNvSpPr>
            <a:spLocks noGrp="1"/>
          </p:cNvSpPr>
          <p:nvPr>
            <p:ph idx="1"/>
          </p:nvPr>
        </p:nvSpPr>
        <p:spPr/>
        <p:txBody>
          <a:bodyPr>
            <a:normAutofit lnSpcReduction="10000"/>
          </a:bodyPr>
          <a:lstStyle/>
          <a:p>
            <a:pPr marL="0" indent="0">
              <a:buNone/>
            </a:pPr>
            <a:r>
              <a:rPr lang="en-IN" b="1" dirty="0"/>
              <a:t>Software Developer Role</a:t>
            </a:r>
          </a:p>
          <a:p>
            <a:r>
              <a:rPr lang="en-US" dirty="0"/>
              <a:t>Act as a Python developer.</a:t>
            </a:r>
          </a:p>
          <a:p>
            <a:r>
              <a:rPr lang="en-US" dirty="0"/>
              <a:t>Demonstrate operator overloading with a real-world example.</a:t>
            </a:r>
          </a:p>
          <a:p>
            <a:pPr marL="0" indent="0">
              <a:buNone/>
            </a:pPr>
            <a:r>
              <a:rPr lang="en-IN" b="1" dirty="0"/>
              <a:t>Technical Interviewer Role</a:t>
            </a:r>
          </a:p>
          <a:p>
            <a:r>
              <a:rPr lang="en-US" dirty="0"/>
              <a:t>Act as a technical interviewer.</a:t>
            </a:r>
          </a:p>
          <a:p>
            <a:r>
              <a:rPr lang="en-US" dirty="0"/>
              <a:t>Ask 3 interview questions on polymorphism with expected answers.</a:t>
            </a:r>
          </a:p>
          <a:p>
            <a:pPr marL="0" indent="0">
              <a:buNone/>
            </a:pPr>
            <a:r>
              <a:rPr lang="en-IN" b="1" dirty="0"/>
              <a:t>Code Reviewer Role</a:t>
            </a:r>
          </a:p>
          <a:p>
            <a:r>
              <a:rPr lang="en-US" dirty="0"/>
              <a:t>Act as a senior code reviewer.</a:t>
            </a:r>
          </a:p>
          <a:p>
            <a:r>
              <a:rPr lang="en-US" dirty="0"/>
              <a:t>Analyze the given code and suggest improvements.</a:t>
            </a:r>
            <a:endParaRPr lang="en-IN" dirty="0"/>
          </a:p>
        </p:txBody>
      </p:sp>
    </p:spTree>
    <p:extLst>
      <p:ext uri="{BB962C8B-B14F-4D97-AF65-F5344CB8AC3E}">
        <p14:creationId xmlns:p14="http://schemas.microsoft.com/office/powerpoint/2010/main" val="19065652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A45A9-F0A1-59E8-EACE-78561D26695E}"/>
              </a:ext>
            </a:extLst>
          </p:cNvPr>
          <p:cNvSpPr>
            <a:spLocks noGrp="1"/>
          </p:cNvSpPr>
          <p:nvPr>
            <p:ph type="title"/>
          </p:nvPr>
        </p:nvSpPr>
        <p:spPr>
          <a:xfrm>
            <a:off x="635000" y="55338"/>
            <a:ext cx="10515600" cy="1325563"/>
          </a:xfrm>
        </p:spPr>
        <p:txBody>
          <a:bodyPr/>
          <a:lstStyle/>
          <a:p>
            <a:r>
              <a:rPr lang="en-IN" b="1" dirty="0">
                <a:solidFill>
                  <a:srgbClr val="FF0000"/>
                </a:solidFill>
              </a:rPr>
              <a:t>Key Elements</a:t>
            </a:r>
          </a:p>
        </p:txBody>
      </p:sp>
      <p:sp>
        <p:nvSpPr>
          <p:cNvPr id="4" name="Rectangle 1">
            <a:extLst>
              <a:ext uri="{FF2B5EF4-FFF2-40B4-BE49-F238E27FC236}">
                <a16:creationId xmlns:a16="http://schemas.microsoft.com/office/drawing/2014/main" id="{10515F8C-B0D0-5BEC-CCB4-658C4F8C3A7B}"/>
              </a:ext>
            </a:extLst>
          </p:cNvPr>
          <p:cNvSpPr>
            <a:spLocks noGrp="1" noChangeArrowheads="1"/>
          </p:cNvSpPr>
          <p:nvPr>
            <p:ph idx="1"/>
          </p:nvPr>
        </p:nvSpPr>
        <p:spPr bwMode="auto">
          <a:xfrm>
            <a:off x="553720" y="1151125"/>
            <a:ext cx="8651240" cy="5640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r>
              <a:rPr lang="en-US" b="1" dirty="0"/>
              <a:t>Role</a:t>
            </a:r>
            <a:r>
              <a:rPr lang="en-US" dirty="0"/>
              <a:t> – Who the AI should act as</a:t>
            </a:r>
            <a:endParaRPr lang="en-IN" dirty="0"/>
          </a:p>
          <a:p>
            <a:pPr lvl="0"/>
            <a:r>
              <a:rPr lang="en-US" b="1" dirty="0"/>
              <a:t>Task</a:t>
            </a:r>
            <a:r>
              <a:rPr lang="en-US" dirty="0"/>
              <a:t> – What needs to be done</a:t>
            </a:r>
            <a:endParaRPr lang="en-IN" dirty="0"/>
          </a:p>
          <a:p>
            <a:pPr lvl="0"/>
            <a:r>
              <a:rPr lang="en-US" b="1" dirty="0"/>
              <a:t>Audience</a:t>
            </a:r>
            <a:r>
              <a:rPr lang="en-US" dirty="0"/>
              <a:t> – Who the output is for</a:t>
            </a:r>
            <a:endParaRPr lang="en-IN" dirty="0"/>
          </a:p>
          <a:p>
            <a:pPr lvl="0"/>
            <a:r>
              <a:rPr lang="en-US" b="1" dirty="0"/>
              <a:t>Constraints</a:t>
            </a:r>
            <a:r>
              <a:rPr lang="en-US" dirty="0"/>
              <a:t> – Length, level, syllabus, format</a:t>
            </a:r>
            <a:endParaRPr lang="en-IN" dirty="0"/>
          </a:p>
          <a:p>
            <a:pPr lvl="0"/>
            <a:r>
              <a:rPr lang="en-US" b="1" dirty="0"/>
              <a:t>Output Format</a:t>
            </a:r>
            <a:r>
              <a:rPr lang="en-US" dirty="0"/>
              <a:t> – Table, PDF, MCQs, code, notes</a:t>
            </a:r>
          </a:p>
          <a:p>
            <a:r>
              <a:rPr lang="en-US" b="1" dirty="0"/>
              <a:t>Domain expertise</a:t>
            </a:r>
            <a:r>
              <a:rPr lang="en-US" dirty="0"/>
              <a:t> (what they know)</a:t>
            </a:r>
          </a:p>
          <a:p>
            <a:r>
              <a:rPr lang="en-US" b="1" dirty="0"/>
              <a:t>Responsibility level</a:t>
            </a:r>
            <a:r>
              <a:rPr lang="en-US" dirty="0"/>
              <a:t> (junior, senior, lead)</a:t>
            </a:r>
          </a:p>
          <a:p>
            <a:r>
              <a:rPr lang="en-US" b="1" dirty="0"/>
              <a:t>Decision scope</a:t>
            </a:r>
            <a:r>
              <a:rPr lang="en-US" dirty="0"/>
              <a:t> (recommend, design, approve)</a:t>
            </a:r>
          </a:p>
          <a:p>
            <a:r>
              <a:rPr lang="en-US" b="1" dirty="0"/>
              <a:t>Constraints</a:t>
            </a:r>
            <a:r>
              <a:rPr lang="en-US" dirty="0"/>
              <a:t> (time, budget, security, compliance)</a:t>
            </a:r>
          </a:p>
          <a:p>
            <a:r>
              <a:rPr lang="en-US" b="1" dirty="0"/>
              <a:t>Output expectations</a:t>
            </a:r>
            <a:r>
              <a:rPr lang="en-US" dirty="0"/>
              <a:t> (depth, format, risk awareness)</a:t>
            </a:r>
          </a:p>
          <a:p>
            <a:pPr lvl="0"/>
            <a:endParaRPr lang="en-IN" dirty="0"/>
          </a:p>
        </p:txBody>
      </p:sp>
    </p:spTree>
    <p:extLst>
      <p:ext uri="{BB962C8B-B14F-4D97-AF65-F5344CB8AC3E}">
        <p14:creationId xmlns:p14="http://schemas.microsoft.com/office/powerpoint/2010/main" val="9699457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10A7D-738D-5BE5-C826-CF9617F0BDC8}"/>
              </a:ext>
            </a:extLst>
          </p:cNvPr>
          <p:cNvSpPr>
            <a:spLocks noGrp="1"/>
          </p:cNvSpPr>
          <p:nvPr>
            <p:ph type="title"/>
          </p:nvPr>
        </p:nvSpPr>
        <p:spPr/>
        <p:txBody>
          <a:bodyPr/>
          <a:lstStyle/>
          <a:p>
            <a:r>
              <a:rPr lang="en-IN" b="1" dirty="0">
                <a:solidFill>
                  <a:srgbClr val="FF0000"/>
                </a:solidFill>
              </a:rPr>
              <a:t>Industry-Grade Role Writing Formula</a:t>
            </a:r>
          </a:p>
        </p:txBody>
      </p:sp>
      <p:sp>
        <p:nvSpPr>
          <p:cNvPr id="3" name="Content Placeholder 2">
            <a:extLst>
              <a:ext uri="{FF2B5EF4-FFF2-40B4-BE49-F238E27FC236}">
                <a16:creationId xmlns:a16="http://schemas.microsoft.com/office/drawing/2014/main" id="{CFC1C941-6649-66F2-7D87-6815D25097A2}"/>
              </a:ext>
            </a:extLst>
          </p:cNvPr>
          <p:cNvSpPr>
            <a:spLocks noGrp="1"/>
          </p:cNvSpPr>
          <p:nvPr>
            <p:ph idx="1"/>
          </p:nvPr>
        </p:nvSpPr>
        <p:spPr/>
        <p:txBody>
          <a:bodyPr/>
          <a:lstStyle/>
          <a:p>
            <a:r>
              <a:rPr lang="en-US" dirty="0"/>
              <a:t>Act as a [SENIORITY] [ROLE]</a:t>
            </a:r>
          </a:p>
          <a:p>
            <a:r>
              <a:rPr lang="en-US" dirty="0"/>
              <a:t>with experience in [DOMAIN / TECH STACK].</a:t>
            </a:r>
          </a:p>
          <a:p>
            <a:r>
              <a:rPr lang="en-US" dirty="0"/>
              <a:t>Your responsibility is to [CORE DECISION / TASK].</a:t>
            </a:r>
          </a:p>
          <a:p>
            <a:r>
              <a:rPr lang="en-US" dirty="0"/>
              <a:t>You must consider [CONSTRAINTS].</a:t>
            </a:r>
          </a:p>
          <a:p>
            <a:r>
              <a:rPr lang="en-US" dirty="0"/>
              <a:t>Your output should optimize for [BUSINESS GOAL].</a:t>
            </a:r>
            <a:endParaRPr lang="en-IN" dirty="0"/>
          </a:p>
        </p:txBody>
      </p:sp>
    </p:spTree>
    <p:extLst>
      <p:ext uri="{BB962C8B-B14F-4D97-AF65-F5344CB8AC3E}">
        <p14:creationId xmlns:p14="http://schemas.microsoft.com/office/powerpoint/2010/main" val="31928355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66A01-A1A1-539A-12BD-3431853A4FC8}"/>
              </a:ext>
            </a:extLst>
          </p:cNvPr>
          <p:cNvSpPr>
            <a:spLocks noGrp="1"/>
          </p:cNvSpPr>
          <p:nvPr>
            <p:ph type="title"/>
          </p:nvPr>
        </p:nvSpPr>
        <p:spPr/>
        <p:txBody>
          <a:bodyPr/>
          <a:lstStyle/>
          <a:p>
            <a:pPr algn="ctr"/>
            <a:r>
              <a:rPr lang="en-IN" b="1" dirty="0">
                <a:solidFill>
                  <a:srgbClr val="00B050"/>
                </a:solidFill>
              </a:rPr>
              <a:t>Constrain based Prompt Engineering </a:t>
            </a:r>
          </a:p>
        </p:txBody>
      </p:sp>
      <p:sp>
        <p:nvSpPr>
          <p:cNvPr id="3" name="Content Placeholder 2">
            <a:extLst>
              <a:ext uri="{FF2B5EF4-FFF2-40B4-BE49-F238E27FC236}">
                <a16:creationId xmlns:a16="http://schemas.microsoft.com/office/drawing/2014/main" id="{4115353C-0DDF-7743-B7B0-CFE3606DF123}"/>
              </a:ext>
            </a:extLst>
          </p:cNvPr>
          <p:cNvSpPr>
            <a:spLocks noGrp="1"/>
          </p:cNvSpPr>
          <p:nvPr>
            <p:ph idx="1"/>
          </p:nvPr>
        </p:nvSpPr>
        <p:spPr/>
        <p:txBody>
          <a:bodyPr>
            <a:normAutofit lnSpcReduction="10000"/>
          </a:bodyPr>
          <a:lstStyle/>
          <a:p>
            <a:pPr marL="0" indent="0" algn="just">
              <a:buNone/>
            </a:pPr>
            <a:r>
              <a:rPr lang="en-US" dirty="0">
                <a:solidFill>
                  <a:srgbClr val="00B050"/>
                </a:solidFill>
              </a:rPr>
              <a:t>Define</a:t>
            </a:r>
            <a:r>
              <a:rPr lang="en-US" dirty="0"/>
              <a:t> : Constraint-Based Prompt Engineering is a prompting technique where you explicitly restrict or control the AI’s output by setting rules, limits, conditions, or boundaries on </a:t>
            </a:r>
            <a:r>
              <a:rPr lang="en-US" i="1" dirty="0"/>
              <a:t>what</a:t>
            </a:r>
            <a:r>
              <a:rPr lang="en-US" dirty="0"/>
              <a:t>, </a:t>
            </a:r>
            <a:r>
              <a:rPr lang="en-US" i="1" dirty="0"/>
              <a:t>how</a:t>
            </a:r>
            <a:r>
              <a:rPr lang="en-US" dirty="0"/>
              <a:t>, or </a:t>
            </a:r>
            <a:r>
              <a:rPr lang="en-US" i="1" dirty="0"/>
              <a:t>how much</a:t>
            </a:r>
            <a:r>
              <a:rPr lang="en-US" dirty="0"/>
              <a:t> it can respond.</a:t>
            </a:r>
          </a:p>
          <a:p>
            <a:pPr marL="0" indent="0">
              <a:buNone/>
            </a:pPr>
            <a:r>
              <a:rPr lang="en-IN" b="1" dirty="0">
                <a:solidFill>
                  <a:srgbClr val="00B050"/>
                </a:solidFill>
              </a:rPr>
              <a:t>Constraints</a:t>
            </a:r>
            <a:r>
              <a:rPr lang="en-IN" dirty="0"/>
              <a:t>:</a:t>
            </a:r>
          </a:p>
          <a:p>
            <a:r>
              <a:rPr lang="en-US" dirty="0"/>
              <a:t>Ensures </a:t>
            </a:r>
            <a:r>
              <a:rPr lang="en-US" b="1" dirty="0"/>
              <a:t>consistency</a:t>
            </a:r>
            <a:endParaRPr lang="en-US" dirty="0"/>
          </a:p>
          <a:p>
            <a:r>
              <a:rPr lang="en-US" dirty="0"/>
              <a:t>Prevents </a:t>
            </a:r>
            <a:r>
              <a:rPr lang="en-US" b="1" dirty="0"/>
              <a:t>irrelevant or unsafe output</a:t>
            </a:r>
            <a:endParaRPr lang="en-US" dirty="0"/>
          </a:p>
          <a:p>
            <a:r>
              <a:rPr lang="en-US" dirty="0"/>
              <a:t>Matches </a:t>
            </a:r>
            <a:r>
              <a:rPr lang="en-US" b="1" dirty="0"/>
              <a:t>business, legal, or academic rules</a:t>
            </a:r>
            <a:endParaRPr lang="en-US" dirty="0"/>
          </a:p>
          <a:p>
            <a:r>
              <a:rPr lang="en-US" dirty="0"/>
              <a:t>Improves </a:t>
            </a:r>
            <a:r>
              <a:rPr lang="en-US" b="1" dirty="0"/>
              <a:t>precision and reliability</a:t>
            </a:r>
            <a:endParaRPr lang="en-US" dirty="0"/>
          </a:p>
          <a:p>
            <a:r>
              <a:rPr lang="en-US" dirty="0"/>
              <a:t>Reduces hallucinations</a:t>
            </a:r>
          </a:p>
          <a:p>
            <a:pPr marL="0" indent="0">
              <a:buNone/>
            </a:pPr>
            <a:endParaRPr lang="en-US" dirty="0"/>
          </a:p>
          <a:p>
            <a:pPr marL="0" indent="0">
              <a:buNone/>
            </a:pPr>
            <a:endParaRPr lang="en-US" dirty="0"/>
          </a:p>
          <a:p>
            <a:pPr marL="0" indent="0">
              <a:buNone/>
            </a:pPr>
            <a:endParaRPr lang="en-US" dirty="0"/>
          </a:p>
          <a:p>
            <a:endParaRPr lang="en-IN" dirty="0"/>
          </a:p>
        </p:txBody>
      </p:sp>
    </p:spTree>
    <p:extLst>
      <p:ext uri="{BB962C8B-B14F-4D97-AF65-F5344CB8AC3E}">
        <p14:creationId xmlns:p14="http://schemas.microsoft.com/office/powerpoint/2010/main" val="40701261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CF53E-53EA-5391-988F-260D7D6396C4}"/>
              </a:ext>
            </a:extLst>
          </p:cNvPr>
          <p:cNvSpPr>
            <a:spLocks noGrp="1"/>
          </p:cNvSpPr>
          <p:nvPr>
            <p:ph type="title"/>
          </p:nvPr>
        </p:nvSpPr>
        <p:spPr>
          <a:xfrm>
            <a:off x="838200" y="365125"/>
            <a:ext cx="11069320" cy="1325563"/>
          </a:xfrm>
        </p:spPr>
        <p:txBody>
          <a:bodyPr/>
          <a:lstStyle/>
          <a:p>
            <a:r>
              <a:rPr lang="en-US" b="1" dirty="0">
                <a:solidFill>
                  <a:srgbClr val="00B050"/>
                </a:solidFill>
              </a:rPr>
              <a:t>General Structure of a Constraint-Based Prompt</a:t>
            </a:r>
            <a:endParaRPr lang="en-IN" b="1" dirty="0">
              <a:solidFill>
                <a:srgbClr val="00B050"/>
              </a:solidFill>
            </a:endParaRPr>
          </a:p>
        </p:txBody>
      </p:sp>
      <p:sp>
        <p:nvSpPr>
          <p:cNvPr id="3" name="Content Placeholder 2">
            <a:extLst>
              <a:ext uri="{FF2B5EF4-FFF2-40B4-BE49-F238E27FC236}">
                <a16:creationId xmlns:a16="http://schemas.microsoft.com/office/drawing/2014/main" id="{266F6D46-367C-F751-5BEA-CA803E551BE3}"/>
              </a:ext>
            </a:extLst>
          </p:cNvPr>
          <p:cNvSpPr>
            <a:spLocks noGrp="1"/>
          </p:cNvSpPr>
          <p:nvPr>
            <p:ph idx="1"/>
          </p:nvPr>
        </p:nvSpPr>
        <p:spPr/>
        <p:txBody>
          <a:bodyPr/>
          <a:lstStyle/>
          <a:p>
            <a:pPr marL="0" indent="0">
              <a:buNone/>
            </a:pPr>
            <a:r>
              <a:rPr lang="en-IN" dirty="0"/>
              <a:t>Perform [TASK].</a:t>
            </a:r>
          </a:p>
          <a:p>
            <a:pPr marL="0" indent="0">
              <a:buNone/>
            </a:pPr>
            <a:r>
              <a:rPr lang="en-IN" dirty="0"/>
              <a:t>Follow these constraints:</a:t>
            </a:r>
          </a:p>
          <a:p>
            <a:pPr marL="0" indent="0">
              <a:buNone/>
            </a:pPr>
            <a:r>
              <a:rPr lang="en-IN" dirty="0"/>
              <a:t>1. [CONTENT constraint]</a:t>
            </a:r>
          </a:p>
          <a:p>
            <a:pPr marL="0" indent="0">
              <a:buNone/>
            </a:pPr>
            <a:r>
              <a:rPr lang="en-IN" dirty="0"/>
              <a:t>2. [FORMAT constraint]</a:t>
            </a:r>
          </a:p>
          <a:p>
            <a:pPr marL="0" indent="0">
              <a:buNone/>
            </a:pPr>
            <a:r>
              <a:rPr lang="en-IN" dirty="0"/>
              <a:t>3. [LENGTH constraint]</a:t>
            </a:r>
          </a:p>
          <a:p>
            <a:pPr marL="0" indent="0">
              <a:buNone/>
            </a:pPr>
            <a:r>
              <a:rPr lang="en-IN" dirty="0"/>
              <a:t>4. [STYLE / TONE constraint]</a:t>
            </a:r>
          </a:p>
          <a:p>
            <a:pPr marL="0" indent="0">
              <a:buNone/>
            </a:pPr>
            <a:r>
              <a:rPr lang="en-IN" dirty="0"/>
              <a:t>5. [DOMAIN / TOOL constraint]</a:t>
            </a:r>
          </a:p>
        </p:txBody>
      </p:sp>
    </p:spTree>
    <p:extLst>
      <p:ext uri="{BB962C8B-B14F-4D97-AF65-F5344CB8AC3E}">
        <p14:creationId xmlns:p14="http://schemas.microsoft.com/office/powerpoint/2010/main" val="35748559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E7942-A34D-7155-082D-583932997EBE}"/>
              </a:ext>
            </a:extLst>
          </p:cNvPr>
          <p:cNvSpPr>
            <a:spLocks noGrp="1"/>
          </p:cNvSpPr>
          <p:nvPr>
            <p:ph type="title"/>
          </p:nvPr>
        </p:nvSpPr>
        <p:spPr/>
        <p:txBody>
          <a:bodyPr/>
          <a:lstStyle/>
          <a:p>
            <a:r>
              <a:rPr lang="en-US" b="1" dirty="0">
                <a:solidFill>
                  <a:srgbClr val="00B050"/>
                </a:solidFill>
              </a:rPr>
              <a:t>Types of Constraint-Based Prompt Engineering</a:t>
            </a:r>
            <a:endParaRPr lang="en-IN" b="1" dirty="0">
              <a:solidFill>
                <a:srgbClr val="00B050"/>
              </a:solidFill>
            </a:endParaRPr>
          </a:p>
        </p:txBody>
      </p:sp>
      <p:sp>
        <p:nvSpPr>
          <p:cNvPr id="3" name="Content Placeholder 2">
            <a:extLst>
              <a:ext uri="{FF2B5EF4-FFF2-40B4-BE49-F238E27FC236}">
                <a16:creationId xmlns:a16="http://schemas.microsoft.com/office/drawing/2014/main" id="{F4C7F3A3-4396-97F8-4F67-3A229F177020}"/>
              </a:ext>
            </a:extLst>
          </p:cNvPr>
          <p:cNvSpPr>
            <a:spLocks noGrp="1"/>
          </p:cNvSpPr>
          <p:nvPr>
            <p:ph idx="1"/>
          </p:nvPr>
        </p:nvSpPr>
        <p:spPr>
          <a:xfrm>
            <a:off x="838200" y="1825624"/>
            <a:ext cx="10515600" cy="4869815"/>
          </a:xfrm>
        </p:spPr>
        <p:txBody>
          <a:bodyPr>
            <a:normAutofit lnSpcReduction="10000"/>
          </a:bodyPr>
          <a:lstStyle/>
          <a:p>
            <a:pPr marL="0" indent="0">
              <a:buNone/>
            </a:pPr>
            <a:r>
              <a:rPr lang="en-IN" b="1" dirty="0">
                <a:solidFill>
                  <a:srgbClr val="00B050"/>
                </a:solidFill>
              </a:rPr>
              <a:t>Length Constraints: </a:t>
            </a:r>
            <a:r>
              <a:rPr lang="en-US" dirty="0"/>
              <a:t>Limits the size of the response.</a:t>
            </a:r>
          </a:p>
          <a:p>
            <a:pPr marL="514350" indent="-514350">
              <a:buFont typeface="+mj-lt"/>
              <a:buAutoNum type="arabicPeriod"/>
            </a:pPr>
            <a:r>
              <a:rPr lang="en-US" dirty="0"/>
              <a:t>Explain polymorphism in exactly 100 words.</a:t>
            </a:r>
          </a:p>
          <a:p>
            <a:pPr marL="514350" indent="-514350">
              <a:buFont typeface="+mj-lt"/>
              <a:buAutoNum type="arabicPeriod"/>
            </a:pPr>
            <a:r>
              <a:rPr lang="en-US" b="1" dirty="0"/>
              <a:t>Industry Use:</a:t>
            </a:r>
            <a:r>
              <a:rPr lang="en-US" dirty="0"/>
              <a:t> Executive summaries, app UI text, abstracts</a:t>
            </a:r>
            <a:r>
              <a:rPr lang="en-IN" dirty="0"/>
              <a:t>.</a:t>
            </a:r>
          </a:p>
          <a:p>
            <a:pPr marL="0" indent="0">
              <a:buNone/>
            </a:pPr>
            <a:r>
              <a:rPr lang="en-IN" b="1" dirty="0">
                <a:solidFill>
                  <a:srgbClr val="00B050"/>
                </a:solidFill>
              </a:rPr>
              <a:t>Format Constraints: </a:t>
            </a:r>
            <a:r>
              <a:rPr lang="en-US" dirty="0"/>
              <a:t>Controls how the output is structured.</a:t>
            </a:r>
          </a:p>
          <a:p>
            <a:pPr marL="514350" indent="-514350">
              <a:buFont typeface="+mj-lt"/>
              <a:buAutoNum type="arabicPeriod"/>
            </a:pPr>
            <a:r>
              <a:rPr lang="en-US" dirty="0"/>
              <a:t>Explain abstraction in a table with 3 rows and 3 columns.</a:t>
            </a:r>
          </a:p>
          <a:p>
            <a:pPr marL="514350" indent="-514350">
              <a:buFont typeface="+mj-lt"/>
              <a:buAutoNum type="arabicPeriod"/>
            </a:pPr>
            <a:r>
              <a:rPr lang="en-US" b="1" dirty="0"/>
              <a:t>Industry Use:</a:t>
            </a:r>
            <a:r>
              <a:rPr lang="en-US" dirty="0"/>
              <a:t> Reports, dashboards, documentation.</a:t>
            </a:r>
          </a:p>
          <a:p>
            <a:pPr marL="0" indent="0">
              <a:buNone/>
            </a:pPr>
            <a:r>
              <a:rPr lang="en-IN" b="1" dirty="0">
                <a:solidFill>
                  <a:srgbClr val="00B050"/>
                </a:solidFill>
              </a:rPr>
              <a:t>Content Constraints: </a:t>
            </a:r>
            <a:r>
              <a:rPr lang="en-US" dirty="0"/>
              <a:t>Restricts what information is allowed or disallowed.</a:t>
            </a:r>
          </a:p>
          <a:p>
            <a:pPr marL="514350" indent="-514350">
              <a:buFont typeface="+mj-lt"/>
              <a:buAutoNum type="arabicPeriod"/>
            </a:pPr>
            <a:r>
              <a:rPr lang="en-US" dirty="0"/>
              <a:t>Explain encapsulation without using code examples.</a:t>
            </a:r>
          </a:p>
          <a:p>
            <a:pPr marL="514350" indent="-514350">
              <a:buFont typeface="+mj-lt"/>
              <a:buAutoNum type="arabicPeriod"/>
            </a:pPr>
            <a:r>
              <a:rPr lang="en-IN" b="1" dirty="0"/>
              <a:t>Industry Use:</a:t>
            </a:r>
            <a:r>
              <a:rPr lang="en-IN" dirty="0"/>
              <a:t> Compliance, non-technical audiences.</a:t>
            </a:r>
            <a:endParaRPr lang="en-US" dirty="0"/>
          </a:p>
        </p:txBody>
      </p:sp>
    </p:spTree>
    <p:extLst>
      <p:ext uri="{BB962C8B-B14F-4D97-AF65-F5344CB8AC3E}">
        <p14:creationId xmlns:p14="http://schemas.microsoft.com/office/powerpoint/2010/main" val="11497992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13FC8D-80F6-6ACB-7DAF-B394B29FF067}"/>
              </a:ext>
            </a:extLst>
          </p:cNvPr>
          <p:cNvSpPr>
            <a:spLocks noGrp="1"/>
          </p:cNvSpPr>
          <p:nvPr>
            <p:ph idx="1"/>
          </p:nvPr>
        </p:nvSpPr>
        <p:spPr>
          <a:xfrm>
            <a:off x="533400" y="352424"/>
            <a:ext cx="10515600" cy="6393815"/>
          </a:xfrm>
        </p:spPr>
        <p:txBody>
          <a:bodyPr>
            <a:normAutofit lnSpcReduction="10000"/>
          </a:bodyPr>
          <a:lstStyle/>
          <a:p>
            <a:pPr marL="0" indent="0">
              <a:buNone/>
            </a:pPr>
            <a:r>
              <a:rPr lang="en-IN" sz="2500" b="1" dirty="0">
                <a:solidFill>
                  <a:srgbClr val="00B050"/>
                </a:solidFill>
              </a:rPr>
              <a:t>Style / Tone Constraints : </a:t>
            </a:r>
            <a:r>
              <a:rPr lang="en-US" sz="2500" dirty="0"/>
              <a:t>Controls writing style or complexity.</a:t>
            </a:r>
          </a:p>
          <a:p>
            <a:pPr marL="514350" indent="-514350">
              <a:buFont typeface="+mj-lt"/>
              <a:buAutoNum type="arabicPeriod"/>
            </a:pPr>
            <a:r>
              <a:rPr lang="en-US" sz="2500" dirty="0"/>
              <a:t>Explain polymorphism in simple language suitable for school students.</a:t>
            </a:r>
          </a:p>
          <a:p>
            <a:pPr marL="514350" indent="-514350">
              <a:buFont typeface="+mj-lt"/>
              <a:buAutoNum type="arabicPeriod"/>
            </a:pPr>
            <a:r>
              <a:rPr lang="en-US" sz="2500" b="1" dirty="0"/>
              <a:t>Industry Use:</a:t>
            </a:r>
            <a:r>
              <a:rPr lang="en-US" sz="2500" dirty="0"/>
              <a:t> Customer communication, training material</a:t>
            </a:r>
          </a:p>
          <a:p>
            <a:pPr marL="0" indent="0">
              <a:buNone/>
            </a:pPr>
            <a:r>
              <a:rPr lang="en-IN" sz="2400" b="1" dirty="0">
                <a:solidFill>
                  <a:srgbClr val="00B050"/>
                </a:solidFill>
              </a:rPr>
              <a:t>Domain / Knowledge Constraints: </a:t>
            </a:r>
            <a:r>
              <a:rPr lang="en-US" sz="2400" dirty="0"/>
              <a:t>Limits the scope of knowledge.</a:t>
            </a:r>
          </a:p>
          <a:p>
            <a:pPr marL="457200" indent="-457200">
              <a:buFont typeface="+mj-lt"/>
              <a:buAutoNum type="arabicPeriod"/>
            </a:pPr>
            <a:r>
              <a:rPr lang="en-US" sz="2500" dirty="0"/>
              <a:t>Answer using only Python OOP concepts.</a:t>
            </a:r>
          </a:p>
          <a:p>
            <a:pPr marL="457200" indent="-457200">
              <a:buFont typeface="+mj-lt"/>
              <a:buAutoNum type="arabicPeriod"/>
            </a:pPr>
            <a:r>
              <a:rPr lang="en-IN" sz="2400" b="1" dirty="0"/>
              <a:t>Industry Use:</a:t>
            </a:r>
            <a:r>
              <a:rPr lang="en-IN" sz="2400" dirty="0"/>
              <a:t> Technology-specific documentation</a:t>
            </a:r>
          </a:p>
          <a:p>
            <a:pPr marL="0" indent="0">
              <a:buNone/>
            </a:pPr>
            <a:r>
              <a:rPr lang="en-IN" sz="2400" b="1" dirty="0">
                <a:solidFill>
                  <a:srgbClr val="00B050"/>
                </a:solidFill>
              </a:rPr>
              <a:t>Rule-Based Constraints: </a:t>
            </a:r>
            <a:r>
              <a:rPr lang="en-US" sz="2400" dirty="0"/>
              <a:t>Explicit rules the model must follow.</a:t>
            </a:r>
          </a:p>
          <a:p>
            <a:pPr marL="457200" indent="-457200">
              <a:buFont typeface="+mj-lt"/>
              <a:buAutoNum type="arabicPeriod"/>
            </a:pPr>
            <a:r>
              <a:rPr lang="en-US" sz="2500" dirty="0"/>
              <a:t>Use bullet points only. Do not exceed 5 points.</a:t>
            </a:r>
          </a:p>
          <a:p>
            <a:pPr marL="457200" indent="-457200">
              <a:buFont typeface="+mj-lt"/>
              <a:buAutoNum type="arabicPeriod"/>
            </a:pPr>
            <a:r>
              <a:rPr lang="en-US" sz="2400" b="1" dirty="0"/>
              <a:t>Industry Use:</a:t>
            </a:r>
            <a:r>
              <a:rPr lang="en-US" sz="2400" dirty="0"/>
              <a:t> SOPs, policies, checklists.</a:t>
            </a:r>
          </a:p>
          <a:p>
            <a:pPr marL="0" indent="0">
              <a:buNone/>
            </a:pPr>
            <a:r>
              <a:rPr lang="en-IN" sz="2400" b="1" dirty="0">
                <a:solidFill>
                  <a:srgbClr val="00B050"/>
                </a:solidFill>
              </a:rPr>
              <a:t>Audience Constraints: </a:t>
            </a:r>
            <a:r>
              <a:rPr lang="en-US" sz="2400" dirty="0"/>
              <a:t>Tailors output to a specific user group.</a:t>
            </a:r>
          </a:p>
          <a:p>
            <a:pPr marL="457200" indent="-457200">
              <a:buFont typeface="+mj-lt"/>
              <a:buAutoNum type="arabicPeriod"/>
            </a:pPr>
            <a:r>
              <a:rPr lang="en-US" sz="2400" dirty="0"/>
              <a:t>Explain abstract classes for first-year engineering students.</a:t>
            </a:r>
          </a:p>
          <a:p>
            <a:pPr marL="457200" indent="-457200">
              <a:buFont typeface="+mj-lt"/>
              <a:buAutoNum type="arabicPeriod"/>
            </a:pPr>
            <a:r>
              <a:rPr lang="en-US" sz="2400" dirty="0"/>
              <a:t>year engineering students.</a:t>
            </a:r>
          </a:p>
          <a:p>
            <a:pPr marL="0" indent="0">
              <a:buNone/>
            </a:pPr>
            <a:r>
              <a:rPr lang="en-IN" sz="2400" b="1" dirty="0">
                <a:solidFill>
                  <a:srgbClr val="00B050"/>
                </a:solidFill>
              </a:rPr>
              <a:t>Output Quality Constraints: </a:t>
            </a:r>
            <a:r>
              <a:rPr lang="en-US" sz="2400" dirty="0"/>
              <a:t>Defines depth or reasoning level.</a:t>
            </a:r>
          </a:p>
          <a:p>
            <a:pPr marL="457200" indent="-457200">
              <a:buFont typeface="+mj-lt"/>
              <a:buAutoNum type="arabicPeriod"/>
            </a:pPr>
            <a:r>
              <a:rPr lang="en-US" sz="2400" dirty="0"/>
              <a:t>Provide a high-level overview without implementation details.</a:t>
            </a:r>
          </a:p>
          <a:p>
            <a:pPr marL="457200" indent="-457200">
              <a:buFont typeface="+mj-lt"/>
              <a:buAutoNum type="arabicPeriod"/>
            </a:pPr>
            <a:r>
              <a:rPr lang="en-IN" sz="2400" b="1" dirty="0"/>
              <a:t>Industry Use:</a:t>
            </a:r>
            <a:r>
              <a:rPr lang="en-IN" sz="2400" dirty="0"/>
              <a:t> Management briefs</a:t>
            </a:r>
            <a:endParaRPr lang="en-US" sz="2400" dirty="0"/>
          </a:p>
          <a:p>
            <a:pPr marL="0" indent="0">
              <a:buNone/>
            </a:pPr>
            <a:endParaRPr lang="en-US" sz="2400" dirty="0"/>
          </a:p>
          <a:p>
            <a:pPr marL="0" indent="0">
              <a:buNone/>
            </a:pPr>
            <a:endParaRPr lang="en-US" sz="2400" dirty="0"/>
          </a:p>
          <a:p>
            <a:pPr marL="457200" indent="-457200">
              <a:buFont typeface="+mj-lt"/>
              <a:buAutoNum type="arabicPeriod"/>
            </a:pPr>
            <a:endParaRPr lang="en-US" sz="2400" dirty="0"/>
          </a:p>
          <a:p>
            <a:pPr marL="457200" indent="-457200">
              <a:buFont typeface="+mj-lt"/>
              <a:buAutoNum type="arabicPeriod"/>
            </a:pPr>
            <a:endParaRPr lang="en-US" sz="2400" dirty="0"/>
          </a:p>
          <a:p>
            <a:pPr marL="457200" indent="-457200">
              <a:buFont typeface="+mj-lt"/>
              <a:buAutoNum type="arabicPeriod"/>
            </a:pPr>
            <a:endParaRPr lang="en-US" sz="2400" dirty="0"/>
          </a:p>
          <a:p>
            <a:pPr marL="0" indent="0">
              <a:buNone/>
            </a:pPr>
            <a:endParaRPr lang="en-IN" sz="2500" dirty="0"/>
          </a:p>
        </p:txBody>
      </p:sp>
    </p:spTree>
    <p:extLst>
      <p:ext uri="{BB962C8B-B14F-4D97-AF65-F5344CB8AC3E}">
        <p14:creationId xmlns:p14="http://schemas.microsoft.com/office/powerpoint/2010/main" val="38849740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E2C743-88ED-0942-EC03-FE62320C6C2F}"/>
              </a:ext>
            </a:extLst>
          </p:cNvPr>
          <p:cNvSpPr>
            <a:spLocks noGrp="1"/>
          </p:cNvSpPr>
          <p:nvPr>
            <p:ph idx="1"/>
          </p:nvPr>
        </p:nvSpPr>
        <p:spPr>
          <a:xfrm>
            <a:off x="381000" y="413384"/>
            <a:ext cx="10515600" cy="6292215"/>
          </a:xfrm>
        </p:spPr>
        <p:txBody>
          <a:bodyPr>
            <a:normAutofit fontScale="92500" lnSpcReduction="10000"/>
          </a:bodyPr>
          <a:lstStyle/>
          <a:p>
            <a:pPr marL="0" indent="0">
              <a:buNone/>
            </a:pPr>
            <a:r>
              <a:rPr lang="en-IN" b="1" dirty="0">
                <a:solidFill>
                  <a:srgbClr val="00B050"/>
                </a:solidFill>
              </a:rPr>
              <a:t>Tool / Resource Constraints </a:t>
            </a:r>
            <a:r>
              <a:rPr lang="en-IN" dirty="0"/>
              <a:t>: </a:t>
            </a:r>
            <a:r>
              <a:rPr lang="en-US" dirty="0"/>
              <a:t>Restricts tools or methods used.</a:t>
            </a:r>
          </a:p>
          <a:p>
            <a:pPr marL="514350" indent="-514350">
              <a:buFont typeface="+mj-lt"/>
              <a:buAutoNum type="arabicPeriod"/>
            </a:pPr>
            <a:r>
              <a:rPr lang="en-US" dirty="0"/>
              <a:t>Solve the problem without using libraries or external references.</a:t>
            </a:r>
          </a:p>
          <a:p>
            <a:pPr marL="514350" indent="-514350">
              <a:buFont typeface="+mj-lt"/>
              <a:buAutoNum type="arabicPeriod"/>
            </a:pPr>
            <a:r>
              <a:rPr lang="en-US" b="1" dirty="0"/>
              <a:t>Industry Use:</a:t>
            </a:r>
            <a:r>
              <a:rPr lang="en-US" dirty="0"/>
              <a:t> Coding assessments, exams.</a:t>
            </a:r>
          </a:p>
          <a:p>
            <a:pPr marL="0" indent="0">
              <a:buNone/>
            </a:pPr>
            <a:r>
              <a:rPr lang="en-IN" b="1" dirty="0">
                <a:solidFill>
                  <a:srgbClr val="00B050"/>
                </a:solidFill>
              </a:rPr>
              <a:t>Time / Context Constraints: </a:t>
            </a:r>
            <a:r>
              <a:rPr lang="en-US" dirty="0"/>
              <a:t>Restricts based on timeline or situation.</a:t>
            </a:r>
          </a:p>
          <a:p>
            <a:pPr marL="514350" indent="-514350">
              <a:buFont typeface="+mj-lt"/>
              <a:buAutoNum type="arabicPeriod"/>
            </a:pPr>
            <a:r>
              <a:rPr lang="en-US" dirty="0"/>
              <a:t>Assume the system must respond in under 200ms.</a:t>
            </a:r>
          </a:p>
          <a:p>
            <a:pPr marL="514350" indent="-514350">
              <a:buFont typeface="+mj-lt"/>
              <a:buAutoNum type="arabicPeriod"/>
            </a:pPr>
            <a:r>
              <a:rPr lang="en-US" b="1" dirty="0"/>
              <a:t>Industry Use:</a:t>
            </a:r>
            <a:r>
              <a:rPr lang="en-US" dirty="0"/>
              <a:t> Real-time systems, SLAs</a:t>
            </a:r>
          </a:p>
          <a:p>
            <a:pPr marL="0" indent="0">
              <a:buNone/>
            </a:pPr>
            <a:r>
              <a:rPr lang="en-US" dirty="0"/>
              <a:t>Example : </a:t>
            </a:r>
          </a:p>
          <a:p>
            <a:pPr marL="0" indent="0">
              <a:buNone/>
            </a:pPr>
            <a:r>
              <a:rPr lang="en-IN" dirty="0"/>
              <a:t>Combined Constraint Prompt</a:t>
            </a:r>
          </a:p>
          <a:p>
            <a:pPr marL="0" indent="0">
              <a:buNone/>
            </a:pPr>
            <a:r>
              <a:rPr lang="en-US" dirty="0"/>
              <a:t>Act as a technical writer.</a:t>
            </a:r>
          </a:p>
          <a:p>
            <a:pPr marL="0" indent="0">
              <a:buNone/>
            </a:pPr>
            <a:r>
              <a:rPr lang="en-US" dirty="0"/>
              <a:t>Explain abstraction and polymorphism</a:t>
            </a:r>
          </a:p>
          <a:p>
            <a:pPr marL="0" indent="0">
              <a:buNone/>
            </a:pPr>
            <a:r>
              <a:rPr lang="en-US" dirty="0"/>
              <a:t>in less than 150 words,</a:t>
            </a:r>
          </a:p>
          <a:p>
            <a:pPr marL="0" indent="0">
              <a:buNone/>
            </a:pPr>
            <a:r>
              <a:rPr lang="en-US" dirty="0"/>
              <a:t>using bullet points only,</a:t>
            </a:r>
          </a:p>
          <a:p>
            <a:pPr marL="0" indent="0">
              <a:buNone/>
            </a:pPr>
            <a:r>
              <a:rPr lang="en-US" dirty="0"/>
              <a:t>without code examples,</a:t>
            </a:r>
          </a:p>
          <a:p>
            <a:pPr marL="0" indent="0">
              <a:buNone/>
            </a:pPr>
            <a:r>
              <a:rPr lang="en-US" dirty="0"/>
              <a:t>for non-technical stakeholders.</a:t>
            </a:r>
            <a:endParaRPr lang="en-IN" dirty="0"/>
          </a:p>
        </p:txBody>
      </p:sp>
    </p:spTree>
    <p:extLst>
      <p:ext uri="{BB962C8B-B14F-4D97-AF65-F5344CB8AC3E}">
        <p14:creationId xmlns:p14="http://schemas.microsoft.com/office/powerpoint/2010/main" val="13630718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8348A-E8FC-6A22-0C61-A142B19A71CA}"/>
              </a:ext>
            </a:extLst>
          </p:cNvPr>
          <p:cNvSpPr>
            <a:spLocks noGrp="1"/>
          </p:cNvSpPr>
          <p:nvPr>
            <p:ph type="title"/>
          </p:nvPr>
        </p:nvSpPr>
        <p:spPr/>
        <p:txBody>
          <a:bodyPr/>
          <a:lstStyle/>
          <a:p>
            <a:pPr algn="ctr"/>
            <a:r>
              <a:rPr lang="en-US" b="1" dirty="0">
                <a:solidFill>
                  <a:srgbClr val="00B050"/>
                </a:solidFill>
              </a:rPr>
              <a:t>Persona Prompt Engineering</a:t>
            </a:r>
            <a:endParaRPr lang="en-IN" dirty="0">
              <a:solidFill>
                <a:srgbClr val="00B050"/>
              </a:solidFill>
            </a:endParaRPr>
          </a:p>
        </p:txBody>
      </p:sp>
      <p:sp>
        <p:nvSpPr>
          <p:cNvPr id="3" name="Content Placeholder 2">
            <a:extLst>
              <a:ext uri="{FF2B5EF4-FFF2-40B4-BE49-F238E27FC236}">
                <a16:creationId xmlns:a16="http://schemas.microsoft.com/office/drawing/2014/main" id="{4BD70172-F04B-A0CE-EE65-5E442D316A39}"/>
              </a:ext>
            </a:extLst>
          </p:cNvPr>
          <p:cNvSpPr>
            <a:spLocks noGrp="1"/>
          </p:cNvSpPr>
          <p:nvPr>
            <p:ph idx="1"/>
          </p:nvPr>
        </p:nvSpPr>
        <p:spPr>
          <a:xfrm>
            <a:off x="838200" y="1551305"/>
            <a:ext cx="10515600" cy="4351338"/>
          </a:xfrm>
        </p:spPr>
        <p:txBody>
          <a:bodyPr>
            <a:normAutofit lnSpcReduction="10000"/>
          </a:bodyPr>
          <a:lstStyle/>
          <a:p>
            <a:pPr marL="0" indent="0" algn="just">
              <a:buNone/>
            </a:pPr>
            <a:r>
              <a:rPr lang="en-US" b="1" dirty="0"/>
              <a:t>Persona Prompt Engineering</a:t>
            </a:r>
            <a:r>
              <a:rPr lang="en-US" dirty="0"/>
              <a:t> is a prompting technique where a </a:t>
            </a:r>
            <a:r>
              <a:rPr lang="en-US" b="1" dirty="0"/>
              <a:t>specific personality, behavior pattern, mindset, and communication style</a:t>
            </a:r>
            <a:r>
              <a:rPr lang="en-US" dirty="0"/>
              <a:t> is assigned to an AI system so that its responses remain </a:t>
            </a:r>
            <a:r>
              <a:rPr lang="en-US" b="1" dirty="0"/>
              <a:t>consistent, human-like, and aligned with user expectations</a:t>
            </a:r>
            <a:r>
              <a:rPr lang="en-US" dirty="0"/>
              <a:t>.</a:t>
            </a:r>
          </a:p>
          <a:p>
            <a:pPr algn="just"/>
            <a:r>
              <a:rPr lang="en-US" dirty="0"/>
              <a:t>It focuses on </a:t>
            </a:r>
            <a:r>
              <a:rPr lang="en-US" i="1" dirty="0"/>
              <a:t>how the AI behaves</a:t>
            </a:r>
            <a:r>
              <a:rPr lang="en-US" dirty="0"/>
              <a:t>, not just </a:t>
            </a:r>
            <a:r>
              <a:rPr lang="en-US" i="1" dirty="0"/>
              <a:t>what task it performs</a:t>
            </a:r>
            <a:r>
              <a:rPr lang="en-US" dirty="0"/>
              <a:t>.</a:t>
            </a:r>
          </a:p>
          <a:p>
            <a:r>
              <a:rPr lang="en-IN" b="1" dirty="0"/>
              <a:t>Personality traits</a:t>
            </a:r>
            <a:r>
              <a:rPr lang="en-IN" dirty="0"/>
              <a:t> – friendly, analytical, empathetic</a:t>
            </a:r>
          </a:p>
          <a:p>
            <a:r>
              <a:rPr lang="en-IN" b="1" dirty="0"/>
              <a:t>Mindset</a:t>
            </a:r>
            <a:r>
              <a:rPr lang="en-IN" dirty="0"/>
              <a:t> – cautious, creative, data-driven</a:t>
            </a:r>
          </a:p>
          <a:p>
            <a:r>
              <a:rPr lang="en-IN" b="1" dirty="0"/>
              <a:t>Communication style</a:t>
            </a:r>
            <a:r>
              <a:rPr lang="en-IN" dirty="0"/>
              <a:t> – concise, explanatory, conversational</a:t>
            </a:r>
          </a:p>
          <a:p>
            <a:r>
              <a:rPr lang="en-IN" b="1" dirty="0"/>
              <a:t>Emotional behavior</a:t>
            </a:r>
            <a:r>
              <a:rPr lang="en-IN" dirty="0"/>
              <a:t> – supportive, neutral, assertive</a:t>
            </a:r>
          </a:p>
          <a:p>
            <a:r>
              <a:rPr lang="en-IN" b="1" dirty="0"/>
              <a:t>Audience awareness</a:t>
            </a:r>
            <a:r>
              <a:rPr lang="en-IN" dirty="0"/>
              <a:t> – beginner, expert, customer</a:t>
            </a:r>
          </a:p>
          <a:p>
            <a:pPr algn="just"/>
            <a:endParaRPr lang="en-US" dirty="0"/>
          </a:p>
          <a:p>
            <a:pPr marL="0" indent="0" algn="just">
              <a:buNone/>
            </a:pPr>
            <a:endParaRPr lang="en-US" dirty="0"/>
          </a:p>
          <a:p>
            <a:pPr marL="0" indent="0">
              <a:buNone/>
            </a:pPr>
            <a:endParaRPr lang="en-IN" dirty="0"/>
          </a:p>
        </p:txBody>
      </p:sp>
    </p:spTree>
    <p:extLst>
      <p:ext uri="{BB962C8B-B14F-4D97-AF65-F5344CB8AC3E}">
        <p14:creationId xmlns:p14="http://schemas.microsoft.com/office/powerpoint/2010/main" val="32449692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EEDDE-7D99-FBA5-11FE-A7F1FF93827B}"/>
              </a:ext>
            </a:extLst>
          </p:cNvPr>
          <p:cNvSpPr>
            <a:spLocks noGrp="1"/>
          </p:cNvSpPr>
          <p:nvPr>
            <p:ph type="title"/>
          </p:nvPr>
        </p:nvSpPr>
        <p:spPr/>
        <p:txBody>
          <a:bodyPr/>
          <a:lstStyle/>
          <a:p>
            <a:r>
              <a:rPr lang="en-US" b="1" dirty="0">
                <a:solidFill>
                  <a:srgbClr val="00B050"/>
                </a:solidFill>
              </a:rPr>
              <a:t>General Structure of a Persona Prompt</a:t>
            </a:r>
            <a:endParaRPr lang="en-IN" b="1" dirty="0">
              <a:solidFill>
                <a:srgbClr val="00B050"/>
              </a:solidFill>
            </a:endParaRPr>
          </a:p>
        </p:txBody>
      </p:sp>
      <p:sp>
        <p:nvSpPr>
          <p:cNvPr id="3" name="Content Placeholder 2">
            <a:extLst>
              <a:ext uri="{FF2B5EF4-FFF2-40B4-BE49-F238E27FC236}">
                <a16:creationId xmlns:a16="http://schemas.microsoft.com/office/drawing/2014/main" id="{6FD091CE-0741-888B-1708-D7691BA499BA}"/>
              </a:ext>
            </a:extLst>
          </p:cNvPr>
          <p:cNvSpPr>
            <a:spLocks noGrp="1"/>
          </p:cNvSpPr>
          <p:nvPr>
            <p:ph idx="1"/>
          </p:nvPr>
        </p:nvSpPr>
        <p:spPr/>
        <p:txBody>
          <a:bodyPr/>
          <a:lstStyle/>
          <a:p>
            <a:r>
              <a:rPr lang="en-US" dirty="0"/>
              <a:t>Adopt the persona of a [PERSONALITY / CHARACTER].</a:t>
            </a:r>
          </a:p>
          <a:p>
            <a:r>
              <a:rPr lang="en-US" dirty="0"/>
              <a:t>Your tone should be [STYLE].</a:t>
            </a:r>
          </a:p>
          <a:p>
            <a:r>
              <a:rPr lang="en-US" dirty="0"/>
              <a:t>Your mindset is [THINKING APPROACH].</a:t>
            </a:r>
          </a:p>
          <a:p>
            <a:r>
              <a:rPr lang="en-US" dirty="0"/>
              <a:t>Always respond by following these behaviors: [RULES].</a:t>
            </a:r>
            <a:endParaRPr lang="en-IN" dirty="0"/>
          </a:p>
        </p:txBody>
      </p:sp>
    </p:spTree>
    <p:extLst>
      <p:ext uri="{BB962C8B-B14F-4D97-AF65-F5344CB8AC3E}">
        <p14:creationId xmlns:p14="http://schemas.microsoft.com/office/powerpoint/2010/main" val="13291346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3B884-D84C-C055-E593-3D33F7CBCBB0}"/>
              </a:ext>
            </a:extLst>
          </p:cNvPr>
          <p:cNvSpPr>
            <a:spLocks noGrp="1"/>
          </p:cNvSpPr>
          <p:nvPr>
            <p:ph type="title"/>
          </p:nvPr>
        </p:nvSpPr>
        <p:spPr/>
        <p:txBody>
          <a:bodyPr/>
          <a:lstStyle/>
          <a:p>
            <a:pPr algn="ctr"/>
            <a:r>
              <a:rPr lang="en-US" b="1" dirty="0">
                <a:solidFill>
                  <a:srgbClr val="00B050"/>
                </a:solidFill>
              </a:rPr>
              <a:t>Types of Persona Prompt Engineering</a:t>
            </a:r>
            <a:endParaRPr lang="en-IN" b="1" dirty="0">
              <a:solidFill>
                <a:srgbClr val="00B050"/>
              </a:solidFill>
            </a:endParaRPr>
          </a:p>
        </p:txBody>
      </p:sp>
      <p:sp>
        <p:nvSpPr>
          <p:cNvPr id="3" name="Content Placeholder 2">
            <a:extLst>
              <a:ext uri="{FF2B5EF4-FFF2-40B4-BE49-F238E27FC236}">
                <a16:creationId xmlns:a16="http://schemas.microsoft.com/office/drawing/2014/main" id="{C4D0469B-158A-CD37-9CA7-A19CF2037B3F}"/>
              </a:ext>
            </a:extLst>
          </p:cNvPr>
          <p:cNvSpPr>
            <a:spLocks noGrp="1"/>
          </p:cNvSpPr>
          <p:nvPr>
            <p:ph idx="1"/>
          </p:nvPr>
        </p:nvSpPr>
        <p:spPr>
          <a:xfrm>
            <a:off x="838200" y="1825624"/>
            <a:ext cx="10515600" cy="4849495"/>
          </a:xfrm>
        </p:spPr>
        <p:txBody>
          <a:bodyPr>
            <a:normAutofit lnSpcReduction="10000"/>
          </a:bodyPr>
          <a:lstStyle/>
          <a:p>
            <a:pPr marL="0" indent="0">
              <a:buNone/>
            </a:pPr>
            <a:r>
              <a:rPr lang="en-IN" b="1" dirty="0">
                <a:solidFill>
                  <a:srgbClr val="00B050"/>
                </a:solidFill>
              </a:rPr>
              <a:t>Emotional Persona (Empathy &amp; Tone) : </a:t>
            </a:r>
            <a:r>
              <a:rPr lang="en-US" b="1" dirty="0"/>
              <a:t>What it controls:</a:t>
            </a:r>
            <a:br>
              <a:rPr lang="en-US" dirty="0"/>
            </a:br>
            <a:r>
              <a:rPr lang="en-US" dirty="0"/>
              <a:t> Feelings  &amp;  Emotional tone. Example: Be a calm and supportive assistant. Respond politely and encourage the user.</a:t>
            </a:r>
          </a:p>
          <a:p>
            <a:pPr marL="0" indent="0">
              <a:buNone/>
            </a:pPr>
            <a:r>
              <a:rPr lang="en-IN" b="1" dirty="0">
                <a:solidFill>
                  <a:srgbClr val="00B050"/>
                </a:solidFill>
              </a:rPr>
              <a:t>Cognitive Persona (Thinking Style) : </a:t>
            </a:r>
            <a:r>
              <a:rPr lang="en-US" b="1" dirty="0"/>
              <a:t>What it controls: </a:t>
            </a:r>
            <a:r>
              <a:rPr lang="en-US" dirty="0"/>
              <a:t> Logical thinking</a:t>
            </a:r>
            <a:br>
              <a:rPr lang="en-US" dirty="0"/>
            </a:br>
            <a:r>
              <a:rPr lang="en-US" dirty="0"/>
              <a:t>Reasoning. Be an analytical thinker. Explain the answer step by step with reasons.</a:t>
            </a:r>
          </a:p>
          <a:p>
            <a:pPr marL="0" indent="0">
              <a:buNone/>
            </a:pPr>
            <a:r>
              <a:rPr lang="en-US" b="1" dirty="0">
                <a:solidFill>
                  <a:srgbClr val="00B050"/>
                </a:solidFill>
              </a:rPr>
              <a:t>Communication Persona (How to Explain): </a:t>
            </a:r>
            <a:r>
              <a:rPr lang="en-US" b="1" dirty="0"/>
              <a:t>What it controls:</a:t>
            </a:r>
            <a:br>
              <a:rPr lang="en-US" dirty="0"/>
            </a:br>
            <a:r>
              <a:rPr lang="en-US" dirty="0"/>
              <a:t>Language &amp; Clarity.</a:t>
            </a:r>
          </a:p>
          <a:p>
            <a:pPr marL="0" indent="0">
              <a:buNone/>
            </a:pPr>
            <a:r>
              <a:rPr lang="en-IN" b="1" dirty="0">
                <a:solidFill>
                  <a:srgbClr val="00B050"/>
                </a:solidFill>
              </a:rPr>
              <a:t>Ethical Persona (Safety &amp; Morals) : </a:t>
            </a:r>
            <a:r>
              <a:rPr lang="en-US" b="1" dirty="0"/>
              <a:t>What it controls: </a:t>
            </a:r>
            <a:r>
              <a:rPr lang="en-US" dirty="0"/>
              <a:t>Moral behavior</a:t>
            </a:r>
            <a:br>
              <a:rPr lang="en-US" dirty="0"/>
            </a:br>
            <a:r>
              <a:rPr lang="en-US" dirty="0"/>
              <a:t>and Safety.</a:t>
            </a:r>
          </a:p>
          <a:p>
            <a:pPr marL="0" indent="0">
              <a:buNone/>
            </a:pPr>
            <a:r>
              <a:rPr lang="en-US" dirty="0"/>
              <a:t>Be a safety-focused advisor.</a:t>
            </a:r>
          </a:p>
          <a:p>
            <a:pPr marL="0" indent="0">
              <a:buNone/>
            </a:pPr>
            <a:r>
              <a:rPr lang="en-US" dirty="0"/>
              <a:t>Give only ethical and safe suggestions.</a:t>
            </a:r>
          </a:p>
          <a:p>
            <a:pPr marL="0" indent="0">
              <a:buNone/>
            </a:pPr>
            <a:endParaRPr lang="en-US" dirty="0"/>
          </a:p>
          <a:p>
            <a:pPr marL="0" indent="0">
              <a:buNone/>
            </a:pPr>
            <a:endParaRPr lang="en-US" b="1" dirty="0"/>
          </a:p>
          <a:p>
            <a:pPr marL="0" indent="0">
              <a:buNone/>
            </a:pPr>
            <a:endParaRPr lang="en-US" dirty="0"/>
          </a:p>
          <a:p>
            <a:endParaRPr lang="en-IN" dirty="0"/>
          </a:p>
        </p:txBody>
      </p:sp>
    </p:spTree>
    <p:extLst>
      <p:ext uri="{BB962C8B-B14F-4D97-AF65-F5344CB8AC3E}">
        <p14:creationId xmlns:p14="http://schemas.microsoft.com/office/powerpoint/2010/main" val="15347254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734125-2328-83E3-3159-D522A187C2CC}"/>
              </a:ext>
            </a:extLst>
          </p:cNvPr>
          <p:cNvSpPr>
            <a:spLocks noGrp="1"/>
          </p:cNvSpPr>
          <p:nvPr>
            <p:ph idx="1"/>
          </p:nvPr>
        </p:nvSpPr>
        <p:spPr>
          <a:xfrm>
            <a:off x="604520" y="413385"/>
            <a:ext cx="10515600" cy="4351338"/>
          </a:xfrm>
        </p:spPr>
        <p:txBody>
          <a:bodyPr/>
          <a:lstStyle/>
          <a:p>
            <a:pPr marL="0" indent="0">
              <a:buNone/>
            </a:pPr>
            <a:r>
              <a:rPr lang="en-IN" b="1" dirty="0">
                <a:solidFill>
                  <a:srgbClr val="00B050"/>
                </a:solidFill>
              </a:rPr>
              <a:t>Brand Persona (Voice &amp; Style): </a:t>
            </a:r>
            <a:r>
              <a:rPr lang="en-US" b="1" dirty="0"/>
              <a:t>What it controls: </a:t>
            </a:r>
            <a:r>
              <a:rPr lang="en-US" dirty="0"/>
              <a:t> Brand tone and Consistency.</a:t>
            </a:r>
          </a:p>
          <a:p>
            <a:pPr marL="514350" indent="-514350">
              <a:buFont typeface="+mj-lt"/>
              <a:buAutoNum type="arabicPeriod"/>
            </a:pPr>
            <a:r>
              <a:rPr lang="en-US" dirty="0"/>
              <a:t>Be a professional and friendly company representative.</a:t>
            </a:r>
          </a:p>
          <a:p>
            <a:pPr marL="514350" indent="-514350">
              <a:buFont typeface="+mj-lt"/>
              <a:buAutoNum type="arabicPeriod"/>
            </a:pPr>
            <a:r>
              <a:rPr lang="en-US" dirty="0"/>
              <a:t>Use polite and positive language.</a:t>
            </a:r>
          </a:p>
          <a:p>
            <a:pPr marL="0" indent="0">
              <a:buNone/>
            </a:pPr>
            <a:endParaRPr lang="en-IN" dirty="0"/>
          </a:p>
        </p:txBody>
      </p:sp>
    </p:spTree>
    <p:extLst>
      <p:ext uri="{BB962C8B-B14F-4D97-AF65-F5344CB8AC3E}">
        <p14:creationId xmlns:p14="http://schemas.microsoft.com/office/powerpoint/2010/main" val="906679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A9147-C365-9002-D11B-D785B3B334D0}"/>
              </a:ext>
            </a:extLst>
          </p:cNvPr>
          <p:cNvSpPr>
            <a:spLocks noGrp="1"/>
          </p:cNvSpPr>
          <p:nvPr>
            <p:ph type="title"/>
          </p:nvPr>
        </p:nvSpPr>
        <p:spPr>
          <a:xfrm>
            <a:off x="838200" y="365125"/>
            <a:ext cx="10515600" cy="681355"/>
          </a:xfrm>
        </p:spPr>
        <p:txBody>
          <a:bodyPr>
            <a:normAutofit fontScale="90000"/>
          </a:bodyPr>
          <a:lstStyle/>
          <a:p>
            <a:r>
              <a:rPr lang="en-US" b="1" dirty="0"/>
              <a:t>Labs</a:t>
            </a:r>
            <a:endParaRPr lang="en-IN" b="1" dirty="0"/>
          </a:p>
        </p:txBody>
      </p:sp>
      <p:sp>
        <p:nvSpPr>
          <p:cNvPr id="3" name="Content Placeholder 2">
            <a:extLst>
              <a:ext uri="{FF2B5EF4-FFF2-40B4-BE49-F238E27FC236}">
                <a16:creationId xmlns:a16="http://schemas.microsoft.com/office/drawing/2014/main" id="{1254817B-7C8D-3795-2687-CA45EDC5F16A}"/>
              </a:ext>
            </a:extLst>
          </p:cNvPr>
          <p:cNvSpPr>
            <a:spLocks noGrp="1"/>
          </p:cNvSpPr>
          <p:nvPr>
            <p:ph idx="1"/>
          </p:nvPr>
        </p:nvSpPr>
        <p:spPr>
          <a:xfrm>
            <a:off x="838200" y="1144270"/>
            <a:ext cx="10515600" cy="4351338"/>
          </a:xfrm>
        </p:spPr>
        <p:txBody>
          <a:bodyPr>
            <a:normAutofit fontScale="92500" lnSpcReduction="10000"/>
          </a:bodyPr>
          <a:lstStyle/>
          <a:p>
            <a:r>
              <a:rPr lang="en-IN" b="1" dirty="0">
                <a:solidFill>
                  <a:srgbClr val="C00000"/>
                </a:solidFill>
              </a:rPr>
              <a:t>Installing the Required Library: </a:t>
            </a:r>
          </a:p>
          <a:p>
            <a:pPr marL="0" indent="0">
              <a:buNone/>
            </a:pPr>
            <a:r>
              <a:rPr lang="en-IN" dirty="0">
                <a:solidFill>
                  <a:srgbClr val="C00000"/>
                </a:solidFill>
              </a:rPr>
              <a:t>!pip install -q google-</a:t>
            </a:r>
            <a:r>
              <a:rPr lang="en-IN" dirty="0" err="1">
                <a:solidFill>
                  <a:srgbClr val="C00000"/>
                </a:solidFill>
              </a:rPr>
              <a:t>generativeai</a:t>
            </a:r>
            <a:endParaRPr lang="en-IN" dirty="0">
              <a:solidFill>
                <a:srgbClr val="C00000"/>
              </a:solidFill>
            </a:endParaRPr>
          </a:p>
          <a:p>
            <a:pPr marL="0" indent="0">
              <a:buNone/>
            </a:pPr>
            <a:r>
              <a:rPr lang="en-IN" dirty="0"/>
              <a:t>Installs the </a:t>
            </a:r>
            <a:r>
              <a:rPr lang="en-IN" b="1" dirty="0"/>
              <a:t>Google Generative AI Python SDK</a:t>
            </a:r>
            <a:br>
              <a:rPr lang="en-IN" dirty="0"/>
            </a:br>
            <a:r>
              <a:rPr lang="en-IN" dirty="0"/>
              <a:t>🔹 -q means </a:t>
            </a:r>
            <a:r>
              <a:rPr lang="en-IN" b="1" dirty="0"/>
              <a:t>quiet mode</a:t>
            </a:r>
            <a:r>
              <a:rPr lang="en-IN" dirty="0"/>
              <a:t> (less output)</a:t>
            </a:r>
            <a:br>
              <a:rPr lang="en-IN" dirty="0"/>
            </a:br>
            <a:r>
              <a:rPr lang="en-IN" dirty="0"/>
              <a:t>🔹 Needed to interact with </a:t>
            </a:r>
            <a:r>
              <a:rPr lang="en-IN" b="1" dirty="0"/>
              <a:t>Gemini models</a:t>
            </a:r>
          </a:p>
          <a:p>
            <a:r>
              <a:rPr lang="en-IN" b="1" dirty="0">
                <a:solidFill>
                  <a:srgbClr val="C00000"/>
                </a:solidFill>
              </a:rPr>
              <a:t>Importing Required Modules</a:t>
            </a:r>
          </a:p>
          <a:p>
            <a:pPr marL="0" indent="0">
              <a:buNone/>
            </a:pPr>
            <a:r>
              <a:rPr lang="pt-BR" dirty="0"/>
              <a:t>import os</a:t>
            </a:r>
          </a:p>
          <a:p>
            <a:pPr marL="0" indent="0">
              <a:buNone/>
            </a:pPr>
            <a:r>
              <a:rPr lang="pt-BR" dirty="0"/>
              <a:t>import google.generativeai as genai</a:t>
            </a:r>
          </a:p>
          <a:p>
            <a:pPr marL="0" indent="0">
              <a:buNone/>
            </a:pPr>
            <a:r>
              <a:rPr lang="en-US" dirty="0" err="1"/>
              <a:t>os</a:t>
            </a:r>
            <a:r>
              <a:rPr lang="en-US" dirty="0"/>
              <a:t> → used to work with environment variables</a:t>
            </a:r>
          </a:p>
          <a:p>
            <a:pPr marL="0" indent="0">
              <a:buNone/>
            </a:pPr>
            <a:r>
              <a:rPr lang="en-US" dirty="0" err="1"/>
              <a:t>google.generativeai</a:t>
            </a:r>
            <a:r>
              <a:rPr lang="en-US" dirty="0"/>
              <a:t> → library that lets us use Gemini AI models</a:t>
            </a:r>
            <a:endParaRPr lang="pt-BR" dirty="0"/>
          </a:p>
          <a:p>
            <a:pPr marL="0" indent="0">
              <a:buNone/>
            </a:pPr>
            <a:endParaRPr lang="en-IN" dirty="0"/>
          </a:p>
        </p:txBody>
      </p:sp>
    </p:spTree>
    <p:extLst>
      <p:ext uri="{BB962C8B-B14F-4D97-AF65-F5344CB8AC3E}">
        <p14:creationId xmlns:p14="http://schemas.microsoft.com/office/powerpoint/2010/main" val="42857297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797FD-B709-2232-2C8C-617A6D7A24B9}"/>
              </a:ext>
            </a:extLst>
          </p:cNvPr>
          <p:cNvSpPr>
            <a:spLocks noGrp="1"/>
          </p:cNvSpPr>
          <p:nvPr>
            <p:ph type="title"/>
          </p:nvPr>
        </p:nvSpPr>
        <p:spPr/>
        <p:txBody>
          <a:bodyPr/>
          <a:lstStyle/>
          <a:p>
            <a:r>
              <a:rPr lang="en-US" dirty="0"/>
              <a:t>Copy API Key </a:t>
            </a:r>
            <a:endParaRPr lang="en-IN" dirty="0"/>
          </a:p>
        </p:txBody>
      </p:sp>
      <p:sp>
        <p:nvSpPr>
          <p:cNvPr id="3" name="Content Placeholder 2">
            <a:extLst>
              <a:ext uri="{FF2B5EF4-FFF2-40B4-BE49-F238E27FC236}">
                <a16:creationId xmlns:a16="http://schemas.microsoft.com/office/drawing/2014/main" id="{D1DECD0A-27AA-FBA6-BA53-BFDA2E84A2D5}"/>
              </a:ext>
            </a:extLst>
          </p:cNvPr>
          <p:cNvSpPr>
            <a:spLocks noGrp="1"/>
          </p:cNvSpPr>
          <p:nvPr>
            <p:ph idx="1"/>
          </p:nvPr>
        </p:nvSpPr>
        <p:spPr/>
        <p:txBody>
          <a:bodyPr/>
          <a:lstStyle/>
          <a:p>
            <a:r>
              <a:rPr lang="en-IN" dirty="0" err="1"/>
              <a:t>os.environ</a:t>
            </a:r>
            <a:r>
              <a:rPr lang="en-IN" dirty="0"/>
              <a:t>["GEMINI_API_KEY"] = "AIzaSyB1UTuQg2wngWERXEAqm43Hm25A1UYXhEw"</a:t>
            </a:r>
          </a:p>
          <a:p>
            <a:r>
              <a:rPr lang="en-IN" dirty="0" err="1"/>
              <a:t>genai.configure</a:t>
            </a:r>
            <a:r>
              <a:rPr lang="en-IN" dirty="0"/>
              <a:t>(</a:t>
            </a:r>
            <a:r>
              <a:rPr lang="en-IN" dirty="0" err="1"/>
              <a:t>api_key</a:t>
            </a:r>
            <a:r>
              <a:rPr lang="en-IN" dirty="0"/>
              <a:t>=</a:t>
            </a:r>
            <a:r>
              <a:rPr lang="en-IN" dirty="0" err="1"/>
              <a:t>os.environ</a:t>
            </a:r>
            <a:r>
              <a:rPr lang="en-IN" dirty="0"/>
              <a:t>["GEMINI_API_KEY"])</a:t>
            </a:r>
          </a:p>
          <a:p>
            <a:pPr marL="0" indent="0">
              <a:buNone/>
            </a:pPr>
            <a:r>
              <a:rPr lang="en-US" dirty="0"/>
              <a:t>The </a:t>
            </a:r>
            <a:r>
              <a:rPr lang="en-US" b="1" dirty="0"/>
              <a:t>API key</a:t>
            </a:r>
            <a:r>
              <a:rPr lang="en-US" dirty="0"/>
              <a:t> authenticates your application with Google</a:t>
            </a:r>
            <a:br>
              <a:rPr lang="en-US" dirty="0"/>
            </a:br>
            <a:r>
              <a:rPr lang="en-US" dirty="0"/>
              <a:t>🔹 Stored securely as an </a:t>
            </a:r>
            <a:r>
              <a:rPr lang="en-US" b="1" dirty="0"/>
              <a:t>environment variable</a:t>
            </a:r>
            <a:br>
              <a:rPr lang="en-US" dirty="0"/>
            </a:br>
            <a:r>
              <a:rPr lang="en-US" dirty="0"/>
              <a:t>🔹 </a:t>
            </a:r>
            <a:r>
              <a:rPr lang="en-US" dirty="0" err="1"/>
              <a:t>genai.configure</a:t>
            </a:r>
            <a:r>
              <a:rPr lang="en-US" dirty="0"/>
              <a:t>() tells the SDK which key to use</a:t>
            </a:r>
            <a:endParaRPr lang="en-IN" dirty="0"/>
          </a:p>
        </p:txBody>
      </p:sp>
    </p:spTree>
    <p:extLst>
      <p:ext uri="{BB962C8B-B14F-4D97-AF65-F5344CB8AC3E}">
        <p14:creationId xmlns:p14="http://schemas.microsoft.com/office/powerpoint/2010/main" val="16267870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62ED3-3B57-D33B-2CD8-5373C6203DDC}"/>
              </a:ext>
            </a:extLst>
          </p:cNvPr>
          <p:cNvSpPr>
            <a:spLocks noGrp="1"/>
          </p:cNvSpPr>
          <p:nvPr>
            <p:ph type="title"/>
          </p:nvPr>
        </p:nvSpPr>
        <p:spPr/>
        <p:txBody>
          <a:bodyPr/>
          <a:lstStyle/>
          <a:p>
            <a:r>
              <a:rPr lang="en-IN" dirty="0"/>
              <a:t>Listing Available Gemini Models</a:t>
            </a:r>
          </a:p>
        </p:txBody>
      </p:sp>
      <p:sp>
        <p:nvSpPr>
          <p:cNvPr id="3" name="Content Placeholder 2">
            <a:extLst>
              <a:ext uri="{FF2B5EF4-FFF2-40B4-BE49-F238E27FC236}">
                <a16:creationId xmlns:a16="http://schemas.microsoft.com/office/drawing/2014/main" id="{C5D0563C-3E51-89B1-EC52-A05D1B0F667F}"/>
              </a:ext>
            </a:extLst>
          </p:cNvPr>
          <p:cNvSpPr>
            <a:spLocks noGrp="1"/>
          </p:cNvSpPr>
          <p:nvPr>
            <p:ph idx="1"/>
          </p:nvPr>
        </p:nvSpPr>
        <p:spPr/>
        <p:txBody>
          <a:bodyPr/>
          <a:lstStyle/>
          <a:p>
            <a:r>
              <a:rPr lang="en-US" dirty="0"/>
              <a:t>print("Available models:")</a:t>
            </a:r>
          </a:p>
          <a:p>
            <a:r>
              <a:rPr lang="en-US" dirty="0"/>
              <a:t>for m in </a:t>
            </a:r>
            <a:r>
              <a:rPr lang="en-US" dirty="0" err="1"/>
              <a:t>genai.list_models</a:t>
            </a:r>
            <a:r>
              <a:rPr lang="en-US" dirty="0"/>
              <a:t>():</a:t>
            </a:r>
          </a:p>
          <a:p>
            <a:r>
              <a:rPr lang="en-US" dirty="0"/>
              <a:t>    if "</a:t>
            </a:r>
            <a:r>
              <a:rPr lang="en-US" dirty="0" err="1"/>
              <a:t>generateContent</a:t>
            </a:r>
            <a:r>
              <a:rPr lang="en-US" dirty="0"/>
              <a:t>" in </a:t>
            </a:r>
            <a:r>
              <a:rPr lang="en-US" dirty="0" err="1"/>
              <a:t>m.supported_generation_methods</a:t>
            </a:r>
            <a:r>
              <a:rPr lang="en-US" dirty="0"/>
              <a:t>:</a:t>
            </a:r>
          </a:p>
          <a:p>
            <a:r>
              <a:rPr lang="en-US" dirty="0"/>
              <a:t>        print(m.name)</a:t>
            </a:r>
            <a:endParaRPr lang="en-IN" dirty="0"/>
          </a:p>
        </p:txBody>
      </p:sp>
    </p:spTree>
    <p:extLst>
      <p:ext uri="{BB962C8B-B14F-4D97-AF65-F5344CB8AC3E}">
        <p14:creationId xmlns:p14="http://schemas.microsoft.com/office/powerpoint/2010/main" val="77576172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DE4E4-20C2-645D-672E-0DA13662C039}"/>
              </a:ext>
            </a:extLst>
          </p:cNvPr>
          <p:cNvSpPr>
            <a:spLocks noGrp="1"/>
          </p:cNvSpPr>
          <p:nvPr>
            <p:ph type="title"/>
          </p:nvPr>
        </p:nvSpPr>
        <p:spPr/>
        <p:txBody>
          <a:bodyPr/>
          <a:lstStyle/>
          <a:p>
            <a:r>
              <a:rPr lang="en-US" dirty="0"/>
              <a:t>Creating the Gemini Model Object</a:t>
            </a:r>
            <a:endParaRPr lang="en-IN" dirty="0"/>
          </a:p>
        </p:txBody>
      </p:sp>
      <p:sp>
        <p:nvSpPr>
          <p:cNvPr id="3" name="Content Placeholder 2">
            <a:extLst>
              <a:ext uri="{FF2B5EF4-FFF2-40B4-BE49-F238E27FC236}">
                <a16:creationId xmlns:a16="http://schemas.microsoft.com/office/drawing/2014/main" id="{CDB2CDC4-0298-C673-2255-6C05E2F3EA8C}"/>
              </a:ext>
            </a:extLst>
          </p:cNvPr>
          <p:cNvSpPr>
            <a:spLocks noGrp="1"/>
          </p:cNvSpPr>
          <p:nvPr>
            <p:ph idx="1"/>
          </p:nvPr>
        </p:nvSpPr>
        <p:spPr/>
        <p:txBody>
          <a:bodyPr/>
          <a:lstStyle/>
          <a:p>
            <a:r>
              <a:rPr lang="en-IN" dirty="0"/>
              <a:t>model = </a:t>
            </a:r>
            <a:r>
              <a:rPr lang="en-IN" dirty="0" err="1"/>
              <a:t>genai.GenerativeModel</a:t>
            </a:r>
            <a:r>
              <a:rPr lang="en-IN" dirty="0"/>
              <a:t>("gemini-2.5-flash")</a:t>
            </a:r>
          </a:p>
          <a:p>
            <a:r>
              <a:rPr lang="en-US" dirty="0"/>
              <a:t>Selects </a:t>
            </a:r>
            <a:r>
              <a:rPr lang="en-US" b="1" dirty="0"/>
              <a:t>Gemini 2.5 Flash</a:t>
            </a:r>
            <a:r>
              <a:rPr lang="en-US" dirty="0"/>
              <a:t> model</a:t>
            </a:r>
            <a:br>
              <a:rPr lang="en-US" dirty="0"/>
            </a:br>
            <a:r>
              <a:rPr lang="en-US" dirty="0"/>
              <a:t>🔹 This model is:</a:t>
            </a:r>
          </a:p>
          <a:p>
            <a:r>
              <a:rPr lang="en-US" dirty="0"/>
              <a:t>Fast ⚡</a:t>
            </a:r>
          </a:p>
          <a:p>
            <a:r>
              <a:rPr lang="en-US" dirty="0"/>
              <a:t>Cost-effective</a:t>
            </a:r>
          </a:p>
          <a:p>
            <a:r>
              <a:rPr lang="en-US" dirty="0"/>
              <a:t>Good for simple prompt engineering labs</a:t>
            </a:r>
          </a:p>
          <a:p>
            <a:endParaRPr lang="en-IN" dirty="0"/>
          </a:p>
        </p:txBody>
      </p:sp>
    </p:spTree>
    <p:extLst>
      <p:ext uri="{BB962C8B-B14F-4D97-AF65-F5344CB8AC3E}">
        <p14:creationId xmlns:p14="http://schemas.microsoft.com/office/powerpoint/2010/main" val="28226122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33012-BFC8-39FD-4D80-6B334AFCBBA6}"/>
              </a:ext>
            </a:extLst>
          </p:cNvPr>
          <p:cNvSpPr>
            <a:spLocks noGrp="1"/>
          </p:cNvSpPr>
          <p:nvPr>
            <p:ph type="title"/>
          </p:nvPr>
        </p:nvSpPr>
        <p:spPr/>
        <p:txBody>
          <a:bodyPr/>
          <a:lstStyle/>
          <a:p>
            <a:r>
              <a:rPr lang="en-US" dirty="0"/>
              <a:t>Helper Function to Ask Questions</a:t>
            </a:r>
            <a:endParaRPr lang="en-IN" dirty="0"/>
          </a:p>
        </p:txBody>
      </p:sp>
      <p:sp>
        <p:nvSpPr>
          <p:cNvPr id="3" name="Content Placeholder 2">
            <a:extLst>
              <a:ext uri="{FF2B5EF4-FFF2-40B4-BE49-F238E27FC236}">
                <a16:creationId xmlns:a16="http://schemas.microsoft.com/office/drawing/2014/main" id="{899CFDE3-60BC-6AE1-FE08-7B560DC917B8}"/>
              </a:ext>
            </a:extLst>
          </p:cNvPr>
          <p:cNvSpPr>
            <a:spLocks noGrp="1"/>
          </p:cNvSpPr>
          <p:nvPr>
            <p:ph idx="1"/>
          </p:nvPr>
        </p:nvSpPr>
        <p:spPr/>
        <p:txBody>
          <a:bodyPr/>
          <a:lstStyle/>
          <a:p>
            <a:r>
              <a:rPr lang="en-IN" dirty="0"/>
              <a:t>def ask(prompt):</a:t>
            </a:r>
          </a:p>
          <a:p>
            <a:r>
              <a:rPr lang="en-IN" dirty="0"/>
              <a:t>    response = </a:t>
            </a:r>
            <a:r>
              <a:rPr lang="en-IN" dirty="0" err="1"/>
              <a:t>model.generate_content</a:t>
            </a:r>
            <a:r>
              <a:rPr lang="en-IN" dirty="0"/>
              <a:t>(prompt)</a:t>
            </a:r>
          </a:p>
          <a:p>
            <a:r>
              <a:rPr lang="en-IN" dirty="0"/>
              <a:t>    print(</a:t>
            </a:r>
            <a:r>
              <a:rPr lang="en-IN" dirty="0" err="1"/>
              <a:t>response.text</a:t>
            </a:r>
            <a:r>
              <a:rPr lang="en-IN" dirty="0"/>
              <a:t>)</a:t>
            </a:r>
          </a:p>
        </p:txBody>
      </p:sp>
    </p:spTree>
    <p:extLst>
      <p:ext uri="{BB962C8B-B14F-4D97-AF65-F5344CB8AC3E}">
        <p14:creationId xmlns:p14="http://schemas.microsoft.com/office/powerpoint/2010/main" val="23880125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27A6D-9BDA-DF24-4A5D-8C76C2FFE9E1}"/>
              </a:ext>
            </a:extLst>
          </p:cNvPr>
          <p:cNvSpPr>
            <a:spLocks noGrp="1"/>
          </p:cNvSpPr>
          <p:nvPr>
            <p:ph type="title"/>
          </p:nvPr>
        </p:nvSpPr>
        <p:spPr/>
        <p:txBody>
          <a:bodyPr/>
          <a:lstStyle/>
          <a:p>
            <a:r>
              <a:rPr lang="en-IN" dirty="0"/>
              <a:t>Prompt 1 – Basic Prompt</a:t>
            </a:r>
          </a:p>
        </p:txBody>
      </p:sp>
      <p:sp>
        <p:nvSpPr>
          <p:cNvPr id="3" name="Content Placeholder 2">
            <a:extLst>
              <a:ext uri="{FF2B5EF4-FFF2-40B4-BE49-F238E27FC236}">
                <a16:creationId xmlns:a16="http://schemas.microsoft.com/office/drawing/2014/main" id="{E8A0056A-4792-FF64-2B90-A2964A5349B4}"/>
              </a:ext>
            </a:extLst>
          </p:cNvPr>
          <p:cNvSpPr>
            <a:spLocks noGrp="1"/>
          </p:cNvSpPr>
          <p:nvPr>
            <p:ph idx="1"/>
          </p:nvPr>
        </p:nvSpPr>
        <p:spPr/>
        <p:txBody>
          <a:bodyPr/>
          <a:lstStyle/>
          <a:p>
            <a:r>
              <a:rPr lang="en-US" dirty="0"/>
              <a:t>print("----- Prompt 1: Basic -----")</a:t>
            </a:r>
          </a:p>
          <a:p>
            <a:r>
              <a:rPr lang="en-US"/>
              <a:t>ask("Explain Prompt Engineering.")</a:t>
            </a:r>
            <a:endParaRPr lang="en-IN"/>
          </a:p>
        </p:txBody>
      </p:sp>
    </p:spTree>
    <p:extLst>
      <p:ext uri="{BB962C8B-B14F-4D97-AF65-F5344CB8AC3E}">
        <p14:creationId xmlns:p14="http://schemas.microsoft.com/office/powerpoint/2010/main" val="252391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742</TotalTime>
  <Words>3059</Words>
  <Application>Microsoft Office PowerPoint</Application>
  <PresentationFormat>Widescreen</PresentationFormat>
  <Paragraphs>504</Paragraphs>
  <Slides>60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60</vt:i4>
      </vt:variant>
    </vt:vector>
  </HeadingPairs>
  <TitlesOfParts>
    <vt:vector size="65" baseType="lpstr">
      <vt:lpstr>Arial</vt:lpstr>
      <vt:lpstr>Calibri</vt:lpstr>
      <vt:lpstr>Calibri Light</vt:lpstr>
      <vt:lpstr>Times New Roman</vt:lpstr>
      <vt:lpstr>Office Theme</vt:lpstr>
      <vt:lpstr>Module 2 </vt:lpstr>
      <vt:lpstr>Add-On </vt:lpstr>
      <vt:lpstr>PowerPoint Presentation</vt:lpstr>
      <vt:lpstr>Text Summarization </vt:lpstr>
      <vt:lpstr>Information Extraction </vt:lpstr>
      <vt:lpstr>PowerPoint Presentation</vt:lpstr>
      <vt:lpstr>Question &amp; Answering Prompt </vt:lpstr>
      <vt:lpstr>Text Classification – Prompt Engineering</vt:lpstr>
      <vt:lpstr>Conversation </vt:lpstr>
      <vt:lpstr>Code Generation </vt:lpstr>
      <vt:lpstr>Reasoning </vt:lpstr>
      <vt:lpstr>One-Shot Prompt</vt:lpstr>
      <vt:lpstr>Generic Structure</vt:lpstr>
      <vt:lpstr>Type of Zero-Shot Prompt </vt:lpstr>
      <vt:lpstr>Types of Zero-Shot Prompts Zero-Shot for Text Classification</vt:lpstr>
      <vt:lpstr>Zero-Shot for Information Extraction</vt:lpstr>
      <vt:lpstr>Zero-Shot for Question Answering</vt:lpstr>
      <vt:lpstr>Zero-Shot for Text Summarization</vt:lpstr>
      <vt:lpstr>Zero-Shot for Code Generation</vt:lpstr>
      <vt:lpstr>Types of One-Shot Prompts (with Examples)</vt:lpstr>
      <vt:lpstr>One-Shot for Information Extraction</vt:lpstr>
      <vt:lpstr>One-Shot for Question Answering</vt:lpstr>
      <vt:lpstr>One-Shot for Code Generation</vt:lpstr>
      <vt:lpstr>One-Shot for Text Summarization</vt:lpstr>
      <vt:lpstr>Few-Shot Prompting: Few-Shot Prompting is a prompt engineering technique where two or more examples are provided to the AI before asking it to solve a new task.</vt:lpstr>
      <vt:lpstr>Few-Shot for Text Classification</vt:lpstr>
      <vt:lpstr>Few-Shot for Information Extraction</vt:lpstr>
      <vt:lpstr>Few-Shot for Question Answering</vt:lpstr>
      <vt:lpstr>Few-Shot for Code Generation</vt:lpstr>
      <vt:lpstr>Few-Shot for Text Summarization</vt:lpstr>
      <vt:lpstr>Chain of Thought prompting is a technique where the model is encouraged to show intermediate reasoning steps before giving the final answer.</vt:lpstr>
      <vt:lpstr>Numerical / Math Reasoning Example</vt:lpstr>
      <vt:lpstr>Logical Reasoning Example</vt:lpstr>
      <vt:lpstr>Word Problem Example</vt:lpstr>
      <vt:lpstr>Programming Logic Example</vt:lpstr>
      <vt:lpstr>Real-Life Reasoning Example</vt:lpstr>
      <vt:lpstr>Instruction Based Prompts:Instruction-Based Prompting is a prompting technique where the user gives clear, direct instructions telling the AI what task to perform, how to perform it, and sometimes in what format.</vt:lpstr>
      <vt:lpstr>PowerPoint Presentation</vt:lpstr>
      <vt:lpstr>PowerPoint Presentation</vt:lpstr>
      <vt:lpstr>Role-Based Prompt Engineering</vt:lpstr>
      <vt:lpstr>Simple Example</vt:lpstr>
      <vt:lpstr>Academic / Teaching Examples</vt:lpstr>
      <vt:lpstr>Industry-Oriented Examples</vt:lpstr>
      <vt:lpstr>Key Elements</vt:lpstr>
      <vt:lpstr>Industry-Grade Role Writing Formula</vt:lpstr>
      <vt:lpstr>Constrain based Prompt Engineering </vt:lpstr>
      <vt:lpstr>General Structure of a Constraint-Based Prompt</vt:lpstr>
      <vt:lpstr>Types of Constraint-Based Prompt Engineering</vt:lpstr>
      <vt:lpstr>PowerPoint Presentation</vt:lpstr>
      <vt:lpstr>PowerPoint Presentation</vt:lpstr>
      <vt:lpstr>Persona Prompt Engineering</vt:lpstr>
      <vt:lpstr>General Structure of a Persona Prompt</vt:lpstr>
      <vt:lpstr>Types of Persona Prompt Engineering</vt:lpstr>
      <vt:lpstr>PowerPoint Presentation</vt:lpstr>
      <vt:lpstr>Labs</vt:lpstr>
      <vt:lpstr>Copy API Key </vt:lpstr>
      <vt:lpstr>Listing Available Gemini Models</vt:lpstr>
      <vt:lpstr>Creating the Gemini Model Object</vt:lpstr>
      <vt:lpstr>Helper Function to Ask Questions</vt:lpstr>
      <vt:lpstr>Prompt 1 – Basic Prompt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swapna mudraola</dc:creator>
  <cp:lastModifiedBy>swapna mudraola</cp:lastModifiedBy>
  <cp:revision>47</cp:revision>
  <dcterms:created xsi:type="dcterms:W3CDTF">2026-01-21T06:21:10Z</dcterms:created>
  <dcterms:modified xsi:type="dcterms:W3CDTF">2026-01-27T09:27:57Z</dcterms:modified>
</cp:coreProperties>
</file>