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83" r:id="rId24"/>
    <p:sldId id="284" r:id="rId25"/>
    <p:sldId id="285" r:id="rId26"/>
    <p:sldId id="286" r:id="rId27"/>
    <p:sldId id="287" r:id="rId28"/>
    <p:sldId id="277" r:id="rId29"/>
    <p:sldId id="278" r:id="rId30"/>
    <p:sldId id="279" r:id="rId31"/>
    <p:sldId id="280" r:id="rId32"/>
    <p:sldId id="281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A91C-753C-B95D-E37D-74BA23F3D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05026-34DA-4B17-88A6-7353F87B9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EAC2-3FEA-03B3-0F9A-4374E48D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69B9-5D36-9E37-3E16-84F1D520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8544-78E5-91A9-8DD8-F7AC36C3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14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61462-3A70-A57E-2448-E0F230C4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A611-E01A-8CD0-8A55-EBD7A00E8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3E47E-E920-F1A5-80A1-605F4A08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7C7D-7A41-8C41-25A5-9A31B83A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63189-3825-5929-9611-7A9F3C87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4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B11D-0E01-130B-B154-4181EDDA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38D13-1F6A-951F-F831-06C241181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37F8-5B4A-62D3-A205-055055BE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8A4A2-C701-2D46-B169-27F3FEFD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4690D-BF47-767B-12A2-9FD50D45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5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46BE-24DE-F2C4-8CA6-CDFC8954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BDF8-EE6B-1A4F-0954-7DEC7EDA4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E252-133E-26E7-5A43-B60FF55AB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D5398-FFFA-06FA-3BB6-C82C1447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BB86D-1FB7-EC24-1A8C-B6784290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84B68-F2B2-F25D-FD2F-39A63C91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85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68E9-0CBF-E08B-AC36-B9053280D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6BC09-D004-7329-3C35-0099A698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3015A-5AA4-C327-171F-233E5B1D0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B4085-CB1F-24A4-F8FB-811C7A030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E05C5-58FA-3BAD-5D58-8914B8248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9F81B-2CBC-1267-1D76-F3C16FC0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5C473-34F6-5F8F-7427-0B765130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18C6D-CC25-3410-696E-C96EC0AA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37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8AAF-213A-F2BB-59D5-1387DE95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10027-7AA7-3605-A56E-9A1A38AC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A4489-A951-D897-2A5D-AB46212A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99A0B-9416-A8C5-C2E2-FEA1B87D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44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D8D66-BB79-1B6C-7810-0EFB546C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64C59-EDC2-26CE-F1C9-C59E51D2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6522F-44E9-27A6-F05A-6DEF26A2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3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300B-50B2-3A69-18C2-EBBF9AAD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604F4-1D76-3349-CD5D-302330144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785A1-8FD0-9567-7571-6CDC4E5CF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D5F9C-D607-9844-CECB-2614CFFB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1C697-558A-6D60-2A40-9F681023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FFACF-01F1-9AB1-505D-89697305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05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8444-BD8C-A706-445B-599187E5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26019-CCD9-137D-AFBB-0893A1A9B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91FAF-C7E0-6690-A7BD-F3ED55EDB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7CD5-98F9-975E-4677-B27044D3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BE265-3B3C-1463-F010-4A1DF75F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E0931-B371-9608-47EB-6A966A5F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2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B07C-B5EC-47FF-A772-C0ED8BB0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2F5FD-4A86-CC79-209A-8CD5A38F7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2B92F-B072-89DD-1A04-BCFB1D01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0A608-1474-0D73-9511-655EE910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05552-0543-6B1E-1D88-0CD213FD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9C90A-4207-D841-65E6-35FD5BA56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B656B-0291-E83A-3C6D-BE5021567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EDC51-1F86-D471-64A8-02C4A551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6ABA9-7A48-8EFF-9844-2D9057CD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F9542-83E3-AE47-8DB9-8EE1278D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739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6FDC0-614B-CA15-B28D-70643BCF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C9A0-DD8E-6B22-E2F5-90F573876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652E2-951C-85CA-8AF3-96C7CCFB7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445A8-DC75-410D-8996-65D14D3D8F2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8EDBB-86C5-CE57-EADE-ED5B321DE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3098-53D9-763B-7294-504E6DEFD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B86A1-6A1B-4C5D-8A17-A8BB750AC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03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AF91-57FE-28BD-DB1A-BE23B96CF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Module - VI: </a:t>
            </a:r>
            <a:br>
              <a:rPr lang="en-IN" sz="2000" dirty="0"/>
            </a:br>
            <a:r>
              <a:rPr lang="en-IN" sz="2000" b="1" dirty="0"/>
              <a:t>Multi-Model Prompting: </a:t>
            </a:r>
            <a:r>
              <a:rPr lang="en-IN" sz="2000" dirty="0"/>
              <a:t>Introduction to Multi-model Prompting, Text + Image Prompts, Cross-model AI interaction</a:t>
            </a:r>
            <a:r>
              <a:rPr lang="en-IN" sz="2000" b="1" dirty="0"/>
              <a:t>.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6666F-EBC8-71B5-1E2D-2BF86893C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02CA8-91A0-0B3F-2F9F-4245D7569CD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38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9254-6EBC-F604-D682-69C7ED7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Multi-Model Prompting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8CD5-7808-554D-B4F2-A0B6367C6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Multi-Model Prompting</a:t>
            </a:r>
            <a:r>
              <a:rPr lang="en-US" dirty="0"/>
              <a:t> means using </a:t>
            </a:r>
            <a:r>
              <a:rPr lang="en-US" b="1" dirty="0"/>
              <a:t>more than one AI model together</a:t>
            </a:r>
            <a:r>
              <a:rPr lang="en-US" dirty="0"/>
              <a:t> to solve a task instead of relying on a single model.</a:t>
            </a:r>
          </a:p>
          <a:p>
            <a:pPr marL="0" indent="0">
              <a:buNone/>
            </a:pPr>
            <a:r>
              <a:rPr lang="en-US" dirty="0"/>
              <a:t>Regular : One prompt → One model → One output</a:t>
            </a:r>
          </a:p>
          <a:p>
            <a:pPr marL="0" indent="0">
              <a:buNone/>
            </a:pPr>
            <a:r>
              <a:rPr lang="en-US" dirty="0"/>
              <a:t>Multi-Model prompt : One task → Multiple models → Combined / verified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9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0DB3-E3BC-F2D8-3A70-E4EF6A40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C1115-ED5B-6BC6-AD2A-34B5E0C4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Multi-Model Prompting is a technique where:</a:t>
            </a:r>
          </a:p>
          <a:p>
            <a:r>
              <a:rPr lang="en-US" dirty="0"/>
              <a:t>Different AI models are given the </a:t>
            </a:r>
            <a:r>
              <a:rPr lang="en-US" b="1" dirty="0"/>
              <a:t>same or different prompts</a:t>
            </a:r>
            <a:endParaRPr lang="en-US" dirty="0"/>
          </a:p>
          <a:p>
            <a:r>
              <a:rPr lang="en-US" dirty="0"/>
              <a:t>Their outputs are </a:t>
            </a:r>
            <a:r>
              <a:rPr lang="en-US" b="1" dirty="0"/>
              <a:t>compared, combined, or verified</a:t>
            </a:r>
            <a:endParaRPr lang="en-US" dirty="0"/>
          </a:p>
          <a:p>
            <a:r>
              <a:rPr lang="en-US" dirty="0"/>
              <a:t>The final answer is selected or synthesized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40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A3B5-A6F4-A3B3-4ADB-D01EA7F2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Multi-Model Prompting?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2EB7-A7E8-950C-354D-7E8AFED01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Because:</a:t>
            </a:r>
          </a:p>
          <a:p>
            <a:r>
              <a:rPr lang="en-US" dirty="0"/>
              <a:t>One model may hallucinate</a:t>
            </a:r>
          </a:p>
          <a:p>
            <a:r>
              <a:rPr lang="en-US" dirty="0"/>
              <a:t>One model may be better at reasoning</a:t>
            </a:r>
          </a:p>
          <a:p>
            <a:r>
              <a:rPr lang="en-US" dirty="0"/>
              <a:t>One model may be better at coding</a:t>
            </a:r>
          </a:p>
          <a:p>
            <a:r>
              <a:rPr lang="en-US" dirty="0"/>
              <a:t>One model may be better at creativity</a:t>
            </a:r>
          </a:p>
          <a:p>
            <a:r>
              <a:rPr lang="en-IN" dirty="0"/>
              <a:t>Improves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6AD8B-46D4-1FCF-E0C7-C8F14132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81" y="4947845"/>
            <a:ext cx="1981477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0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CA0D-1B50-F5FC-55C0-595E2C80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BB0DB-8327-455C-3197-05E069EF0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5481320" cy="591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8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B40D1-9055-EDE7-7504-EDA38C5A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A1E0E-FC50-5EDA-0CAD-71DE34950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632440" cy="60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89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A5B1-5936-7DB8-7765-0FC82A5A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5DE3D-30FF-3D86-3FCD-B0408DAB1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262" y="365124"/>
            <a:ext cx="10896937" cy="60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7809-F020-BAA4-38DD-68FF93D19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82586-61B1-BA70-7F58-9FF922317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" y="514984"/>
            <a:ext cx="11501119" cy="62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7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F6A3-5FBB-ADD5-82D2-F71229D2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3DCB1-62AD-D977-737E-01DB99600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1160760" cy="6127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6EE08A-3B45-040A-1B2A-732105EB7B85}"/>
              </a:ext>
            </a:extLst>
          </p:cNvPr>
          <p:cNvSpPr/>
          <p:nvPr/>
        </p:nvSpPr>
        <p:spPr>
          <a:xfrm>
            <a:off x="11043920" y="812800"/>
            <a:ext cx="721360" cy="396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121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7A4B-DE5F-AE5D-400E-0B9F3C5D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B853AA-77D4-FEDA-4154-9D7B970C0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984" y="365125"/>
            <a:ext cx="11141895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56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ACB2-C1FF-9590-D3D2-17CAE02F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5115"/>
            <a:ext cx="10515600" cy="1325563"/>
          </a:xfrm>
        </p:spPr>
        <p:txBody>
          <a:bodyPr/>
          <a:lstStyle/>
          <a:p>
            <a:r>
              <a:rPr lang="en-IN" dirty="0"/>
              <a:t>Fusion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8FD4B-19CE-5DFE-8235-08D7AE500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850265"/>
            <a:ext cx="54102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Fusion Module</a:t>
            </a:r>
            <a:r>
              <a:rPr lang="en-US" dirty="0"/>
              <a:t> is the component in a Large Multimodal Model that:</a:t>
            </a:r>
          </a:p>
          <a:p>
            <a:r>
              <a:rPr lang="en-US" dirty="0"/>
              <a:t>Receives embeddings from different modality-specific encoders</a:t>
            </a:r>
          </a:p>
          <a:p>
            <a:r>
              <a:rPr lang="en-US" dirty="0"/>
              <a:t>Combines them into a unified representation</a:t>
            </a:r>
          </a:p>
          <a:p>
            <a:r>
              <a:rPr lang="en-US" dirty="0"/>
              <a:t>Aligns them into a shared latent space</a:t>
            </a:r>
          </a:p>
          <a:p>
            <a:r>
              <a:rPr lang="en-US" dirty="0"/>
              <a:t>Enables cross-modal reasoning</a:t>
            </a:r>
          </a:p>
          <a:p>
            <a:r>
              <a:rPr lang="en-US" dirty="0"/>
              <a:t>It acts as the </a:t>
            </a:r>
            <a:r>
              <a:rPr lang="en-US" b="1" dirty="0"/>
              <a:t>integration layer</a:t>
            </a:r>
            <a:r>
              <a:rPr lang="en-US" dirty="0"/>
              <a:t> of the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A96FE-FDE4-9750-F08E-1D7F9AA37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78" y="13144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70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469B-31D5-80F9-76D9-9BF04C9F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291464"/>
            <a:ext cx="6212840" cy="6444615"/>
          </a:xfrm>
        </p:spPr>
        <p:txBody>
          <a:bodyPr>
            <a:normAutofit/>
          </a:bodyPr>
          <a:lstStyle/>
          <a:p>
            <a:r>
              <a:rPr lang="en-US" b="1" dirty="0"/>
              <a:t>Why Fusion Is Needed</a:t>
            </a:r>
          </a:p>
          <a:p>
            <a:r>
              <a:rPr lang="en-US" dirty="0"/>
              <a:t>Each encoder produces a different type of embedding:</a:t>
            </a:r>
          </a:p>
          <a:p>
            <a:r>
              <a:rPr lang="en-US" dirty="0"/>
              <a:t>Image → Visual feature vector</a:t>
            </a:r>
          </a:p>
          <a:p>
            <a:r>
              <a:rPr lang="en-US" dirty="0"/>
              <a:t>Text → Semantic token vector</a:t>
            </a:r>
          </a:p>
          <a:p>
            <a:r>
              <a:rPr lang="en-US" dirty="0"/>
              <a:t>Audio → Acoustic feature vector</a:t>
            </a:r>
          </a:p>
          <a:p>
            <a:r>
              <a:rPr lang="en-US" dirty="0"/>
              <a:t>Video → </a:t>
            </a:r>
            <a:r>
              <a:rPr lang="en-US" dirty="0" err="1"/>
              <a:t>Spatio</a:t>
            </a:r>
            <a:r>
              <a:rPr lang="en-US" dirty="0"/>
              <a:t>-temporal vector</a:t>
            </a:r>
          </a:p>
          <a:p>
            <a:r>
              <a:rPr lang="en-US" dirty="0"/>
              <a:t>These embeddings:</a:t>
            </a:r>
          </a:p>
          <a:p>
            <a:r>
              <a:rPr lang="en-US" dirty="0"/>
              <a:t>Have different structures</a:t>
            </a:r>
          </a:p>
          <a:p>
            <a:r>
              <a:rPr lang="en-US" dirty="0"/>
              <a:t>Come from different feature spaces</a:t>
            </a:r>
          </a:p>
          <a:p>
            <a:r>
              <a:rPr lang="en-US" dirty="0"/>
              <a:t>Cannot be directly compared</a:t>
            </a:r>
          </a:p>
          <a:p>
            <a:r>
              <a:rPr lang="en-US" dirty="0"/>
              <a:t>The Fusion Module converts them into a </a:t>
            </a:r>
            <a:r>
              <a:rPr lang="en-US" b="1" dirty="0"/>
              <a:t>common semantic space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BE68E-90EF-7166-EB78-046C31F0F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45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5890-802B-84CC-C19D-987366136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" y="365125"/>
            <a:ext cx="7432040" cy="6127750"/>
          </a:xfrm>
        </p:spPr>
        <p:txBody>
          <a:bodyPr>
            <a:normAutofit fontScale="92500"/>
          </a:bodyPr>
          <a:lstStyle/>
          <a:p>
            <a:r>
              <a:rPr lang="en-US" dirty="0"/>
              <a:t>The Fusion Module receives embeddings from different modality-specific encoders and aligns them into a shared latent space.</a:t>
            </a:r>
          </a:p>
          <a:p>
            <a:r>
              <a:rPr lang="en-US" dirty="0"/>
              <a:t> It combines features using attention or projection mechanisms, enabling cross-modal reasoning.</a:t>
            </a:r>
          </a:p>
          <a:p>
            <a:r>
              <a:rPr lang="en-US" dirty="0"/>
              <a:t> This allows the model to understand relationships between text, images, audio, and video, and generate context-aware outputs.</a:t>
            </a:r>
          </a:p>
          <a:p>
            <a:r>
              <a:rPr lang="en-US" b="1" dirty="0"/>
              <a:t>Common fusion methods:</a:t>
            </a:r>
          </a:p>
          <a:p>
            <a:r>
              <a:rPr lang="en-US" dirty="0"/>
              <a:t>Concatenation</a:t>
            </a:r>
          </a:p>
          <a:p>
            <a:r>
              <a:rPr lang="en-US" dirty="0"/>
              <a:t>Cross-attention</a:t>
            </a:r>
          </a:p>
          <a:p>
            <a:r>
              <a:rPr lang="en-US" dirty="0"/>
              <a:t>Multimodal transformers</a:t>
            </a:r>
          </a:p>
          <a:p>
            <a:r>
              <a:rPr lang="en-US" dirty="0"/>
              <a:t>Projection layers</a:t>
            </a:r>
          </a:p>
          <a:p>
            <a:r>
              <a:rPr lang="en-US" dirty="0"/>
              <a:t>Gated fusion networks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94967-1D89-69EF-9781-993BA1F8E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240" y="274320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F7926-5EB7-21FB-502D-EDEADC52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464185"/>
            <a:ext cx="623316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Shared Latent Space</a:t>
            </a:r>
            <a:r>
              <a:rPr lang="en-US" dirty="0"/>
              <a:t> is the </a:t>
            </a:r>
            <a:r>
              <a:rPr lang="en-US" b="1" dirty="0"/>
              <a:t>common representation layer</a:t>
            </a:r>
            <a:r>
              <a:rPr lang="en-US" dirty="0"/>
              <a:t> inside multimodal AI models.</a:t>
            </a:r>
          </a:p>
          <a:p>
            <a:r>
              <a:rPr lang="en-US" dirty="0"/>
              <a:t>It is called the </a:t>
            </a:r>
            <a:r>
              <a:rPr lang="en-US" b="1" dirty="0"/>
              <a:t>central intelligence layer</a:t>
            </a:r>
            <a:r>
              <a:rPr lang="en-US" dirty="0"/>
              <a:t> because all different types of data are converted into the </a:t>
            </a:r>
            <a:r>
              <a:rPr lang="en-US" b="1" dirty="0"/>
              <a:t>same internal numerical format (embeddings)</a:t>
            </a:r>
            <a:r>
              <a:rPr lang="en-US" dirty="0"/>
              <a:t> before reasoning happens.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8DFD4-3354-AC62-E984-3F96C0C44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4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B3786-6297-0BB5-443A-FA6D1AA2B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40" y="555625"/>
            <a:ext cx="645668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Image + Text Reasoning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Image: A dog playing in snow</a:t>
            </a:r>
          </a:p>
          <a:p>
            <a:r>
              <a:rPr lang="en-US" dirty="0"/>
              <a:t>Text: “What is the animal doing?”</a:t>
            </a:r>
          </a:p>
          <a:p>
            <a:r>
              <a:rPr lang="en-US" dirty="0"/>
              <a:t>The image encoder converts the image into a vector.</a:t>
            </a:r>
            <a:br>
              <a:rPr lang="en-US" dirty="0"/>
            </a:br>
            <a:r>
              <a:rPr lang="en-US" dirty="0"/>
              <a:t>The text encoder converts the question into a vector.</a:t>
            </a:r>
          </a:p>
          <a:p>
            <a:r>
              <a:rPr lang="en-US" dirty="0"/>
              <a:t>Since both are in the same space →</a:t>
            </a:r>
            <a:br>
              <a:rPr lang="en-US" dirty="0"/>
            </a:br>
            <a:r>
              <a:rPr lang="en-US" dirty="0"/>
              <a:t>The model connects “dog” + “playing” + “snow” and answers correctly.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67D8B-E3F8-7242-B4A4-F958DDCD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24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FB86-425C-E4F4-DA43-2ABAF7EE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998" y="454025"/>
            <a:ext cx="643636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Audio + Text Understanding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Audio: Someone says “Turn off the lights”</a:t>
            </a:r>
          </a:p>
          <a:p>
            <a:r>
              <a:rPr lang="en-US" dirty="0"/>
              <a:t>Text instruction system processes it.</a:t>
            </a:r>
          </a:p>
          <a:p>
            <a:r>
              <a:rPr lang="en-US" dirty="0"/>
              <a:t>Speech → converted into embedding</a:t>
            </a:r>
            <a:br>
              <a:rPr lang="en-US" dirty="0"/>
            </a:br>
            <a:r>
              <a:rPr lang="en-US" dirty="0"/>
              <a:t>Text commands → same embedding space</a:t>
            </a:r>
          </a:p>
          <a:p>
            <a:r>
              <a:rPr lang="en-US" dirty="0"/>
              <a:t>Now the model understands spoken language as text meaning.</a:t>
            </a:r>
          </a:p>
          <a:p>
            <a:r>
              <a:rPr lang="en-US" dirty="0"/>
              <a:t>This is how voice assistant's work.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7C90C-439A-7C81-5923-ADDBEDCF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638" y="319722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0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002E-AD95-AC4F-3796-AD7017FA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2348E-DF57-8588-E493-0857E3F3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924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Video + Question Answering</a:t>
            </a:r>
          </a:p>
          <a:p>
            <a:r>
              <a:rPr lang="en-US" dirty="0"/>
              <a:t>Video = sequence of image frames + audio</a:t>
            </a:r>
          </a:p>
          <a:p>
            <a:r>
              <a:rPr lang="en-US" dirty="0"/>
              <a:t>Each frame → embedding</a:t>
            </a:r>
            <a:br>
              <a:rPr lang="en-US" dirty="0"/>
            </a:br>
            <a:r>
              <a:rPr lang="en-US" dirty="0"/>
              <a:t>Audio → embedding</a:t>
            </a:r>
            <a:br>
              <a:rPr lang="en-US" dirty="0"/>
            </a:br>
            <a:r>
              <a:rPr lang="en-US" dirty="0"/>
              <a:t>Question → embedding</a:t>
            </a:r>
          </a:p>
          <a:p>
            <a:r>
              <a:rPr lang="en-US" dirty="0"/>
              <a:t>All combined in shared latent space →</a:t>
            </a:r>
            <a:br>
              <a:rPr lang="en-US" dirty="0"/>
            </a:br>
            <a:r>
              <a:rPr lang="en-US" dirty="0"/>
              <a:t>Model reasons across time and modality.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“Why did the man run?”</a:t>
            </a:r>
            <a:br>
              <a:rPr lang="en-US" dirty="0"/>
            </a:br>
            <a:r>
              <a:rPr lang="en-US" dirty="0"/>
              <a:t>Model looks at earlier frames in the same embedding space and finds the cause.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E0E45-9AD7-BFC7-35AF-CA3B43B2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31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035C-14ED-3F66-25BD-0D1E1288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77739-C234-AB67-D06A-1151F2047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3720" cy="4351338"/>
          </a:xfrm>
        </p:spPr>
        <p:txBody>
          <a:bodyPr/>
          <a:lstStyle/>
          <a:p>
            <a:r>
              <a:rPr lang="en-IN" b="1" dirty="0"/>
              <a:t>Different encoders:</a:t>
            </a:r>
          </a:p>
          <a:p>
            <a:r>
              <a:rPr lang="en-IN" dirty="0"/>
              <a:t>CNN / Vision Transformer → image embeddings</a:t>
            </a:r>
          </a:p>
          <a:p>
            <a:r>
              <a:rPr lang="en-IN" dirty="0"/>
              <a:t>Transformer → text embeddings</a:t>
            </a:r>
          </a:p>
          <a:p>
            <a:r>
              <a:rPr lang="en-IN" dirty="0"/>
              <a:t>Audio encoder → speech embeddings</a:t>
            </a:r>
          </a:p>
          <a:p>
            <a:r>
              <a:rPr lang="en-IN" dirty="0"/>
              <a:t>Then: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86ABF-58D9-8C3A-F2D0-49E044B31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18" y="52768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8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AF16-24AC-CEF4-76BE-053614F8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A6644-02C9-7EAD-91AB-48F5AC23C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1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Transformer-Based LLM (Core Brain)</a:t>
            </a:r>
          </a:p>
          <a:p>
            <a:r>
              <a:rPr lang="en-US" dirty="0"/>
              <a:t>At the center is a </a:t>
            </a:r>
            <a:r>
              <a:rPr lang="en-US" b="1" dirty="0"/>
              <a:t>Transformer-based Large Language Model</a:t>
            </a:r>
            <a:r>
              <a:rPr lang="en-US" dirty="0"/>
              <a:t>.</a:t>
            </a:r>
          </a:p>
          <a:p>
            <a:r>
              <a:rPr lang="en-US" dirty="0"/>
              <a:t>This module:</a:t>
            </a:r>
          </a:p>
          <a:p>
            <a:r>
              <a:rPr lang="en-US" dirty="0"/>
              <a:t>Performs reasoning</a:t>
            </a:r>
          </a:p>
          <a:p>
            <a:r>
              <a:rPr lang="en-US" dirty="0"/>
              <a:t>Generates responses</a:t>
            </a:r>
          </a:p>
          <a:p>
            <a:r>
              <a:rPr lang="en-US" dirty="0"/>
              <a:t>Understands relationships</a:t>
            </a:r>
          </a:p>
          <a:p>
            <a:r>
              <a:rPr lang="en-US" dirty="0"/>
              <a:t>Produces cross-modal predictions</a:t>
            </a:r>
          </a:p>
          <a:p>
            <a:r>
              <a:rPr lang="en-US" dirty="0"/>
              <a:t>It acts as the </a:t>
            </a:r>
            <a:r>
              <a:rPr lang="en-US" b="1" dirty="0"/>
              <a:t>cognitive engine</a:t>
            </a:r>
            <a:r>
              <a:rPr lang="en-US" dirty="0"/>
              <a:t> of the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F0BE25-7E38-E180-E4BC-C6509E0CE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838" y="365125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74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4281-CC06-42F3-134F-1CFE57D7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DDB0-DBD6-B4A9-1B4E-8668FAD33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Cross-Modal</a:t>
            </a:r>
            <a:r>
              <a:rPr lang="en-US" dirty="0"/>
              <a:t> Predictions</a:t>
            </a:r>
          </a:p>
          <a:p>
            <a:r>
              <a:rPr lang="en-US" dirty="0"/>
              <a:t>After processing, the model generates:</a:t>
            </a:r>
          </a:p>
          <a:p>
            <a:r>
              <a:rPr lang="en-US" dirty="0"/>
              <a:t>Context-aware outputs</a:t>
            </a:r>
          </a:p>
          <a:p>
            <a:r>
              <a:rPr lang="en-US" dirty="0"/>
              <a:t>Predictions combining multiple input types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Image + Question → Text answer</a:t>
            </a:r>
          </a:p>
          <a:p>
            <a:r>
              <a:rPr lang="en-US" dirty="0"/>
              <a:t>Text → Image</a:t>
            </a:r>
          </a:p>
          <a:p>
            <a:r>
              <a:rPr lang="en-US" dirty="0"/>
              <a:t>Audio → Text summary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74C8B-7120-5DEF-D219-AE292779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73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694B-A1A6-053D-B670-8F537C58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8625-3DD6-E6C7-E6B3-4E9414D59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5240" cy="4351338"/>
          </a:xfrm>
        </p:spPr>
        <p:txBody>
          <a:bodyPr/>
          <a:lstStyle/>
          <a:p>
            <a:r>
              <a:rPr lang="en-IN" b="1" dirty="0"/>
              <a:t>Modality-Specific Decoders (Right Side)</a:t>
            </a:r>
          </a:p>
          <a:p>
            <a:r>
              <a:rPr lang="en-IN" dirty="0"/>
              <a:t>The output is passed to decoders that convert embeddings back into the required format:</a:t>
            </a:r>
          </a:p>
          <a:p>
            <a:r>
              <a:rPr lang="en-IN" dirty="0"/>
              <a:t>Audio Decoder → Speech output</a:t>
            </a:r>
          </a:p>
          <a:p>
            <a:r>
              <a:rPr lang="en-IN" dirty="0"/>
              <a:t>Video Decoder → Generated video</a:t>
            </a:r>
          </a:p>
          <a:p>
            <a:r>
              <a:rPr lang="en-IN" dirty="0"/>
              <a:t>Text Decoder → Written response</a:t>
            </a:r>
          </a:p>
          <a:p>
            <a:r>
              <a:rPr lang="en-IN" dirty="0"/>
              <a:t>Vision Decoder → Image generation</a:t>
            </a:r>
          </a:p>
          <a:p>
            <a:r>
              <a:rPr lang="en-IN" dirty="0"/>
              <a:t>Other Decoders → Structured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E9100-F928-B037-B893-D78F46686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958" y="365124"/>
            <a:ext cx="4152442" cy="621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41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C313-96EC-5F76-4589-7C853025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39064"/>
            <a:ext cx="10515600" cy="6485255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Types of Multi-Model Prompting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Level 1: Sequential Prompting</a:t>
            </a:r>
          </a:p>
          <a:p>
            <a:pPr marL="0" indent="0">
              <a:buNone/>
            </a:pPr>
            <a:r>
              <a:rPr lang="en-IN" dirty="0"/>
              <a:t>Output of Model A → Input of Model B</a:t>
            </a:r>
          </a:p>
          <a:p>
            <a:pPr marL="0" indent="0"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Image model detects objects → Language model explains scene.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Level 2: Parallel Prompting</a:t>
            </a:r>
          </a:p>
          <a:p>
            <a:pPr marL="0" indent="0">
              <a:buNone/>
            </a:pPr>
            <a:r>
              <a:rPr lang="en-IN" dirty="0"/>
              <a:t>Multiple models process same input → Results combined</a:t>
            </a:r>
          </a:p>
          <a:p>
            <a:pPr marL="0" indent="0"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One model </a:t>
            </a:r>
            <a:r>
              <a:rPr lang="en-IN" dirty="0" err="1"/>
              <a:t>analyzes</a:t>
            </a:r>
            <a:r>
              <a:rPr lang="en-IN" dirty="0"/>
              <a:t> sentiment</a:t>
            </a:r>
            <a:br>
              <a:rPr lang="en-IN" dirty="0"/>
            </a:br>
            <a:r>
              <a:rPr lang="en-IN" dirty="0"/>
              <a:t>Another extracts keywords</a:t>
            </a:r>
            <a:br>
              <a:rPr lang="en-IN" dirty="0"/>
            </a:br>
            <a:r>
              <a:rPr lang="en-IN" dirty="0"/>
              <a:t>Final model merges both.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Level 3: Hierarchical Prompting</a:t>
            </a:r>
          </a:p>
          <a:p>
            <a:pPr marL="0" indent="0">
              <a:buNone/>
            </a:pPr>
            <a:r>
              <a:rPr lang="en-IN" dirty="0"/>
              <a:t>Main controller model assigns tasks to sub-models.</a:t>
            </a:r>
          </a:p>
          <a:p>
            <a:pPr marL="0" indent="0"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Agent model → Calls math model, coding model, vision model.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Level 4: Ensemble Prompting</a:t>
            </a:r>
          </a:p>
          <a:p>
            <a:pPr marL="0" indent="0">
              <a:buNone/>
            </a:pPr>
            <a:r>
              <a:rPr lang="en-IN" dirty="0"/>
              <a:t>Multiple models generate answers → Best output selected.</a:t>
            </a:r>
          </a:p>
          <a:p>
            <a:pPr marL="0" indent="0">
              <a:buNone/>
            </a:pPr>
            <a:r>
              <a:rPr lang="en-IN" dirty="0"/>
              <a:t>Used in:</a:t>
            </a:r>
          </a:p>
          <a:p>
            <a:pPr marL="0" indent="0">
              <a:buNone/>
            </a:pPr>
            <a:r>
              <a:rPr lang="en-IN" dirty="0"/>
              <a:t>Research systems</a:t>
            </a:r>
          </a:p>
          <a:p>
            <a:pPr marL="0" indent="0">
              <a:buNone/>
            </a:pPr>
            <a:r>
              <a:rPr lang="en-IN" dirty="0"/>
              <a:t>High accuracy prediction</a:t>
            </a:r>
          </a:p>
          <a:p>
            <a:pPr marL="0" indent="0">
              <a:buNone/>
            </a:pPr>
            <a:r>
              <a:rPr lang="en-IN" dirty="0"/>
              <a:t>Evaluation frameworks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723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B0BD-C413-0881-8758-309F78F1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3E2B4B-D388-E458-2F93-32523718D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46" y="365125"/>
            <a:ext cx="7691133" cy="6127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B3211B-780F-E368-6301-F4959CAD443A}"/>
              </a:ext>
            </a:extLst>
          </p:cNvPr>
          <p:cNvSpPr/>
          <p:nvPr/>
        </p:nvSpPr>
        <p:spPr>
          <a:xfrm>
            <a:off x="1117600" y="558800"/>
            <a:ext cx="447040" cy="568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75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61F1-46AC-6622-DF74-596E067A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Advanced Prompt Types in Multi-Model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C691B-7582-DF65-2259-D6877C9AD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Routing Prompt</a:t>
            </a:r>
            <a:br>
              <a:rPr lang="en-US" dirty="0"/>
            </a:br>
            <a:r>
              <a:rPr lang="en-US" dirty="0"/>
              <a:t>“Identify if this is a coding, math, or medical question.”</a:t>
            </a:r>
          </a:p>
          <a:p>
            <a:r>
              <a:rPr lang="en-US" dirty="0"/>
              <a:t>Decomposition Prompt</a:t>
            </a:r>
            <a:br>
              <a:rPr lang="en-US" dirty="0"/>
            </a:br>
            <a:r>
              <a:rPr lang="en-US" dirty="0"/>
              <a:t>“Break this complex task into smaller subtasks.”</a:t>
            </a:r>
          </a:p>
          <a:p>
            <a:r>
              <a:rPr lang="en-US" dirty="0"/>
              <a:t>Verification Prompt</a:t>
            </a:r>
            <a:br>
              <a:rPr lang="en-US" dirty="0"/>
            </a:br>
            <a:r>
              <a:rPr lang="en-US" dirty="0"/>
              <a:t>“Verify the correctness of this answer.”</a:t>
            </a:r>
          </a:p>
          <a:p>
            <a:r>
              <a:rPr lang="en-US" dirty="0"/>
              <a:t>Self-Reflection Prompt</a:t>
            </a:r>
            <a:br>
              <a:rPr lang="en-US" dirty="0"/>
            </a:br>
            <a:r>
              <a:rPr lang="en-US" dirty="0"/>
              <a:t>“Analyze your previous answer and improve it.”</a:t>
            </a:r>
          </a:p>
          <a:p>
            <a:r>
              <a:rPr lang="en-US" dirty="0"/>
              <a:t>Aggregation Prompt</a:t>
            </a:r>
            <a:br>
              <a:rPr lang="en-US" dirty="0"/>
            </a:br>
            <a:r>
              <a:rPr lang="en-US" dirty="0"/>
              <a:t>“Combine the outputs from Model A and Model B into a final summary.”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291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A0A5-F5F1-2880-9F1C-378D3CA3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86F4-B8B0-6877-375F-767D402A0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F00B3-ECB2-7D5E-38B8-93B7EA9EB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3680"/>
            <a:ext cx="5897880" cy="60391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56ECB-26D2-4F42-4098-84088EA49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48" y="453680"/>
            <a:ext cx="5572903" cy="60391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7815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043A-F0A3-A0D7-A432-CD1DE612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2AFEBF-0556-9914-AACD-00C827410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548" y="252835"/>
            <a:ext cx="5934903" cy="63523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97466-739B-1668-CF86-880340F1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67" y="252835"/>
            <a:ext cx="5077853" cy="624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79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5814-0D87-2F20-EB20-4DF08758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209CA2-8DCC-B9BB-100E-1AFF7DA05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9931400" cy="60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60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0A75-B513-FFFC-03F2-F0991B5C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Multi-Modal Prompting Using more than one type of input to guide AI responses.  </a:t>
            </a:r>
            <a:br>
              <a:rPr lang="en-US" sz="2500" dirty="0"/>
            </a:br>
            <a:r>
              <a:rPr lang="en-IN" sz="2500" dirty="0"/>
              <a:t>Text + Image Prompts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445CF9-0009-7825-9D2A-67D93D925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651" y="1459180"/>
            <a:ext cx="6345029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44A435-D453-1CBF-D4C6-2421DA5FC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199" y="1286460"/>
            <a:ext cx="3972479" cy="2391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5AE54-73A0-6746-D7D3-633E72155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199" y="3774724"/>
            <a:ext cx="350568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49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D2BF-0D53-AD8E-700E-D3319F15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Text +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B02DB-4E43-028A-8BEC-9732E02A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+ Image (multimodal) models understand </a:t>
            </a:r>
            <a:r>
              <a:rPr lang="en-US" b="1" dirty="0"/>
              <a:t>visual content and written instructions together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convert both into shared embeddings (vector representations), reason across them, and generate meaningful outputs.</a:t>
            </a:r>
          </a:p>
          <a:p>
            <a:r>
              <a:rPr lang="en-US" dirty="0"/>
              <a:t>This makes prompts </a:t>
            </a:r>
            <a:r>
              <a:rPr lang="en-US" b="1" dirty="0"/>
              <a:t>more powerful, precise, and context-aware</a:t>
            </a:r>
            <a:r>
              <a:rPr lang="en-US" dirty="0"/>
              <a:t> than text-only models.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75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FF8471A-39F2-8AB3-7E28-107CAB86F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24"/>
            <a:ext cx="6963747" cy="32389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ED86F0-5243-72C3-AD41-855DA074F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2" y="3232927"/>
            <a:ext cx="4839375" cy="2505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B8B9C6-16F4-3CCE-8FDD-D47BB7C8A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148" y="82324"/>
            <a:ext cx="5572903" cy="30007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441E94-206C-3E0B-7E6C-AA9F60FBA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3478"/>
            <a:ext cx="402963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664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695C92-FD00-DC9D-04BC-282C5DFA5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90" y="154941"/>
            <a:ext cx="4544059" cy="2267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55D41-0055-9C0A-925E-95F18F535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5" y="2412047"/>
            <a:ext cx="4505954" cy="2762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8EB98E-23ED-CE4E-028B-60662BC5B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49" y="0"/>
            <a:ext cx="7363853" cy="3343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AAAFB4-C8F9-27DF-C6DC-EE398B23E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49" y="3498683"/>
            <a:ext cx="7173326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91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3D90-B5AB-27EC-BFA1-656C3025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9B837E-B732-4FF7-D192-F2233ECEA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15600" cy="627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4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C099-617F-6930-3C2F-60F35733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Cross-Model AI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0D7B-ABF6-C300-3643-18779122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Cross-Model AI Interaction refers to a system where multiple AI models communicate, collaborate, and exchange outputs to solve a task more effectively than a single model.</a:t>
            </a:r>
          </a:p>
          <a:p>
            <a:r>
              <a:rPr lang="en-US" dirty="0"/>
              <a:t>Instead of working independently, models:</a:t>
            </a:r>
          </a:p>
          <a:p>
            <a:r>
              <a:rPr lang="en-US" dirty="0"/>
              <a:t>Share intermediate results</a:t>
            </a:r>
          </a:p>
          <a:p>
            <a:r>
              <a:rPr lang="en-US" dirty="0"/>
              <a:t>Validate each other</a:t>
            </a:r>
          </a:p>
          <a:p>
            <a:r>
              <a:rPr lang="en-US" dirty="0"/>
              <a:t>Refine outputs</a:t>
            </a:r>
          </a:p>
          <a:p>
            <a:r>
              <a:rPr lang="en-US" dirty="0"/>
              <a:t>Specialize in subtasks</a:t>
            </a:r>
          </a:p>
          <a:p>
            <a:r>
              <a:rPr lang="en-US" dirty="0"/>
              <a:t>It is a core concept in advanced Prompt Engineering and AI Agent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054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0193-20D4-298C-9E92-5956739E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Cross-Model Interaction is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CE12-56AC-F4D6-7A37-687C33F68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Single model limitations:</a:t>
            </a:r>
          </a:p>
          <a:p>
            <a:r>
              <a:rPr lang="en-US" dirty="0"/>
              <a:t>Limited specialization</a:t>
            </a:r>
          </a:p>
          <a:p>
            <a:r>
              <a:rPr lang="en-US" dirty="0"/>
              <a:t>Possible hallucinations</a:t>
            </a:r>
          </a:p>
          <a:p>
            <a:r>
              <a:rPr lang="en-US" dirty="0"/>
              <a:t>Reduced accuracy in complex tasks</a:t>
            </a:r>
          </a:p>
          <a:p>
            <a:pPr marL="0" indent="0">
              <a:buNone/>
            </a:pPr>
            <a:r>
              <a:rPr lang="en-US" b="1" dirty="0"/>
              <a:t>Cross-model systems improve: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Task decomposition</a:t>
            </a:r>
          </a:p>
          <a:p>
            <a:r>
              <a:rPr lang="en-US" dirty="0"/>
              <a:t>Domain specialization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395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19F1C-5CD2-598E-101D-15C15FDBE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09" y="176212"/>
            <a:ext cx="5433131" cy="6505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9578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51DA-A790-57A4-D606-C4F0CC7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Cross Model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2BBF8B-CADA-DFE4-392D-B0682EADE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651" y="1876208"/>
            <a:ext cx="10055109" cy="472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72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5356-4090-F252-CFAE-CB110FD7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Techniques for Cross-Model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7961-4721-86AE-957C-FB048A32B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Role-Specific Prompting</a:t>
            </a:r>
          </a:p>
          <a:p>
            <a:r>
              <a:rPr lang="en-IN" dirty="0"/>
              <a:t>Each model gets a tailored prompt.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Text model → “Provide structured JSON schema”</a:t>
            </a:r>
          </a:p>
          <a:p>
            <a:r>
              <a:rPr lang="en-IN" dirty="0"/>
              <a:t>Image model → “Generate vector infographic in flat design”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296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A64C-3DCC-F197-51ED-8655AA3D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97AB-FEBE-6EE4-EB41-8CB3A133E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Output Formatting Control</a:t>
            </a:r>
          </a:p>
          <a:p>
            <a:r>
              <a:rPr lang="en-US" dirty="0"/>
              <a:t>Force structured outputs: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"intent": "</a:t>
            </a:r>
            <a:r>
              <a:rPr lang="en-US" dirty="0" err="1"/>
              <a:t>diagram_generation</a:t>
            </a:r>
            <a:r>
              <a:rPr lang="en-US" dirty="0"/>
              <a:t>",</a:t>
            </a:r>
          </a:p>
          <a:p>
            <a:r>
              <a:rPr lang="en-US" dirty="0"/>
              <a:t>  "complexity": "high",</a:t>
            </a:r>
          </a:p>
          <a:p>
            <a:r>
              <a:rPr lang="en-US" dirty="0"/>
              <a:t>  "modality": "image"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Helps routing engines.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376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9AA7-58FB-A297-04C4-D30BCCED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0AED-1722-9EA6-0FF6-F2531B38C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Model-Aware Prompt Adaptation</a:t>
            </a:r>
          </a:p>
          <a:p>
            <a:r>
              <a:rPr lang="en-IN" dirty="0"/>
              <a:t>Different models require:</a:t>
            </a:r>
          </a:p>
          <a:p>
            <a:r>
              <a:rPr lang="en-IN" dirty="0"/>
              <a:t>Different token lengths</a:t>
            </a:r>
          </a:p>
          <a:p>
            <a:r>
              <a:rPr lang="en-IN" dirty="0"/>
              <a:t>Different temperature settings</a:t>
            </a:r>
          </a:p>
          <a:p>
            <a:r>
              <a:rPr lang="en-IN" dirty="0"/>
              <a:t>Different instruction styles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Claude prefers detailed context.</a:t>
            </a:r>
          </a:p>
          <a:p>
            <a:r>
              <a:rPr lang="en-IN" dirty="0"/>
              <a:t>GPT responds well to structured instruction.</a:t>
            </a:r>
          </a:p>
          <a:p>
            <a:r>
              <a:rPr lang="en-IN" dirty="0"/>
              <a:t>Gemini handles multi-modal inputs strongly.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808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C10D-247F-4FBC-984B-931B741B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PE Tools </a:t>
            </a:r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B97026-F541-56A1-14B2-47E9D82E7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642600" cy="456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82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1149</Words>
  <Application>Microsoft Office PowerPoint</Application>
  <PresentationFormat>Widescreen</PresentationFormat>
  <Paragraphs>165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Module - VI:  Multi-Model Prompting: Introduction to Multi-model Prompting, Text + Image Prompts, Cross-model AI interaction.</vt:lpstr>
      <vt:lpstr>Multi-Model Prompting</vt:lpstr>
      <vt:lpstr>Process </vt:lpstr>
      <vt:lpstr>Why Use Multi-Model Prompting?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Fusion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Prompt Types in Multi-Model Systems</vt:lpstr>
      <vt:lpstr>PowerPoint Presentation</vt:lpstr>
      <vt:lpstr>PowerPoint Presentation</vt:lpstr>
      <vt:lpstr>PowerPoint Presentation</vt:lpstr>
      <vt:lpstr>Multi-Modal Prompting Using more than one type of input to guide AI responses.   Text + Image Prompts</vt:lpstr>
      <vt:lpstr>Text + Image</vt:lpstr>
      <vt:lpstr>PowerPoint Presentation</vt:lpstr>
      <vt:lpstr>PowerPoint Presentation</vt:lpstr>
      <vt:lpstr>PowerPoint Presentation</vt:lpstr>
      <vt:lpstr>Cross-Model AI Interaction</vt:lpstr>
      <vt:lpstr>Why Cross-Model Interaction is Needed</vt:lpstr>
      <vt:lpstr>PowerPoint Presentation</vt:lpstr>
      <vt:lpstr>Why Cross Model </vt:lpstr>
      <vt:lpstr>Prompt Engineering Techniques for Cross-Model Systems</vt:lpstr>
      <vt:lpstr>PowerPoint Presentation</vt:lpstr>
      <vt:lpstr>PowerPoint Presentation</vt:lpstr>
      <vt:lpstr>Core PE Tools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20</cp:revision>
  <dcterms:created xsi:type="dcterms:W3CDTF">2026-02-16T07:03:38Z</dcterms:created>
  <dcterms:modified xsi:type="dcterms:W3CDTF">2026-02-20T06:40:50Z</dcterms:modified>
</cp:coreProperties>
</file>